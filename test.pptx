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3" r:id="rId4"/>
    <p:sldId id="264" r:id="rId5"/>
    <p:sldId id="259" r:id="rId6"/>
    <p:sldId id="265" r:id="rId7"/>
    <p:sldId id="266" r:id="rId8"/>
    <p:sldId id="260" r:id="rId9"/>
    <p:sldId id="269" r:id="rId10"/>
    <p:sldId id="270" r:id="rId11"/>
    <p:sldId id="261" r:id="rId12"/>
    <p:sldId id="267" r:id="rId13"/>
    <p:sldId id="268" r:id="rId14"/>
    <p:sldId id="271" r:id="rId15"/>
    <p:sldId id="272" r:id="rId16"/>
    <p:sldId id="273" r:id="rId17"/>
    <p:sldId id="274" r:id="rId18"/>
    <p:sldId id="276" r:id="rId19"/>
    <p:sldId id="278" r:id="rId20"/>
    <p:sldId id="275" r:id="rId21"/>
    <p:sldId id="277" r:id="rId22"/>
    <p:sldId id="279" r:id="rId23"/>
    <p:sldId id="281" r:id="rId24"/>
    <p:sldId id="282" r:id="rId25"/>
    <p:sldId id="283" r:id="rId26"/>
    <p:sldId id="284" r:id="rId27"/>
    <p:sldId id="285" r:id="rId28"/>
    <p:sldId id="295" r:id="rId29"/>
    <p:sldId id="292" r:id="rId30"/>
    <p:sldId id="296" r:id="rId31"/>
    <p:sldId id="297" r:id="rId32"/>
    <p:sldId id="298" r:id="rId33"/>
    <p:sldId id="299" r:id="rId34"/>
    <p:sldId id="300" r:id="rId35"/>
    <p:sldId id="301" r:id="rId36"/>
    <p:sldId id="302" r:id="rId37"/>
    <p:sldId id="303" r:id="rId38"/>
    <p:sldId id="304" r:id="rId39"/>
    <p:sldId id="305" r:id="rId40"/>
    <p:sldId id="306" r:id="rId41"/>
    <p:sldId id="294" r:id="rId42"/>
    <p:sldId id="280" r:id="rId43"/>
    <p:sldId id="286" r:id="rId44"/>
    <p:sldId id="287" r:id="rId45"/>
    <p:sldId id="288" r:id="rId46"/>
    <p:sldId id="289" r:id="rId47"/>
    <p:sldId id="290" r:id="rId48"/>
    <p:sldId id="291" r:id="rId49"/>
    <p:sldId id="293"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7715" autoAdjust="0"/>
  </p:normalViewPr>
  <p:slideViewPr>
    <p:cSldViewPr snapToGrid="0">
      <p:cViewPr varScale="1">
        <p:scale>
          <a:sx n="77" d="100"/>
          <a:sy n="77" d="100"/>
        </p:scale>
        <p:origin x="902"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E2F390-CDB9-4D79-90DA-75283D595AAF}" type="datetimeFigureOut">
              <a:rPr lang="en-IN" smtClean="0"/>
              <a:t>28-02-2022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C4B947-5A51-47C8-AB5F-CFB55612E1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378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2F390-CDB9-4D79-90DA-75283D595AAF}" type="datetimeFigureOut">
              <a:rPr lang="en-IN" smtClean="0"/>
              <a:t>28-02-2022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3910171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E2F390-CDB9-4D79-90DA-75283D595AAF}" type="datetimeFigureOut">
              <a:rPr lang="en-IN" smtClean="0"/>
              <a:t>28-02-2022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C4B947-5A51-47C8-AB5F-CFB55612E1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05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E2F390-CDB9-4D79-90DA-75283D595AAF}" type="datetimeFigureOut">
              <a:rPr lang="en-IN" smtClean="0"/>
              <a:t>28-02-2022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377735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E2F390-CDB9-4D79-90DA-75283D595AAF}" type="datetimeFigureOut">
              <a:rPr lang="en-IN" smtClean="0"/>
              <a:t>28-02-2022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4143895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E2F390-CDB9-4D79-90DA-75283D595AAF}" type="datetimeFigureOut">
              <a:rPr lang="en-IN" smtClean="0"/>
              <a:t>28-02-2022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1202112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E2F390-CDB9-4D79-90DA-75283D595AAF}" type="datetimeFigureOut">
              <a:rPr lang="en-IN" smtClean="0"/>
              <a:t>28-02-2022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170184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E2F390-CDB9-4D79-90DA-75283D595AAF}" type="datetimeFigureOut">
              <a:rPr lang="en-IN" smtClean="0"/>
              <a:t>28-02-2022</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8C4B947-5A51-47C8-AB5F-CFB55612E15E}" type="slidenum">
              <a:rPr lang="en-IN" smtClean="0"/>
              <a:t>‹#›</a:t>
            </a:fld>
            <a:endParaRPr lang="en-IN"/>
          </a:p>
        </p:txBody>
      </p:sp>
    </p:spTree>
    <p:extLst>
      <p:ext uri="{BB962C8B-B14F-4D97-AF65-F5344CB8AC3E}">
        <p14:creationId xmlns:p14="http://schemas.microsoft.com/office/powerpoint/2010/main" val="682879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E2F390-CDB9-4D79-90DA-75283D595AAF}" type="datetimeFigureOut">
              <a:rPr lang="en-IN" smtClean="0"/>
              <a:t>28-02-2022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774925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2F390-CDB9-4D79-90DA-75283D595AAF}" type="datetimeFigureOut">
              <a:rPr lang="en-IN" smtClean="0"/>
              <a:t>28-02-2022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443948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2F390-CDB9-4D79-90DA-75283D595AAF}" type="datetimeFigureOut">
              <a:rPr lang="en-IN" smtClean="0"/>
              <a:t>28-02-2022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8C4B947-5A51-47C8-AB5F-CFB55612E15E}" type="slidenum">
              <a:rPr lang="en-IN" smtClean="0"/>
              <a:t>‹#›</a:t>
            </a:fld>
            <a:endParaRPr lang="en-IN"/>
          </a:p>
        </p:txBody>
      </p:sp>
    </p:spTree>
    <p:extLst>
      <p:ext uri="{BB962C8B-B14F-4D97-AF65-F5344CB8AC3E}">
        <p14:creationId xmlns:p14="http://schemas.microsoft.com/office/powerpoint/2010/main" val="3048100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E2F390-CDB9-4D79-90DA-75283D595AAF}" type="datetimeFigureOut">
              <a:rPr lang="en-IN" smtClean="0"/>
              <a:t>28-02-2022</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8C4B947-5A51-47C8-AB5F-CFB55612E15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8213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5E9B-C189-4D3D-A8DB-1F3FFB9BD8E1}"/>
              </a:ext>
            </a:extLst>
          </p:cNvPr>
          <p:cNvSpPr>
            <a:spLocks noGrp="1"/>
          </p:cNvSpPr>
          <p:nvPr>
            <p:ph type="ctrTitle"/>
          </p:nvPr>
        </p:nvSpPr>
        <p:spPr/>
        <p:txBody>
          <a:bodyPr/>
          <a:lstStyle/>
          <a:p>
            <a:r>
              <a:rPr lang="en-IN" dirty="0"/>
              <a:t>LOGIC BUILDING</a:t>
            </a:r>
          </a:p>
        </p:txBody>
      </p:sp>
    </p:spTree>
    <p:extLst>
      <p:ext uri="{BB962C8B-B14F-4D97-AF65-F5344CB8AC3E}">
        <p14:creationId xmlns:p14="http://schemas.microsoft.com/office/powerpoint/2010/main" val="145215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6BDD43-1400-4AEB-9041-7BA95217023A}"/>
              </a:ext>
            </a:extLst>
          </p:cNvPr>
          <p:cNvSpPr txBox="1"/>
          <p:nvPr/>
        </p:nvSpPr>
        <p:spPr>
          <a:xfrm>
            <a:off x="0" y="430983"/>
            <a:ext cx="12192000" cy="3619837"/>
          </a:xfrm>
          <a:prstGeom prst="rect">
            <a:avLst/>
          </a:prstGeom>
          <a:noFill/>
        </p:spPr>
        <p:txBody>
          <a:bodyPr wrap="square">
            <a:spAutoFit/>
          </a:bodyPr>
          <a:lstStyle/>
          <a:p>
            <a:pPr>
              <a:lnSpc>
                <a:spcPct val="107000"/>
              </a:lnSpc>
              <a:spcAft>
                <a:spcPts val="800"/>
              </a:spcAft>
            </a:pPr>
            <a:r>
              <a:rPr lang="en-IN" sz="3600" dirty="0">
                <a:effectLst/>
                <a:latin typeface="Times New Roman" panose="02020603050405020304" pitchFamily="18" charset="0"/>
                <a:ea typeface="Calibri" panose="020F0502020204030204" pitchFamily="34" charset="0"/>
                <a:cs typeface="Gautami" panose="020B0502040204020203" pitchFamily="34" charset="0"/>
              </a:rPr>
              <a:t>Stuart Bloom's teacher Denise uses chalk to write on the board. When the chalk reduces to 1/square root(n) of its original size, she keeps the chalk aside as it gets too small. She joins all the small pieces of the chalk and makes another chalk of the same size and uses it. If she uses one chalk each day, in how many days will she use the given n number of chalks?</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099828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662BA0-219D-4720-A3DD-941BDD87A0B0}"/>
              </a:ext>
            </a:extLst>
          </p:cNvPr>
          <p:cNvSpPr txBox="1"/>
          <p:nvPr/>
        </p:nvSpPr>
        <p:spPr>
          <a:xfrm>
            <a:off x="417443" y="347869"/>
            <a:ext cx="10426148" cy="5397953"/>
          </a:xfrm>
          <a:prstGeom prst="rect">
            <a:avLst/>
          </a:prstGeom>
          <a:noFill/>
        </p:spPr>
        <p:txBody>
          <a:bodyPr wrap="square">
            <a:spAutoFit/>
          </a:bodyPr>
          <a:lstStyle/>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INPUT &amp; OUTPUT FORMAT:</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Input consists of 1 integer which corresponds to the number of chalks given. Output corresponds to the number of days in which the given number of chalks will be used.</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Constrains:</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4&lt;=n&lt;666</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SAMPLE INPUT:</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16</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SAMPLE OUTPUT:</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Times New Roman" panose="02020603050405020304" pitchFamily="18" charset="0"/>
                <a:ea typeface="Calibri" panose="020F0502020204030204" pitchFamily="34" charset="0"/>
                <a:cs typeface="Gautami" panose="020B0502040204020203" pitchFamily="34" charset="0"/>
              </a:rPr>
              <a:t>21</a:t>
            </a:r>
            <a:endParaRPr lang="en-IN" sz="28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97812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749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9D138E-913A-431E-8B00-A3C853800011}"/>
              </a:ext>
            </a:extLst>
          </p:cNvPr>
          <p:cNvSpPr txBox="1"/>
          <p:nvPr/>
        </p:nvSpPr>
        <p:spPr>
          <a:xfrm>
            <a:off x="11575" y="173433"/>
            <a:ext cx="12192000" cy="6491649"/>
          </a:xfrm>
          <a:prstGeom prst="rect">
            <a:avLst/>
          </a:prstGeom>
          <a:noFill/>
        </p:spPr>
        <p:txBody>
          <a:bodyPr wrap="square">
            <a:spAutoFit/>
          </a:bodyPr>
          <a:lstStyle/>
          <a:p>
            <a:pPr>
              <a:lnSpc>
                <a:spcPct val="107000"/>
              </a:lnSpc>
              <a:spcAft>
                <a:spcPts val="800"/>
              </a:spcAft>
            </a:pPr>
            <a:r>
              <a:rPr lang="en-IN" sz="3200" dirty="0">
                <a:effectLst/>
                <a:latin typeface="Cambria" panose="02040503050406030204" pitchFamily="18" charset="0"/>
                <a:ea typeface="Calibri" panose="020F0502020204030204" pitchFamily="34" charset="0"/>
                <a:cs typeface="Gautami" panose="020B0502040204020203" pitchFamily="34" charset="0"/>
              </a:rPr>
              <a:t>Richie and Riya are participating in a game called "Lucky pairs" at the Annual Game Fair in their Company. As per the rules of the contest, two members form a team and Richie initially has the number A and Riya has the number </a:t>
            </a:r>
            <a:r>
              <a:rPr lang="en-IN" sz="3200" dirty="0" err="1">
                <a:effectLst/>
                <a:latin typeface="Cambria" panose="02040503050406030204" pitchFamily="18" charset="0"/>
                <a:ea typeface="Calibri" panose="020F0502020204030204" pitchFamily="34" charset="0"/>
                <a:cs typeface="Gautami" panose="020B0502040204020203" pitchFamily="34" charset="0"/>
              </a:rPr>
              <a:t>B.There</a:t>
            </a:r>
            <a:r>
              <a:rPr lang="en-IN" sz="3200" dirty="0">
                <a:effectLst/>
                <a:latin typeface="Cambria" panose="02040503050406030204" pitchFamily="18" charset="0"/>
                <a:ea typeface="Calibri" panose="020F0502020204030204" pitchFamily="34" charset="0"/>
                <a:cs typeface="Gautami" panose="020B0502040204020203" pitchFamily="34" charset="0"/>
              </a:rPr>
              <a:t> are a total of N turns in the game, and Richie and Riya alternatively take turns. In each turn the player whose turn it is, multiplies his or her number by 2. Richie has the first turn. Suppose after the entire N turns, Richie’s number has become C and Riya’s number has become D. The final score of the team will be the sum of the scores (C+D) of both the players after N turns.</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3200" dirty="0">
                <a:effectLst/>
                <a:latin typeface="Cambria" panose="02040503050406030204" pitchFamily="18" charset="0"/>
                <a:ea typeface="Calibri" panose="020F0502020204030204" pitchFamily="34" charset="0"/>
                <a:cs typeface="Gautami" panose="020B0502040204020203" pitchFamily="34" charset="0"/>
              </a:rPr>
              <a:t>Draw an </a:t>
            </a:r>
            <a:r>
              <a:rPr lang="en-IN" sz="3200" dirty="0">
                <a:latin typeface="Cambria" panose="02040503050406030204" pitchFamily="18" charset="0"/>
                <a:ea typeface="Calibri" panose="020F0502020204030204" pitchFamily="34" charset="0"/>
                <a:cs typeface="Gautami" panose="020B0502040204020203" pitchFamily="34" charset="0"/>
              </a:rPr>
              <a:t>flowchart </a:t>
            </a:r>
            <a:r>
              <a:rPr lang="en-IN" sz="3200" dirty="0">
                <a:effectLst/>
                <a:latin typeface="Cambria" panose="02040503050406030204" pitchFamily="18" charset="0"/>
                <a:ea typeface="Calibri" panose="020F0502020204030204" pitchFamily="34" charset="0"/>
                <a:cs typeface="Gautami" panose="020B0502040204020203" pitchFamily="34" charset="0"/>
              </a:rPr>
              <a:t>to facilitate the quiz organizers to find the final scores of the teams.</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874450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475C62-F63F-47E4-9507-2AE781A55757}"/>
              </a:ext>
            </a:extLst>
          </p:cNvPr>
          <p:cNvSpPr txBox="1"/>
          <p:nvPr/>
        </p:nvSpPr>
        <p:spPr>
          <a:xfrm>
            <a:off x="178904" y="327991"/>
            <a:ext cx="10704444" cy="5961055"/>
          </a:xfrm>
          <a:prstGeom prst="rect">
            <a:avLst/>
          </a:prstGeom>
          <a:noFill/>
        </p:spPr>
        <p:txBody>
          <a:bodyPr wrap="square">
            <a:spAutoFit/>
          </a:bodyPr>
          <a:lstStyle/>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Input Format:</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The only line of input contains 3 integers A, B, and N.</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Output Format:</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Output a single line which contains the integer that gives the final score of the team which will be the sum of the scores of both the players after N turns.</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Refer sample input and output for formatting specifications.</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Sample Input 1:</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1 2 1</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Sample Output 1:</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4	</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39792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836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BFE56F-066A-4B68-B555-E0DDABE05520}"/>
              </a:ext>
            </a:extLst>
          </p:cNvPr>
          <p:cNvSpPr txBox="1"/>
          <p:nvPr/>
        </p:nvSpPr>
        <p:spPr>
          <a:xfrm>
            <a:off x="0" y="255663"/>
            <a:ext cx="12192000" cy="6723251"/>
          </a:xfrm>
          <a:prstGeom prst="rect">
            <a:avLst/>
          </a:prstGeom>
          <a:noFill/>
        </p:spPr>
        <p:txBody>
          <a:bodyPr wrap="square">
            <a:spAutoFit/>
          </a:bodyPr>
          <a:lstStyle/>
          <a:p>
            <a:pPr>
              <a:lnSpc>
                <a:spcPct val="107000"/>
              </a:lnSpc>
              <a:spcAft>
                <a:spcPts val="800"/>
              </a:spcAft>
            </a:pPr>
            <a:r>
              <a:rPr lang="en-IN" sz="3200" dirty="0">
                <a:effectLst/>
                <a:latin typeface="Cambria" panose="02040503050406030204" pitchFamily="18" charset="0"/>
                <a:ea typeface="Calibri" panose="020F0502020204030204" pitchFamily="34" charset="0"/>
                <a:cs typeface="Gautami" panose="020B0502040204020203" pitchFamily="34" charset="0"/>
              </a:rPr>
              <a:t>Super Quiz Bee is a famous quiz Competition that tests students on a wide variety of academic subjects. This week’s competition was a Team event and students who register for the event will be given a unique registration code N. The participants are teamed into 10 teams and the team to which a participant is assigned to depends on the absolute difference between the first and last digit in the registration code.</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3200" dirty="0">
                <a:effectLst/>
                <a:latin typeface="Cambria" panose="02040503050406030204" pitchFamily="18" charset="0"/>
                <a:ea typeface="Calibri" panose="020F0502020204030204" pitchFamily="34" charset="0"/>
                <a:cs typeface="Gautami" panose="020B0502040204020203" pitchFamily="34" charset="0"/>
              </a:rPr>
              <a:t>The event organizers wanted your help in writing an automated program that will ease their job of assigning teams to the participants. If the registration number given is less than 10, then the program should display "Invalid Input".</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endParaRPr lang="en-IN" sz="4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634887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7CF43F-E448-459B-9A19-EB48FE9F9D36}"/>
              </a:ext>
            </a:extLst>
          </p:cNvPr>
          <p:cNvSpPr txBox="1"/>
          <p:nvPr/>
        </p:nvSpPr>
        <p:spPr>
          <a:xfrm>
            <a:off x="576470" y="586409"/>
            <a:ext cx="8570014" cy="5840381"/>
          </a:xfrm>
          <a:prstGeom prst="rect">
            <a:avLst/>
          </a:prstGeom>
          <a:noFill/>
        </p:spPr>
        <p:txBody>
          <a:bodyPr wrap="square">
            <a:spAutoFit/>
          </a:bodyPr>
          <a:lstStyle/>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Input Format:</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The only line of input contains an integer N. </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Output Format:</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Output the absolute difference between the first and last digit of N.</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Refer sample input and output for formatting specifications.</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Sample Input 1:</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345</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Sample Output 1:</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2</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25468</a:t>
            </a:r>
            <a:endParaRPr lang="en-IN" sz="36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400" dirty="0">
                <a:effectLst/>
                <a:latin typeface="Cambria" panose="02040503050406030204" pitchFamily="18" charset="0"/>
                <a:ea typeface="Calibri" panose="020F0502020204030204" pitchFamily="34" charset="0"/>
                <a:cs typeface="Gautami" panose="020B0502040204020203" pitchFamily="34" charset="0"/>
              </a:rPr>
              <a:t>6</a:t>
            </a:r>
            <a:endParaRPr lang="en-IN" sz="2400" dirty="0"/>
          </a:p>
        </p:txBody>
      </p:sp>
    </p:spTree>
    <p:extLst>
      <p:ext uri="{BB962C8B-B14F-4D97-AF65-F5344CB8AC3E}">
        <p14:creationId xmlns:p14="http://schemas.microsoft.com/office/powerpoint/2010/main" val="36067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689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FB822B-FFD3-46C3-918D-58A881DF5E3D}"/>
              </a:ext>
            </a:extLst>
          </p:cNvPr>
          <p:cNvSpPr txBox="1"/>
          <p:nvPr/>
        </p:nvSpPr>
        <p:spPr>
          <a:xfrm>
            <a:off x="0" y="731520"/>
            <a:ext cx="12192000" cy="4383892"/>
          </a:xfrm>
          <a:prstGeom prst="rect">
            <a:avLst/>
          </a:prstGeom>
          <a:noFill/>
        </p:spPr>
        <p:txBody>
          <a:bodyPr wrap="square">
            <a:spAutoFit/>
          </a:bodyPr>
          <a:lstStyle/>
          <a:p>
            <a:pPr>
              <a:lnSpc>
                <a:spcPct val="107000"/>
              </a:lnSpc>
              <a:spcAft>
                <a:spcPts val="800"/>
              </a:spcAft>
            </a:pPr>
            <a:r>
              <a:rPr lang="en-IN" sz="3200" dirty="0" err="1">
                <a:effectLst/>
                <a:latin typeface="Cambria" panose="02040503050406030204" pitchFamily="18" charset="0"/>
                <a:ea typeface="Calibri" panose="020F0502020204030204" pitchFamily="34" charset="0"/>
                <a:cs typeface="Gautami" panose="020B0502040204020203" pitchFamily="34" charset="0"/>
              </a:rPr>
              <a:t>Collatz</a:t>
            </a:r>
            <a:r>
              <a:rPr lang="en-IN" sz="3200" dirty="0">
                <a:effectLst/>
                <a:latin typeface="Cambria" panose="02040503050406030204" pitchFamily="18" charset="0"/>
                <a:ea typeface="Calibri" panose="020F0502020204030204" pitchFamily="34" charset="0"/>
                <a:cs typeface="Gautami" panose="020B0502040204020203" pitchFamily="34" charset="0"/>
              </a:rPr>
              <a:t> problem</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3200" dirty="0">
                <a:effectLst/>
                <a:latin typeface="Cambria" panose="02040503050406030204" pitchFamily="18" charset="0"/>
                <a:ea typeface="Calibri" panose="020F0502020204030204" pitchFamily="34" charset="0"/>
                <a:cs typeface="Gautami" panose="020B0502040204020203" pitchFamily="34" charset="0"/>
              </a:rPr>
              <a:t>Phoebe </a:t>
            </a:r>
            <a:r>
              <a:rPr lang="en-IN" sz="3200" dirty="0" err="1">
                <a:effectLst/>
                <a:latin typeface="Cambria" panose="02040503050406030204" pitchFamily="18" charset="0"/>
                <a:ea typeface="Calibri" panose="020F0502020204030204" pitchFamily="34" charset="0"/>
                <a:cs typeface="Gautami" panose="020B0502040204020203" pitchFamily="34" charset="0"/>
              </a:rPr>
              <a:t>Buffay</a:t>
            </a:r>
            <a:r>
              <a:rPr lang="en-IN" sz="3200" dirty="0">
                <a:effectLst/>
                <a:latin typeface="Cambria" panose="02040503050406030204" pitchFamily="18" charset="0"/>
                <a:ea typeface="Calibri" panose="020F0502020204030204" pitchFamily="34" charset="0"/>
                <a:cs typeface="Gautami" panose="020B0502040204020203" pitchFamily="34" charset="0"/>
              </a:rPr>
              <a:t> started working for Chandler Bing and he wanted her to write a C program to generate </a:t>
            </a:r>
            <a:r>
              <a:rPr lang="en-IN" sz="3200" dirty="0" err="1">
                <a:effectLst/>
                <a:latin typeface="Cambria" panose="02040503050406030204" pitchFamily="18" charset="0"/>
                <a:ea typeface="Calibri" panose="020F0502020204030204" pitchFamily="34" charset="0"/>
                <a:cs typeface="Gautami" panose="020B0502040204020203" pitchFamily="34" charset="0"/>
              </a:rPr>
              <a:t>Collatz</a:t>
            </a:r>
            <a:r>
              <a:rPr lang="en-IN" sz="3200" dirty="0">
                <a:effectLst/>
                <a:latin typeface="Cambria" panose="02040503050406030204" pitchFamily="18" charset="0"/>
                <a:ea typeface="Calibri" panose="020F0502020204030204" pitchFamily="34" charset="0"/>
                <a:cs typeface="Gautami" panose="020B0502040204020203" pitchFamily="34" charset="0"/>
              </a:rPr>
              <a:t> </a:t>
            </a:r>
            <a:r>
              <a:rPr lang="en-IN" sz="3200" dirty="0" err="1">
                <a:effectLst/>
                <a:latin typeface="Cambria" panose="02040503050406030204" pitchFamily="18" charset="0"/>
                <a:ea typeface="Calibri" panose="020F0502020204030204" pitchFamily="34" charset="0"/>
                <a:cs typeface="Gautami" panose="020B0502040204020203" pitchFamily="34" charset="0"/>
              </a:rPr>
              <a:t>Sequence.The</a:t>
            </a:r>
            <a:r>
              <a:rPr lang="en-IN" sz="3200" dirty="0">
                <a:effectLst/>
                <a:latin typeface="Cambria" panose="02040503050406030204" pitchFamily="18" charset="0"/>
                <a:ea typeface="Calibri" panose="020F0502020204030204" pitchFamily="34" charset="0"/>
                <a:cs typeface="Gautami" panose="020B0502040204020203" pitchFamily="34" charset="0"/>
              </a:rPr>
              <a:t> rules for generating </a:t>
            </a:r>
            <a:r>
              <a:rPr lang="en-IN" sz="3200" dirty="0" err="1">
                <a:effectLst/>
                <a:latin typeface="Cambria" panose="02040503050406030204" pitchFamily="18" charset="0"/>
                <a:ea typeface="Calibri" panose="020F0502020204030204" pitchFamily="34" charset="0"/>
                <a:cs typeface="Gautami" panose="020B0502040204020203" pitchFamily="34" charset="0"/>
              </a:rPr>
              <a:t>Collatz</a:t>
            </a:r>
            <a:r>
              <a:rPr lang="en-IN" sz="3200" dirty="0">
                <a:effectLst/>
                <a:latin typeface="Cambria" panose="02040503050406030204" pitchFamily="18" charset="0"/>
                <a:ea typeface="Calibri" panose="020F0502020204030204" pitchFamily="34" charset="0"/>
                <a:cs typeface="Gautami" panose="020B0502040204020203" pitchFamily="34" charset="0"/>
              </a:rPr>
              <a:t> sequence are: If n is even: n = n / 2 If n is odd: n = 3n + 1 For example, if the starting number is 5 the sequence is: 5 -&gt; 16 -&gt; 8 -&gt; 4 -&gt; 2 -&gt; 1 It has been proved for almost all integers, that the repeated application of the above rule will result in a sequence that ends in 1.</a:t>
            </a:r>
            <a:endParaRPr lang="en-IN" sz="44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28489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48005-CFDB-483D-AE48-51F297DA1656}"/>
              </a:ext>
            </a:extLst>
          </p:cNvPr>
          <p:cNvSpPr txBox="1"/>
          <p:nvPr/>
        </p:nvSpPr>
        <p:spPr>
          <a:xfrm>
            <a:off x="556591" y="606287"/>
            <a:ext cx="10704444" cy="5025478"/>
          </a:xfrm>
          <a:prstGeom prst="rect">
            <a:avLst/>
          </a:prstGeom>
          <a:noFill/>
        </p:spPr>
        <p:txBody>
          <a:bodyPr wrap="square">
            <a:spAutoFit/>
          </a:bodyPr>
          <a:lstStyle/>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INPUT &amp; OUTPUT FORMAT:</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The input is an integer 'n' which denotes the first term of the sequence.</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As output, print the numbers in the sequence and also print the number of times the rule has to be applied in order to reach 1.</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SAMPLE INPUT:</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5</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SAMPLE OUTPUT:</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2800" dirty="0">
                <a:effectLst/>
                <a:latin typeface="Cambria" panose="02040503050406030204" pitchFamily="18" charset="0"/>
                <a:ea typeface="Calibri" panose="020F0502020204030204" pitchFamily="34" charset="0"/>
                <a:cs typeface="Gautami" panose="020B0502040204020203" pitchFamily="34" charset="0"/>
              </a:rPr>
              <a:t>5</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16</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8</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4</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2</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1</a:t>
            </a:r>
            <a:r>
              <a:rPr lang="en-IN" sz="4000" dirty="0">
                <a:latin typeface="Calibri" panose="020F0502020204030204" pitchFamily="34" charset="0"/>
                <a:ea typeface="Calibri" panose="020F0502020204030204" pitchFamily="34" charset="0"/>
                <a:cs typeface="Gautami" panose="020B0502040204020203" pitchFamily="34" charset="0"/>
              </a:rPr>
              <a:t> </a:t>
            </a:r>
            <a:r>
              <a:rPr lang="en-IN" sz="2800" dirty="0">
                <a:effectLst/>
                <a:latin typeface="Cambria" panose="02040503050406030204" pitchFamily="18" charset="0"/>
                <a:ea typeface="Calibri" panose="020F0502020204030204" pitchFamily="34" charset="0"/>
                <a:cs typeface="Gautami" panose="020B0502040204020203" pitchFamily="34" charset="0"/>
              </a:rPr>
              <a:t>5</a:t>
            </a:r>
            <a:endParaRPr lang="en-IN" sz="40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841795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205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034601-C03F-4DB1-A977-D2234E7E122D}"/>
              </a:ext>
            </a:extLst>
          </p:cNvPr>
          <p:cNvSpPr txBox="1"/>
          <p:nvPr/>
        </p:nvSpPr>
        <p:spPr>
          <a:xfrm>
            <a:off x="278295" y="248478"/>
            <a:ext cx="10893287" cy="6235553"/>
          </a:xfrm>
          <a:prstGeom prst="rect">
            <a:avLst/>
          </a:prstGeom>
          <a:noFill/>
        </p:spPr>
        <p:txBody>
          <a:bodyPr wrap="square">
            <a:spAutoFit/>
          </a:bodyPr>
          <a:lstStyle/>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Ugly numbers are numbers whose only prime factors are 2, 3 or 5. The sequence 1, 2, 3, 4, 5, 6, 8, 9, 10, 12, 14, 15, … shows the first 12 ugly numbers. By convention, 1 is included.</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Given a number n, the task is to find </a:t>
            </a:r>
            <a:r>
              <a:rPr lang="en-US" sz="2400" dirty="0" err="1">
                <a:effectLst/>
                <a:latin typeface="Cambria" panose="02040503050406030204" pitchFamily="18" charset="0"/>
                <a:ea typeface="Calibri" panose="020F0502020204030204" pitchFamily="34" charset="0"/>
                <a:cs typeface="Gautami" panose="020B0502040204020203" pitchFamily="34" charset="0"/>
              </a:rPr>
              <a:t>n’th</a:t>
            </a:r>
            <a:r>
              <a:rPr lang="en-US" sz="2400" dirty="0">
                <a:effectLst/>
                <a:latin typeface="Cambria" panose="02040503050406030204" pitchFamily="18" charset="0"/>
                <a:ea typeface="Calibri" panose="020F0502020204030204" pitchFamily="34" charset="0"/>
                <a:cs typeface="Gautami" panose="020B0502040204020203" pitchFamily="34" charset="0"/>
              </a:rPr>
              <a:t> Ugly number.</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b="1" dirty="0">
                <a:effectLst/>
                <a:latin typeface="Cambria" panose="02040503050406030204" pitchFamily="18" charset="0"/>
                <a:ea typeface="Calibri" panose="020F0502020204030204" pitchFamily="34" charset="0"/>
                <a:cs typeface="Gautami" panose="020B0502040204020203" pitchFamily="34" charset="0"/>
              </a:rPr>
              <a:t>Examples</a:t>
            </a:r>
            <a:r>
              <a:rPr lang="en-US" sz="2400" dirty="0">
                <a:effectLst/>
                <a:latin typeface="Cambria" panose="02040503050406030204" pitchFamily="18" charset="0"/>
                <a:ea typeface="Calibri" panose="020F0502020204030204" pitchFamily="34" charset="0"/>
                <a:cs typeface="Gautami" panose="020B0502040204020203" pitchFamily="34" charset="0"/>
              </a:rPr>
              <a:t>:</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Input  : n = 7</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Output : 8</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Input  : n = 10</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Output : 12</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b="1" dirty="0">
                <a:effectLst/>
                <a:latin typeface="Cambria" panose="02040503050406030204" pitchFamily="18" charset="0"/>
                <a:ea typeface="Calibri" panose="020F0502020204030204" pitchFamily="34" charset="0"/>
                <a:cs typeface="Gautami" panose="020B0502040204020203" pitchFamily="34" charset="0"/>
              </a:rPr>
              <a:t>Input format:</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Single line integer</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b="1" dirty="0">
                <a:effectLst/>
                <a:latin typeface="Cambria" panose="02040503050406030204" pitchFamily="18" charset="0"/>
                <a:ea typeface="Calibri" panose="020F0502020204030204" pitchFamily="34" charset="0"/>
                <a:cs typeface="Gautami" panose="020B0502040204020203" pitchFamily="34" charset="0"/>
              </a:rPr>
              <a:t>Output format:</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400" dirty="0">
                <a:effectLst/>
                <a:latin typeface="Cambria" panose="02040503050406030204" pitchFamily="18" charset="0"/>
                <a:ea typeface="Calibri" panose="020F0502020204030204" pitchFamily="34" charset="0"/>
                <a:cs typeface="Gautami" panose="020B0502040204020203" pitchFamily="34" charset="0"/>
              </a:rPr>
              <a:t>Single line integer</a:t>
            </a:r>
            <a:endParaRPr lang="en-IN" sz="20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7" name="TextBox 6">
            <a:extLst>
              <a:ext uri="{FF2B5EF4-FFF2-40B4-BE49-F238E27FC236}">
                <a16:creationId xmlns:a16="http://schemas.microsoft.com/office/drawing/2014/main" id="{090C2A0D-0F0A-4DBC-B278-5C1A41E1959E}"/>
              </a:ext>
            </a:extLst>
          </p:cNvPr>
          <p:cNvSpPr txBox="1"/>
          <p:nvPr/>
        </p:nvSpPr>
        <p:spPr>
          <a:xfrm>
            <a:off x="5215558" y="2340650"/>
            <a:ext cx="6097656" cy="3827394"/>
          </a:xfrm>
          <a:prstGeom prst="rect">
            <a:avLst/>
          </a:prstGeom>
          <a:noFill/>
        </p:spPr>
        <p:txBody>
          <a:bodyPr wrap="square">
            <a:spAutoFit/>
          </a:bodyPr>
          <a:lstStyle/>
          <a:p>
            <a:pPr>
              <a:lnSpc>
                <a:spcPct val="107000"/>
              </a:lnSpc>
              <a:spcAft>
                <a:spcPts val="800"/>
              </a:spcAft>
            </a:pPr>
            <a:r>
              <a:rPr lang="en-US" sz="2000" b="1" dirty="0">
                <a:effectLst/>
                <a:latin typeface="Cambria" panose="02040503050406030204" pitchFamily="18" charset="0"/>
                <a:ea typeface="Calibri" panose="020F0502020204030204" pitchFamily="34" charset="0"/>
                <a:cs typeface="Gautami" panose="020B0502040204020203" pitchFamily="34" charset="0"/>
              </a:rPr>
              <a:t>Test cases:</a:t>
            </a:r>
            <a:r>
              <a:rPr lang="en-US" sz="2000" dirty="0">
                <a:effectLst/>
                <a:latin typeface="Cambria" panose="02040503050406030204" pitchFamily="18" charset="0"/>
                <a:ea typeface="Calibri" panose="020F0502020204030204" pitchFamily="34" charset="0"/>
                <a:cs typeface="Gautami" panose="020B0502040204020203" pitchFamily="34" charset="0"/>
              </a:rPr>
              <a:t> </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10</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12</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20</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36</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 </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30</a:t>
            </a:r>
            <a:endParaRPr lang="en-IN"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2000" dirty="0">
                <a:effectLst/>
                <a:latin typeface="Cambria" panose="02040503050406030204" pitchFamily="18" charset="0"/>
                <a:ea typeface="Calibri" panose="020F0502020204030204" pitchFamily="34" charset="0"/>
                <a:cs typeface="Gautami" panose="020B0502040204020203" pitchFamily="34" charset="0"/>
              </a:rPr>
              <a:t>80</a:t>
            </a:r>
            <a:endParaRPr lang="en-IN"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2135566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08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6504D3-3721-4EDE-90A3-693E89FC774D}"/>
              </a:ext>
            </a:extLst>
          </p:cNvPr>
          <p:cNvSpPr txBox="1"/>
          <p:nvPr/>
        </p:nvSpPr>
        <p:spPr>
          <a:xfrm>
            <a:off x="0" y="207677"/>
            <a:ext cx="12192000" cy="6145272"/>
          </a:xfrm>
          <a:prstGeom prst="rect">
            <a:avLst/>
          </a:prstGeom>
          <a:noFill/>
        </p:spPr>
        <p:txBody>
          <a:bodyPr wrap="square">
            <a:spAutoFit/>
          </a:bodyPr>
          <a:lstStyle/>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Data mining</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In the University examinations conducted during the past 5 years, the toppers registration numbers were 7126, 82417914, 7687 and 6657. Your father is an expert in data mining and he could easily infer a pattern in the toppers registration numbers. In all the registration numbers listed here, the sum of the odd digits is equal to the sum of the even digits in the number. He termed the numbers that satisfy this property as Probable Topper Numbers. Now, </a:t>
            </a:r>
            <a:r>
              <a:rPr lang="en-IN" sz="2000" dirty="0">
                <a:latin typeface="Calibri" panose="020F0502020204030204" pitchFamily="34" charset="0"/>
                <a:ea typeface="Calibri" panose="020F0502020204030204" pitchFamily="34" charset="0"/>
                <a:cs typeface="Gautami" panose="020B0502040204020203" pitchFamily="34" charset="0"/>
              </a:rPr>
              <a:t>Draw</a:t>
            </a:r>
            <a:r>
              <a:rPr lang="en-IN" sz="2000" dirty="0">
                <a:effectLst/>
                <a:latin typeface="Calibri" panose="020F0502020204030204" pitchFamily="34" charset="0"/>
                <a:ea typeface="Calibri" panose="020F0502020204030204" pitchFamily="34" charset="0"/>
                <a:cs typeface="Gautami" panose="020B0502040204020203" pitchFamily="34" charset="0"/>
              </a:rPr>
              <a:t> an algorithm to find whether a given number is a probable topper number or not.</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INPUT &amp; OUTPUT FORMAT:</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Input consists of a single integer.</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The output consists of a single line. Refer the sample output for details.</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SAMPLE INPUT &amp; OUTPUT:</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143</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Yes</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Input (stdin)</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127</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Output (</a:t>
            </a:r>
            <a:r>
              <a:rPr lang="en-IN" sz="2000" dirty="0" err="1">
                <a:effectLst/>
                <a:latin typeface="Calibri" panose="020F0502020204030204" pitchFamily="34" charset="0"/>
                <a:ea typeface="Calibri" panose="020F0502020204030204" pitchFamily="34" charset="0"/>
                <a:cs typeface="Gautami" panose="020B0502040204020203" pitchFamily="34" charset="0"/>
              </a:rPr>
              <a:t>stdout</a:t>
            </a:r>
            <a:r>
              <a:rPr lang="en-IN" sz="2000" dirty="0">
                <a:effectLst/>
                <a:latin typeface="Calibri" panose="020F0502020204030204" pitchFamily="34" charset="0"/>
                <a:ea typeface="Calibri" panose="020F0502020204030204" pitchFamily="34" charset="0"/>
                <a:cs typeface="Gautami" panose="020B0502040204020203" pitchFamily="34" charset="0"/>
              </a:rPr>
              <a:t>)</a:t>
            </a:r>
          </a:p>
          <a:p>
            <a:pPr>
              <a:spcAft>
                <a:spcPts val="800"/>
              </a:spcAft>
            </a:pPr>
            <a:r>
              <a:rPr lang="en-IN" sz="2000" dirty="0">
                <a:effectLst/>
                <a:latin typeface="Calibri" panose="020F0502020204030204" pitchFamily="34" charset="0"/>
                <a:ea typeface="Calibri" panose="020F0502020204030204" pitchFamily="34" charset="0"/>
                <a:cs typeface="Gautami" panose="020B0502040204020203" pitchFamily="34" charset="0"/>
              </a:rPr>
              <a:t>No</a:t>
            </a:r>
          </a:p>
        </p:txBody>
      </p:sp>
    </p:spTree>
    <p:extLst>
      <p:ext uri="{BB962C8B-B14F-4D97-AF65-F5344CB8AC3E}">
        <p14:creationId xmlns:p14="http://schemas.microsoft.com/office/powerpoint/2010/main" val="1971303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780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A17A15-F588-468E-89AD-EBF84EAC48CE}"/>
              </a:ext>
            </a:extLst>
          </p:cNvPr>
          <p:cNvSpPr txBox="1"/>
          <p:nvPr/>
        </p:nvSpPr>
        <p:spPr>
          <a:xfrm>
            <a:off x="298174" y="168965"/>
            <a:ext cx="11350487" cy="5632311"/>
          </a:xfrm>
          <a:prstGeom prst="rect">
            <a:avLst/>
          </a:prstGeom>
          <a:noFill/>
        </p:spPr>
        <p:txBody>
          <a:bodyPr wrap="square" rtlCol="0">
            <a:spAutoFit/>
          </a:bodyPr>
          <a:lstStyle/>
          <a:p>
            <a:r>
              <a:rPr lang="en-IN" sz="2400" dirty="0"/>
              <a:t>A and B plays a game called BOOMER7,9. A will be say B some value, and B with </a:t>
            </a:r>
            <a:r>
              <a:rPr lang="en-IN" sz="2400" dirty="0" err="1"/>
              <a:t>wether</a:t>
            </a:r>
            <a:r>
              <a:rPr lang="en-IN" sz="2400" dirty="0"/>
              <a:t> is consists of 7 or 9</a:t>
            </a:r>
          </a:p>
          <a:p>
            <a:r>
              <a:rPr lang="en-IN" sz="2400" dirty="0"/>
              <a:t>Draw an flow chart to say </a:t>
            </a:r>
            <a:r>
              <a:rPr lang="en-IN" sz="2400" b="1" dirty="0"/>
              <a:t>Super boom </a:t>
            </a:r>
            <a:r>
              <a:rPr lang="en-IN" sz="2400" dirty="0"/>
              <a:t>if your number consists of both 7 and 9, </a:t>
            </a:r>
            <a:r>
              <a:rPr lang="en-IN" sz="2400" b="1" dirty="0"/>
              <a:t>BOOM!</a:t>
            </a:r>
            <a:r>
              <a:rPr lang="en-IN" sz="2400" dirty="0"/>
              <a:t> If your number consists of 7 or 9. if none of the value of present, say </a:t>
            </a:r>
            <a:r>
              <a:rPr lang="en-IN" sz="2400" b="1" dirty="0"/>
              <a:t>NO BOOM!</a:t>
            </a:r>
          </a:p>
          <a:p>
            <a:endParaRPr lang="en-IN" sz="2400" b="1" dirty="0"/>
          </a:p>
          <a:p>
            <a:r>
              <a:rPr lang="en-IN" sz="2400" dirty="0"/>
              <a:t>Sample input &amp; Output:</a:t>
            </a:r>
          </a:p>
          <a:p>
            <a:endParaRPr lang="en-IN" sz="2400" dirty="0"/>
          </a:p>
          <a:p>
            <a:r>
              <a:rPr lang="en-IN" sz="2400" dirty="0"/>
              <a:t>1234567</a:t>
            </a:r>
          </a:p>
          <a:p>
            <a:r>
              <a:rPr lang="en-IN" sz="2400" dirty="0"/>
              <a:t>BOOM!</a:t>
            </a:r>
          </a:p>
          <a:p>
            <a:endParaRPr lang="en-IN" sz="2400" dirty="0"/>
          </a:p>
          <a:p>
            <a:r>
              <a:rPr lang="en-IN" sz="2400" dirty="0"/>
              <a:t>9744398</a:t>
            </a:r>
          </a:p>
          <a:p>
            <a:r>
              <a:rPr lang="en-IN" sz="2400" dirty="0"/>
              <a:t>SUPER BOOM!</a:t>
            </a:r>
          </a:p>
          <a:p>
            <a:endParaRPr lang="en-IN" sz="2400" dirty="0"/>
          </a:p>
          <a:p>
            <a:r>
              <a:rPr lang="en-IN" sz="2400" dirty="0"/>
              <a:t>23242</a:t>
            </a:r>
          </a:p>
          <a:p>
            <a:r>
              <a:rPr lang="en-IN" sz="2400" dirty="0"/>
              <a:t>NO BOOM</a:t>
            </a:r>
          </a:p>
        </p:txBody>
      </p:sp>
    </p:spTree>
    <p:extLst>
      <p:ext uri="{BB962C8B-B14F-4D97-AF65-F5344CB8AC3E}">
        <p14:creationId xmlns:p14="http://schemas.microsoft.com/office/powerpoint/2010/main" val="1301621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0835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1234C8-A992-4941-A37D-A1EC22EBED99}"/>
              </a:ext>
            </a:extLst>
          </p:cNvPr>
          <p:cNvSpPr txBox="1"/>
          <p:nvPr/>
        </p:nvSpPr>
        <p:spPr>
          <a:xfrm>
            <a:off x="745435" y="337930"/>
            <a:ext cx="9998765" cy="5324535"/>
          </a:xfrm>
          <a:prstGeom prst="rect">
            <a:avLst/>
          </a:prstGeom>
          <a:noFill/>
        </p:spPr>
        <p:txBody>
          <a:bodyPr wrap="square" rtlCol="0">
            <a:spAutoFit/>
          </a:bodyPr>
          <a:lstStyle/>
          <a:p>
            <a:r>
              <a:rPr lang="en-IN" sz="2000" dirty="0"/>
              <a:t>Write an algorithm to check whether the given number is Armstrong number or not</a:t>
            </a:r>
          </a:p>
          <a:p>
            <a:endParaRPr lang="en-IN" sz="2000" dirty="0"/>
          </a:p>
          <a:p>
            <a:endParaRPr lang="en-IN" sz="2000" dirty="0"/>
          </a:p>
          <a:p>
            <a:r>
              <a:rPr lang="en-IN" sz="2000" dirty="0"/>
              <a:t>Armstrong Number :</a:t>
            </a:r>
          </a:p>
          <a:p>
            <a:r>
              <a:rPr lang="en-IN" sz="2000" dirty="0"/>
              <a:t>153 </a:t>
            </a:r>
          </a:p>
          <a:p>
            <a:endParaRPr lang="en-IN" sz="2000" dirty="0"/>
          </a:p>
          <a:p>
            <a:r>
              <a:rPr lang="en-IN" sz="2000" dirty="0"/>
              <a:t>1^3 + 5^3 +3^3 = 153</a:t>
            </a:r>
          </a:p>
          <a:p>
            <a:endParaRPr lang="en-IN" sz="2000" dirty="0"/>
          </a:p>
          <a:p>
            <a:r>
              <a:rPr lang="en-IN" sz="2000" dirty="0"/>
              <a:t>Input format : </a:t>
            </a:r>
          </a:p>
          <a:p>
            <a:r>
              <a:rPr lang="en-IN" sz="2000" dirty="0"/>
              <a:t>Single input </a:t>
            </a:r>
          </a:p>
          <a:p>
            <a:r>
              <a:rPr lang="en-IN" sz="2000" dirty="0"/>
              <a:t>Output format :</a:t>
            </a:r>
          </a:p>
          <a:p>
            <a:r>
              <a:rPr lang="en-IN" sz="2000" dirty="0"/>
              <a:t>Single line output  consist of YES OR NO</a:t>
            </a:r>
          </a:p>
          <a:p>
            <a:endParaRPr lang="en-IN" sz="2000" dirty="0"/>
          </a:p>
          <a:p>
            <a:r>
              <a:rPr lang="en-IN" sz="2000" dirty="0"/>
              <a:t>Sample input:</a:t>
            </a:r>
          </a:p>
          <a:p>
            <a:r>
              <a:rPr lang="en-IN" sz="2000" dirty="0"/>
              <a:t>153</a:t>
            </a:r>
          </a:p>
          <a:p>
            <a:r>
              <a:rPr lang="en-IN" sz="2000" dirty="0"/>
              <a:t>Sample Output :</a:t>
            </a:r>
          </a:p>
          <a:p>
            <a:r>
              <a:rPr lang="en-IN" sz="2000" dirty="0"/>
              <a:t>YES </a:t>
            </a:r>
          </a:p>
        </p:txBody>
      </p:sp>
    </p:spTree>
    <p:extLst>
      <p:ext uri="{BB962C8B-B14F-4D97-AF65-F5344CB8AC3E}">
        <p14:creationId xmlns:p14="http://schemas.microsoft.com/office/powerpoint/2010/main" val="3764561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150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10CF41-C0A5-4691-B801-4CE9C2EEA3C0}"/>
              </a:ext>
            </a:extLst>
          </p:cNvPr>
          <p:cNvSpPr txBox="1"/>
          <p:nvPr/>
        </p:nvSpPr>
        <p:spPr>
          <a:xfrm>
            <a:off x="695739" y="407504"/>
            <a:ext cx="10127974" cy="3139321"/>
          </a:xfrm>
          <a:prstGeom prst="rect">
            <a:avLst/>
          </a:prstGeom>
          <a:noFill/>
        </p:spPr>
        <p:txBody>
          <a:bodyPr wrap="square" rtlCol="0">
            <a:spAutoFit/>
          </a:bodyPr>
          <a:lstStyle/>
          <a:p>
            <a:r>
              <a:rPr lang="en-IN" dirty="0"/>
              <a:t>Draw an flow chart to reverse the given number</a:t>
            </a:r>
            <a:br>
              <a:rPr lang="en-IN" dirty="0"/>
            </a:br>
            <a:br>
              <a:rPr lang="en-IN" dirty="0"/>
            </a:br>
            <a:endParaRPr lang="en-IN" dirty="0"/>
          </a:p>
          <a:p>
            <a:r>
              <a:rPr lang="en-IN" sz="1800" dirty="0"/>
              <a:t>Input format : </a:t>
            </a:r>
          </a:p>
          <a:p>
            <a:r>
              <a:rPr lang="en-IN" sz="1800" dirty="0"/>
              <a:t>Single input </a:t>
            </a:r>
          </a:p>
          <a:p>
            <a:r>
              <a:rPr lang="en-IN" sz="1800" dirty="0"/>
              <a:t>Output format :</a:t>
            </a:r>
          </a:p>
          <a:p>
            <a:r>
              <a:rPr lang="en-IN" sz="1800" dirty="0"/>
              <a:t>Single line output  consist of reversed number</a:t>
            </a:r>
          </a:p>
          <a:p>
            <a:endParaRPr lang="en-IN" dirty="0"/>
          </a:p>
          <a:p>
            <a:br>
              <a:rPr lang="en-IN" dirty="0"/>
            </a:br>
            <a:r>
              <a:rPr lang="en-IN" dirty="0" err="1"/>
              <a:t>i</a:t>
            </a:r>
            <a:r>
              <a:rPr lang="en-IN" dirty="0"/>
              <a:t>/p : 1234</a:t>
            </a:r>
          </a:p>
          <a:p>
            <a:r>
              <a:rPr lang="en-IN" dirty="0"/>
              <a:t>o/p: 4321</a:t>
            </a:r>
          </a:p>
        </p:txBody>
      </p:sp>
    </p:spTree>
    <p:extLst>
      <p:ext uri="{BB962C8B-B14F-4D97-AF65-F5344CB8AC3E}">
        <p14:creationId xmlns:p14="http://schemas.microsoft.com/office/powerpoint/2010/main" val="3180627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81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6DFD0-10DA-4671-963F-20D13E11032C}"/>
              </a:ext>
            </a:extLst>
          </p:cNvPr>
          <p:cNvSpPr txBox="1"/>
          <p:nvPr/>
        </p:nvSpPr>
        <p:spPr>
          <a:xfrm>
            <a:off x="0" y="391637"/>
            <a:ext cx="12192000" cy="5124673"/>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Tom is crazy about cricket. He was watching India vs. Australia World cup final match. Australia won the toss and elected to bat first. They finished batting with a score of X. Next, India started to bat and scored Y runs in N number of balls. As Tom is very crazy, he wants to calculate the run rate and check whether there is a probability for India to win or not. Help him calculate the run-rate and check the probability.</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FORMAT &amp; OUTPUT FORMAT: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consists of 4 integers. First input corresponds to the total number of balls. Second input corresponds to the total number of runs. Third input corresponds to the number of runs scored. Fourth input corresponds to the number of balls bowled. First output corresponds to the total number of overs. Second output corresponds to the total number of overs finished. Third output corresponds to the current run rate. Fourth output corresponds to total run rate.</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Overs: 50 Overs finished: 7.3 Current Run rate: 10.7 Total Run rate: 7.5 Eligible to Win</a:t>
            </a:r>
          </a:p>
        </p:txBody>
      </p:sp>
    </p:spTree>
    <p:extLst>
      <p:ext uri="{BB962C8B-B14F-4D97-AF65-F5344CB8AC3E}">
        <p14:creationId xmlns:p14="http://schemas.microsoft.com/office/powerpoint/2010/main" val="215939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918EB-D5BD-433F-9064-E72B87407812}"/>
              </a:ext>
            </a:extLst>
          </p:cNvPr>
          <p:cNvSpPr txBox="1"/>
          <p:nvPr/>
        </p:nvSpPr>
        <p:spPr>
          <a:xfrm>
            <a:off x="1657350" y="461256"/>
            <a:ext cx="6097656" cy="5447645"/>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INPUT: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300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375</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78</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45</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OUTPUT: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50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7.3</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10.7</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7.5</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Eligible to Win</a:t>
            </a:r>
          </a:p>
        </p:txBody>
      </p:sp>
    </p:spTree>
    <p:extLst>
      <p:ext uri="{BB962C8B-B14F-4D97-AF65-F5344CB8AC3E}">
        <p14:creationId xmlns:p14="http://schemas.microsoft.com/office/powerpoint/2010/main" val="808288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B270BA-F341-4065-95A7-A70259FD9DA1}"/>
              </a:ext>
            </a:extLst>
          </p:cNvPr>
          <p:cNvSpPr txBox="1"/>
          <p:nvPr/>
        </p:nvSpPr>
        <p:spPr>
          <a:xfrm>
            <a:off x="457200" y="129209"/>
            <a:ext cx="9432235" cy="6001643"/>
          </a:xfrm>
          <a:prstGeom prst="rect">
            <a:avLst/>
          </a:prstGeom>
          <a:noFill/>
        </p:spPr>
        <p:txBody>
          <a:bodyPr wrap="square" rtlCol="0">
            <a:spAutoFit/>
          </a:bodyPr>
          <a:lstStyle/>
          <a:p>
            <a:r>
              <a:rPr lang="en-IN" sz="2400" dirty="0"/>
              <a:t>{</a:t>
            </a:r>
          </a:p>
          <a:p>
            <a:r>
              <a:rPr lang="en-IN" sz="2400" dirty="0"/>
              <a:t>int </a:t>
            </a:r>
            <a:r>
              <a:rPr lang="en-IN" sz="2400" dirty="0" err="1"/>
              <a:t>t_b</a:t>
            </a:r>
            <a:r>
              <a:rPr lang="en-IN" sz="2400" dirty="0"/>
              <a:t>, </a:t>
            </a:r>
            <a:r>
              <a:rPr lang="en-IN" sz="2400" dirty="0" err="1"/>
              <a:t>t_r</a:t>
            </a:r>
            <a:r>
              <a:rPr lang="en-IN" sz="2400" dirty="0"/>
              <a:t>, </a:t>
            </a:r>
            <a:r>
              <a:rPr lang="en-IN" sz="2400" dirty="0" err="1"/>
              <a:t>c_r,c_b</a:t>
            </a:r>
            <a:r>
              <a:rPr lang="en-IN" sz="2400" dirty="0"/>
              <a:t>;</a:t>
            </a:r>
          </a:p>
          <a:p>
            <a:r>
              <a:rPr lang="en-IN" sz="2400" dirty="0"/>
              <a:t>float </a:t>
            </a:r>
            <a:r>
              <a:rPr lang="en-IN" sz="2400" dirty="0" err="1"/>
              <a:t>ov,c_ov,c_rr,n_rr</a:t>
            </a:r>
            <a:r>
              <a:rPr lang="en-IN" sz="2400" dirty="0"/>
              <a:t>;</a:t>
            </a:r>
          </a:p>
          <a:p>
            <a:r>
              <a:rPr lang="en-IN" sz="2400" dirty="0" err="1"/>
              <a:t>scanf</a:t>
            </a:r>
            <a:r>
              <a:rPr lang="en-IN" sz="2400" dirty="0"/>
              <a:t>(“%</a:t>
            </a:r>
            <a:r>
              <a:rPr lang="en-IN" sz="2400" dirty="0" err="1"/>
              <a:t>d%d%d%d</a:t>
            </a:r>
            <a:r>
              <a:rPr lang="en-IN" sz="2400" dirty="0"/>
              <a:t>”,&amp;t_b,&amp;t_r,&amp;c_r,&amp;</a:t>
            </a:r>
            <a:r>
              <a:rPr lang="en-IN" sz="2400" dirty="0" err="1"/>
              <a:t>c_b</a:t>
            </a:r>
            <a:r>
              <a:rPr lang="en-IN" sz="2400" dirty="0"/>
              <a:t>);</a:t>
            </a:r>
          </a:p>
          <a:p>
            <a:r>
              <a:rPr lang="en-IN" sz="2400" dirty="0" err="1"/>
              <a:t>ov</a:t>
            </a:r>
            <a:r>
              <a:rPr lang="en-IN" sz="2400" dirty="0"/>
              <a:t> = (</a:t>
            </a:r>
            <a:r>
              <a:rPr lang="en-IN" sz="2400" dirty="0" err="1"/>
              <a:t>t_b</a:t>
            </a:r>
            <a:r>
              <a:rPr lang="en-IN" sz="2400" dirty="0"/>
              <a:t>/6) + ((t_b%6)* 0.1);</a:t>
            </a:r>
          </a:p>
          <a:p>
            <a:r>
              <a:rPr lang="en-IN" sz="2400" dirty="0" err="1"/>
              <a:t>c_ov</a:t>
            </a:r>
            <a:r>
              <a:rPr lang="en-IN" sz="2400" dirty="0"/>
              <a:t> = (</a:t>
            </a:r>
            <a:r>
              <a:rPr lang="en-IN" sz="2400" dirty="0" err="1"/>
              <a:t>c_b</a:t>
            </a:r>
            <a:r>
              <a:rPr lang="en-IN" sz="2400" dirty="0"/>
              <a:t>/6) + ((c_b%6)* 0.1);</a:t>
            </a:r>
          </a:p>
          <a:p>
            <a:r>
              <a:rPr lang="en-IN" sz="2400" dirty="0" err="1"/>
              <a:t>c_rr</a:t>
            </a:r>
            <a:r>
              <a:rPr lang="en-IN" sz="2400" dirty="0"/>
              <a:t> = (float)</a:t>
            </a:r>
            <a:r>
              <a:rPr lang="en-IN" sz="2400" dirty="0" err="1"/>
              <a:t>c_r</a:t>
            </a:r>
            <a:r>
              <a:rPr lang="en-IN" sz="2400" dirty="0"/>
              <a:t> / </a:t>
            </a:r>
            <a:r>
              <a:rPr lang="en-IN" sz="2400" dirty="0" err="1"/>
              <a:t>c_ov</a:t>
            </a:r>
            <a:r>
              <a:rPr lang="en-IN" sz="2400" dirty="0"/>
              <a:t>;</a:t>
            </a:r>
          </a:p>
          <a:p>
            <a:r>
              <a:rPr lang="en-IN" sz="2400" dirty="0" err="1"/>
              <a:t>n_rr</a:t>
            </a:r>
            <a:r>
              <a:rPr lang="en-IN" sz="2400" dirty="0"/>
              <a:t> = (float)</a:t>
            </a:r>
            <a:r>
              <a:rPr lang="en-IN" sz="2400" dirty="0" err="1"/>
              <a:t>t_r</a:t>
            </a:r>
            <a:r>
              <a:rPr lang="en-IN" sz="2400" dirty="0"/>
              <a:t> / </a:t>
            </a:r>
            <a:r>
              <a:rPr lang="en-IN" sz="2400" dirty="0" err="1"/>
              <a:t>ov</a:t>
            </a:r>
            <a:r>
              <a:rPr lang="en-IN" sz="2400" dirty="0"/>
              <a:t> ;</a:t>
            </a:r>
          </a:p>
          <a:p>
            <a:r>
              <a:rPr lang="en-IN" sz="2400" dirty="0" err="1"/>
              <a:t>printf</a:t>
            </a:r>
            <a:r>
              <a:rPr lang="en-IN" sz="2400" dirty="0"/>
              <a:t>(“</a:t>
            </a:r>
            <a:r>
              <a:rPr lang="en-IN" sz="2400" dirty="0" err="1"/>
              <a:t>ov</a:t>
            </a:r>
            <a:r>
              <a:rPr lang="en-IN" sz="2400" dirty="0"/>
              <a:t>:%.1f , </a:t>
            </a:r>
            <a:r>
              <a:rPr lang="en-IN" sz="2400" dirty="0" err="1"/>
              <a:t>c_ov</a:t>
            </a:r>
            <a:r>
              <a:rPr lang="en-IN" sz="2400" dirty="0"/>
              <a:t>: %.1f , </a:t>
            </a:r>
            <a:r>
              <a:rPr lang="en-IN" sz="2400" dirty="0" err="1"/>
              <a:t>c_rr</a:t>
            </a:r>
            <a:r>
              <a:rPr lang="en-IN" sz="2400" dirty="0"/>
              <a:t> : %.1f, </a:t>
            </a:r>
            <a:r>
              <a:rPr lang="en-IN" sz="2400" dirty="0" err="1"/>
              <a:t>n_rr</a:t>
            </a:r>
            <a:r>
              <a:rPr lang="en-IN" sz="2400" dirty="0"/>
              <a:t> : %.1f”, </a:t>
            </a:r>
            <a:r>
              <a:rPr lang="en-IN" sz="2400" dirty="0" err="1"/>
              <a:t>ov</a:t>
            </a:r>
            <a:r>
              <a:rPr lang="en-IN" sz="2400" dirty="0"/>
              <a:t>, </a:t>
            </a:r>
            <a:r>
              <a:rPr lang="en-IN" sz="2400" dirty="0" err="1"/>
              <a:t>c_ov</a:t>
            </a:r>
            <a:r>
              <a:rPr lang="en-IN" sz="2400" dirty="0"/>
              <a:t>, </a:t>
            </a:r>
            <a:r>
              <a:rPr lang="en-IN" sz="2400" dirty="0" err="1"/>
              <a:t>c_rr</a:t>
            </a:r>
            <a:r>
              <a:rPr lang="en-IN" sz="2400" dirty="0"/>
              <a:t>, </a:t>
            </a:r>
            <a:r>
              <a:rPr lang="en-IN" sz="2400" dirty="0" err="1"/>
              <a:t>n_rr</a:t>
            </a:r>
            <a:r>
              <a:rPr lang="en-IN" sz="2400" dirty="0"/>
              <a:t>);</a:t>
            </a:r>
          </a:p>
          <a:p>
            <a:r>
              <a:rPr lang="en-IN" sz="2400" dirty="0"/>
              <a:t>If(</a:t>
            </a:r>
            <a:r>
              <a:rPr lang="en-IN" sz="2400" dirty="0" err="1"/>
              <a:t>c_rr</a:t>
            </a:r>
            <a:r>
              <a:rPr lang="en-IN" sz="2400" dirty="0"/>
              <a:t>&gt;=</a:t>
            </a:r>
            <a:r>
              <a:rPr lang="en-IN" sz="2400" dirty="0" err="1"/>
              <a:t>n_rr</a:t>
            </a:r>
            <a:r>
              <a:rPr lang="en-IN" sz="2400" dirty="0"/>
              <a:t>)</a:t>
            </a:r>
          </a:p>
          <a:p>
            <a:r>
              <a:rPr lang="en-IN" sz="2400" dirty="0"/>
              <a:t>{ </a:t>
            </a:r>
            <a:r>
              <a:rPr lang="en-IN" sz="2400" dirty="0" err="1"/>
              <a:t>printf</a:t>
            </a:r>
            <a:r>
              <a:rPr lang="en-IN" sz="2400" dirty="0"/>
              <a:t>(“</a:t>
            </a:r>
            <a:r>
              <a:rPr lang="en-IN" sz="2400" dirty="0" err="1"/>
              <a:t>elgible</a:t>
            </a:r>
            <a:r>
              <a:rPr lang="en-IN" sz="2400" dirty="0"/>
              <a:t> to win”);</a:t>
            </a:r>
          </a:p>
          <a:p>
            <a:r>
              <a:rPr lang="en-IN" sz="2400" dirty="0"/>
              <a:t>}</a:t>
            </a:r>
          </a:p>
          <a:p>
            <a:r>
              <a:rPr lang="en-IN" sz="2400" dirty="0"/>
              <a:t>else</a:t>
            </a:r>
          </a:p>
          <a:p>
            <a:r>
              <a:rPr lang="en-IN" sz="2400" dirty="0"/>
              <a:t>{</a:t>
            </a:r>
            <a:r>
              <a:rPr lang="en-IN" sz="2400" dirty="0" err="1"/>
              <a:t>printf</a:t>
            </a:r>
            <a:r>
              <a:rPr lang="en-IN" sz="2400" dirty="0"/>
              <a:t>(“ not </a:t>
            </a:r>
            <a:r>
              <a:rPr lang="en-IN" sz="2400" dirty="0" err="1"/>
              <a:t>elgible</a:t>
            </a:r>
            <a:r>
              <a:rPr lang="en-IN" sz="2400" dirty="0"/>
              <a:t> to win”);</a:t>
            </a:r>
          </a:p>
          <a:p>
            <a:r>
              <a:rPr lang="en-IN" sz="2400" dirty="0"/>
              <a:t>}</a:t>
            </a:r>
          </a:p>
          <a:p>
            <a:endParaRPr lang="en-IN" sz="2400" dirty="0"/>
          </a:p>
        </p:txBody>
      </p:sp>
    </p:spTree>
    <p:extLst>
      <p:ext uri="{BB962C8B-B14F-4D97-AF65-F5344CB8AC3E}">
        <p14:creationId xmlns:p14="http://schemas.microsoft.com/office/powerpoint/2010/main" val="735303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FEF444-288C-46D1-9DA5-C3D9A63F1662}"/>
              </a:ext>
            </a:extLst>
          </p:cNvPr>
          <p:cNvSpPr txBox="1"/>
          <p:nvPr/>
        </p:nvSpPr>
        <p:spPr>
          <a:xfrm>
            <a:off x="546651" y="675861"/>
            <a:ext cx="11102009" cy="830997"/>
          </a:xfrm>
          <a:prstGeom prst="rect">
            <a:avLst/>
          </a:prstGeom>
          <a:noFill/>
        </p:spPr>
        <p:txBody>
          <a:bodyPr wrap="square">
            <a:spAutoFit/>
          </a:bodyPr>
          <a:lstStyle/>
          <a:p>
            <a:endParaRPr lang="en-US" sz="2400" dirty="0"/>
          </a:p>
          <a:p>
            <a:endParaRPr lang="en-IN" sz="2400" dirty="0"/>
          </a:p>
        </p:txBody>
      </p:sp>
      <p:sp>
        <p:nvSpPr>
          <p:cNvPr id="6" name="TextBox 5">
            <a:extLst>
              <a:ext uri="{FF2B5EF4-FFF2-40B4-BE49-F238E27FC236}">
                <a16:creationId xmlns:a16="http://schemas.microsoft.com/office/drawing/2014/main" id="{BC25BD8F-5892-4B8D-A2C1-1E9FA3A7213E}"/>
              </a:ext>
            </a:extLst>
          </p:cNvPr>
          <p:cNvSpPr txBox="1"/>
          <p:nvPr/>
        </p:nvSpPr>
        <p:spPr>
          <a:xfrm>
            <a:off x="705679" y="274290"/>
            <a:ext cx="7841973" cy="5940088"/>
          </a:xfrm>
          <a:prstGeom prst="rect">
            <a:avLst/>
          </a:prstGeom>
          <a:noFill/>
        </p:spPr>
        <p:txBody>
          <a:bodyPr wrap="square" rtlCol="0">
            <a:spAutoFit/>
          </a:bodyPr>
          <a:lstStyle/>
          <a:p>
            <a:r>
              <a:rPr lang="en-IN" sz="4400" dirty="0"/>
              <a:t>N=5</a:t>
            </a:r>
          </a:p>
          <a:p>
            <a:endParaRPr lang="en-IN" sz="4400" dirty="0"/>
          </a:p>
          <a:p>
            <a:r>
              <a:rPr lang="en-IN" sz="2800" dirty="0"/>
              <a:t>*****</a:t>
            </a:r>
          </a:p>
          <a:p>
            <a:r>
              <a:rPr lang="en-IN" sz="2800" dirty="0"/>
              <a:t>*       *</a:t>
            </a:r>
          </a:p>
          <a:p>
            <a:r>
              <a:rPr lang="en-IN" sz="2800" dirty="0"/>
              <a:t>*       *</a:t>
            </a:r>
            <a:br>
              <a:rPr lang="en-IN" sz="2800" dirty="0"/>
            </a:br>
            <a:r>
              <a:rPr lang="en-IN" sz="2800" dirty="0"/>
              <a:t>*       *</a:t>
            </a:r>
          </a:p>
          <a:p>
            <a:r>
              <a:rPr lang="en-IN" sz="2800" dirty="0"/>
              <a:t>*****</a:t>
            </a:r>
          </a:p>
          <a:p>
            <a:r>
              <a:rPr lang="en-IN" sz="4400" dirty="0"/>
              <a:t>N=3</a:t>
            </a:r>
          </a:p>
          <a:p>
            <a:r>
              <a:rPr lang="en-IN" sz="3600" dirty="0"/>
              <a:t>***</a:t>
            </a:r>
          </a:p>
          <a:p>
            <a:r>
              <a:rPr lang="en-IN" sz="3600" dirty="0"/>
              <a:t>*  *</a:t>
            </a:r>
          </a:p>
          <a:p>
            <a:r>
              <a:rPr lang="en-IN" sz="3600" dirty="0"/>
              <a:t>***</a:t>
            </a:r>
          </a:p>
        </p:txBody>
      </p:sp>
    </p:spTree>
    <p:extLst>
      <p:ext uri="{BB962C8B-B14F-4D97-AF65-F5344CB8AC3E}">
        <p14:creationId xmlns:p14="http://schemas.microsoft.com/office/powerpoint/2010/main" val="1361860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5F588E-46B5-41D3-A4F5-ED37540023B9}"/>
              </a:ext>
            </a:extLst>
          </p:cNvPr>
          <p:cNvSpPr txBox="1"/>
          <p:nvPr/>
        </p:nvSpPr>
        <p:spPr>
          <a:xfrm>
            <a:off x="347869" y="337931"/>
            <a:ext cx="6589643" cy="6001643"/>
          </a:xfrm>
          <a:prstGeom prst="rect">
            <a:avLst/>
          </a:prstGeom>
          <a:noFill/>
        </p:spPr>
        <p:txBody>
          <a:bodyPr wrap="square" rtlCol="0">
            <a:spAutoFit/>
          </a:bodyPr>
          <a:lstStyle/>
          <a:p>
            <a:r>
              <a:rPr lang="en-IN" sz="2400" dirty="0"/>
              <a:t>char </a:t>
            </a:r>
            <a:r>
              <a:rPr lang="en-IN" sz="2400" dirty="0" err="1"/>
              <a:t>ch</a:t>
            </a:r>
            <a:r>
              <a:rPr lang="en-IN" sz="2400" dirty="0"/>
              <a:t>;</a:t>
            </a:r>
          </a:p>
          <a:p>
            <a:r>
              <a:rPr lang="en-IN" sz="2400" dirty="0" err="1"/>
              <a:t>scanf</a:t>
            </a:r>
            <a:r>
              <a:rPr lang="en-IN" sz="2400" dirty="0"/>
              <a:t>(“%c”,&amp;</a:t>
            </a:r>
            <a:r>
              <a:rPr lang="en-IN" sz="2400" dirty="0" err="1"/>
              <a:t>ch</a:t>
            </a:r>
            <a:r>
              <a:rPr lang="en-IN" sz="2400" dirty="0"/>
              <a:t>);</a:t>
            </a:r>
          </a:p>
          <a:p>
            <a:r>
              <a:rPr lang="en-IN" sz="2400" dirty="0"/>
              <a:t> if((int)</a:t>
            </a:r>
            <a:r>
              <a:rPr lang="en-IN" sz="2400" dirty="0" err="1"/>
              <a:t>ch</a:t>
            </a:r>
            <a:r>
              <a:rPr lang="en-IN" sz="2400" dirty="0"/>
              <a:t>&gt;=65 &amp;&amp; (int)</a:t>
            </a:r>
            <a:r>
              <a:rPr lang="en-IN" sz="2400" dirty="0" err="1"/>
              <a:t>ch</a:t>
            </a:r>
            <a:r>
              <a:rPr lang="en-IN" sz="2400" dirty="0"/>
              <a:t>&lt;=90)</a:t>
            </a:r>
          </a:p>
          <a:p>
            <a:r>
              <a:rPr lang="en-IN" sz="2400" dirty="0"/>
              <a:t>{</a:t>
            </a:r>
          </a:p>
          <a:p>
            <a:r>
              <a:rPr lang="en-IN" sz="2400" dirty="0"/>
              <a:t>for( int </a:t>
            </a:r>
            <a:r>
              <a:rPr lang="en-IN" sz="2400" dirty="0" err="1"/>
              <a:t>i</a:t>
            </a:r>
            <a:r>
              <a:rPr lang="en-IN" sz="2400" dirty="0"/>
              <a:t> = (int)</a:t>
            </a:r>
            <a:r>
              <a:rPr lang="en-IN" sz="2400" dirty="0" err="1"/>
              <a:t>ch</a:t>
            </a:r>
            <a:r>
              <a:rPr lang="en-IN" sz="2400" dirty="0"/>
              <a:t>; </a:t>
            </a:r>
            <a:r>
              <a:rPr lang="en-IN" sz="2400" dirty="0" err="1"/>
              <a:t>i</a:t>
            </a:r>
            <a:r>
              <a:rPr lang="en-IN" sz="2400" dirty="0"/>
              <a:t>&lt;= 90;i++)</a:t>
            </a:r>
          </a:p>
          <a:p>
            <a:r>
              <a:rPr lang="en-IN" sz="2400" dirty="0"/>
              <a:t>	{</a:t>
            </a:r>
          </a:p>
          <a:p>
            <a:r>
              <a:rPr lang="en-IN" sz="2400" dirty="0"/>
              <a:t>		</a:t>
            </a:r>
            <a:r>
              <a:rPr lang="en-IN" sz="2400" dirty="0" err="1"/>
              <a:t>printf</a:t>
            </a:r>
            <a:r>
              <a:rPr lang="en-IN" sz="2400" dirty="0"/>
              <a:t>(“%c”,(char)</a:t>
            </a:r>
            <a:r>
              <a:rPr lang="en-IN" sz="2400" dirty="0" err="1"/>
              <a:t>i</a:t>
            </a:r>
            <a:r>
              <a:rPr lang="en-IN" sz="2400" dirty="0"/>
              <a:t>);</a:t>
            </a:r>
          </a:p>
          <a:p>
            <a:r>
              <a:rPr lang="en-IN" sz="2400" dirty="0"/>
              <a:t>	}</a:t>
            </a:r>
          </a:p>
          <a:p>
            <a:r>
              <a:rPr lang="en-IN" sz="2400" dirty="0"/>
              <a:t>}</a:t>
            </a:r>
          </a:p>
          <a:p>
            <a:r>
              <a:rPr lang="en-IN" sz="2400" dirty="0"/>
              <a:t>else if((int)</a:t>
            </a:r>
            <a:r>
              <a:rPr lang="en-IN" sz="2400" dirty="0" err="1"/>
              <a:t>ch</a:t>
            </a:r>
            <a:r>
              <a:rPr lang="en-IN" sz="2400" dirty="0"/>
              <a:t>&gt;=97 &amp;&amp; (int)</a:t>
            </a:r>
            <a:r>
              <a:rPr lang="en-IN" sz="2400" dirty="0" err="1"/>
              <a:t>ch</a:t>
            </a:r>
            <a:r>
              <a:rPr lang="en-IN" sz="2400" dirty="0"/>
              <a:t>&lt;=122)</a:t>
            </a:r>
          </a:p>
          <a:p>
            <a:r>
              <a:rPr lang="en-IN" sz="2400" dirty="0"/>
              <a:t>{</a:t>
            </a:r>
          </a:p>
          <a:p>
            <a:r>
              <a:rPr lang="en-IN" sz="2400" dirty="0"/>
              <a:t>	for( int </a:t>
            </a:r>
            <a:r>
              <a:rPr lang="en-IN" sz="2400" dirty="0" err="1"/>
              <a:t>i</a:t>
            </a:r>
            <a:r>
              <a:rPr lang="en-IN" sz="2400" dirty="0"/>
              <a:t> = (int)</a:t>
            </a:r>
            <a:r>
              <a:rPr lang="en-IN" sz="2400" dirty="0" err="1"/>
              <a:t>ch</a:t>
            </a:r>
            <a:r>
              <a:rPr lang="en-IN" sz="2400" dirty="0"/>
              <a:t>; </a:t>
            </a:r>
            <a:r>
              <a:rPr lang="en-IN" sz="2400" dirty="0" err="1"/>
              <a:t>i</a:t>
            </a:r>
            <a:r>
              <a:rPr lang="en-IN" sz="2400" dirty="0"/>
              <a:t>&lt;= 122;i++)</a:t>
            </a:r>
          </a:p>
          <a:p>
            <a:r>
              <a:rPr lang="en-IN" sz="2400" dirty="0"/>
              <a:t>	{</a:t>
            </a:r>
          </a:p>
          <a:p>
            <a:r>
              <a:rPr lang="en-IN" sz="2400" dirty="0"/>
              <a:t>		</a:t>
            </a:r>
            <a:r>
              <a:rPr lang="en-IN" sz="2400" dirty="0" err="1"/>
              <a:t>printf</a:t>
            </a:r>
            <a:r>
              <a:rPr lang="en-IN" sz="2400" dirty="0"/>
              <a:t>(“%c”,(char)</a:t>
            </a:r>
            <a:r>
              <a:rPr lang="en-IN" sz="2400" dirty="0" err="1"/>
              <a:t>i</a:t>
            </a:r>
            <a:r>
              <a:rPr lang="en-IN" sz="2400" dirty="0"/>
              <a:t>);</a:t>
            </a:r>
          </a:p>
          <a:p>
            <a:r>
              <a:rPr lang="en-IN" sz="2400" dirty="0"/>
              <a:t>	}</a:t>
            </a:r>
          </a:p>
          <a:p>
            <a:r>
              <a:rPr lang="en-IN" sz="2400" dirty="0"/>
              <a:t>}</a:t>
            </a:r>
          </a:p>
        </p:txBody>
      </p:sp>
    </p:spTree>
    <p:extLst>
      <p:ext uri="{BB962C8B-B14F-4D97-AF65-F5344CB8AC3E}">
        <p14:creationId xmlns:p14="http://schemas.microsoft.com/office/powerpoint/2010/main" val="1801590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CF0E35-5E53-4421-BDCC-986F96F41FB8}"/>
              </a:ext>
            </a:extLst>
          </p:cNvPr>
          <p:cNvSpPr txBox="1"/>
          <p:nvPr/>
        </p:nvSpPr>
        <p:spPr>
          <a:xfrm>
            <a:off x="417444" y="0"/>
            <a:ext cx="7752522" cy="6370975"/>
          </a:xfrm>
          <a:prstGeom prst="rect">
            <a:avLst/>
          </a:prstGeom>
          <a:noFill/>
        </p:spPr>
        <p:txBody>
          <a:bodyPr wrap="square" rtlCol="0">
            <a:spAutoFit/>
          </a:bodyPr>
          <a:lstStyle/>
          <a:p>
            <a:r>
              <a:rPr lang="en-IN" sz="2400" dirty="0"/>
              <a:t>Char </a:t>
            </a:r>
            <a:r>
              <a:rPr lang="en-IN" sz="2400" dirty="0" err="1"/>
              <a:t>ch</a:t>
            </a:r>
            <a:r>
              <a:rPr lang="en-IN" sz="2400" dirty="0"/>
              <a:t>;</a:t>
            </a:r>
          </a:p>
          <a:p>
            <a:r>
              <a:rPr lang="en-IN" sz="2400" dirty="0" err="1"/>
              <a:t>scanf</a:t>
            </a:r>
            <a:r>
              <a:rPr lang="en-IN" sz="2400" dirty="0"/>
              <a:t>(“%c”,&amp;</a:t>
            </a:r>
            <a:r>
              <a:rPr lang="en-IN" sz="2400" dirty="0" err="1"/>
              <a:t>ch</a:t>
            </a:r>
            <a:r>
              <a:rPr lang="en-IN" sz="2400" dirty="0"/>
              <a:t>);</a:t>
            </a:r>
          </a:p>
          <a:p>
            <a:endParaRPr lang="en-IN" sz="2400" dirty="0"/>
          </a:p>
          <a:p>
            <a:r>
              <a:rPr lang="en-IN" sz="2400" dirty="0"/>
              <a:t>If(</a:t>
            </a:r>
            <a:r>
              <a:rPr lang="en-IN" sz="2400" dirty="0" err="1"/>
              <a:t>ch</a:t>
            </a:r>
            <a:r>
              <a:rPr lang="en-IN" sz="2400" dirty="0"/>
              <a:t>&gt;=‘a’ &amp;&amp; </a:t>
            </a:r>
            <a:r>
              <a:rPr lang="en-IN" sz="2400" dirty="0" err="1"/>
              <a:t>ch</a:t>
            </a:r>
            <a:r>
              <a:rPr lang="en-IN" sz="2400" dirty="0"/>
              <a:t>&lt;=‘z’)</a:t>
            </a:r>
          </a:p>
          <a:p>
            <a:r>
              <a:rPr lang="en-IN" sz="2400" dirty="0"/>
              <a:t>{</a:t>
            </a:r>
          </a:p>
          <a:p>
            <a:r>
              <a:rPr lang="en-IN" sz="2400" dirty="0"/>
              <a:t>	for( char I = </a:t>
            </a:r>
            <a:r>
              <a:rPr lang="en-IN" sz="2400" dirty="0" err="1"/>
              <a:t>ch</a:t>
            </a:r>
            <a:r>
              <a:rPr lang="en-IN" sz="2400" dirty="0"/>
              <a:t>; </a:t>
            </a:r>
            <a:r>
              <a:rPr lang="en-IN" sz="2400" dirty="0" err="1"/>
              <a:t>i</a:t>
            </a:r>
            <a:r>
              <a:rPr lang="en-IN" sz="2400" dirty="0"/>
              <a:t>&lt;=‘z’;i++)</a:t>
            </a:r>
          </a:p>
          <a:p>
            <a:r>
              <a:rPr lang="en-IN" sz="2400" dirty="0"/>
              <a:t>	{</a:t>
            </a:r>
          </a:p>
          <a:p>
            <a:r>
              <a:rPr lang="en-IN" sz="2400" dirty="0"/>
              <a:t>		</a:t>
            </a:r>
            <a:r>
              <a:rPr lang="en-IN" sz="2400" dirty="0" err="1"/>
              <a:t>printf</a:t>
            </a:r>
            <a:r>
              <a:rPr lang="en-IN" sz="2400" dirty="0"/>
              <a:t>(“%c”, </a:t>
            </a:r>
            <a:r>
              <a:rPr lang="en-IN" sz="2400" dirty="0" err="1"/>
              <a:t>i</a:t>
            </a:r>
            <a:r>
              <a:rPr lang="en-IN" sz="2400" dirty="0"/>
              <a:t>);</a:t>
            </a:r>
          </a:p>
          <a:p>
            <a:r>
              <a:rPr lang="en-IN" sz="2400" dirty="0"/>
              <a:t>	} </a:t>
            </a:r>
          </a:p>
          <a:p>
            <a:r>
              <a:rPr lang="en-IN" sz="2400" dirty="0"/>
              <a:t>}</a:t>
            </a:r>
          </a:p>
          <a:p>
            <a:r>
              <a:rPr lang="en-IN" sz="2400" dirty="0"/>
              <a:t>else if ( </a:t>
            </a:r>
            <a:r>
              <a:rPr lang="en-IN" sz="2400" dirty="0" err="1"/>
              <a:t>ch</a:t>
            </a:r>
            <a:r>
              <a:rPr lang="en-IN" sz="2400" dirty="0"/>
              <a:t>&gt;=‘A’ &amp;&amp; </a:t>
            </a:r>
            <a:r>
              <a:rPr lang="en-IN" sz="2400" dirty="0" err="1"/>
              <a:t>ch</a:t>
            </a:r>
            <a:r>
              <a:rPr lang="en-IN" sz="2400" dirty="0"/>
              <a:t>&lt;=‘Z’)</a:t>
            </a:r>
          </a:p>
          <a:p>
            <a:r>
              <a:rPr lang="en-IN" sz="2400" dirty="0"/>
              <a:t>{</a:t>
            </a:r>
          </a:p>
          <a:p>
            <a:r>
              <a:rPr lang="en-IN" sz="2400" dirty="0"/>
              <a:t>	for( char I = </a:t>
            </a:r>
            <a:r>
              <a:rPr lang="en-IN" sz="2400" dirty="0" err="1"/>
              <a:t>ch</a:t>
            </a:r>
            <a:r>
              <a:rPr lang="en-IN" sz="2400" dirty="0"/>
              <a:t>; </a:t>
            </a:r>
            <a:r>
              <a:rPr lang="en-IN" sz="2400" dirty="0" err="1"/>
              <a:t>i</a:t>
            </a:r>
            <a:r>
              <a:rPr lang="en-IN" sz="2400" dirty="0"/>
              <a:t>&lt;=‘Z’;</a:t>
            </a:r>
            <a:r>
              <a:rPr lang="en-IN" sz="2400" dirty="0" err="1"/>
              <a:t>i</a:t>
            </a:r>
            <a:r>
              <a:rPr lang="en-IN" sz="2400" dirty="0"/>
              <a:t>++)</a:t>
            </a:r>
          </a:p>
          <a:p>
            <a:r>
              <a:rPr lang="en-IN" sz="2400" dirty="0"/>
              <a:t>	{</a:t>
            </a:r>
          </a:p>
          <a:p>
            <a:r>
              <a:rPr lang="en-IN" sz="2400" dirty="0"/>
              <a:t>		</a:t>
            </a:r>
            <a:r>
              <a:rPr lang="en-IN" sz="2400" dirty="0" err="1"/>
              <a:t>printf</a:t>
            </a:r>
            <a:r>
              <a:rPr lang="en-IN" sz="2400" dirty="0"/>
              <a:t>(“%c”, </a:t>
            </a:r>
            <a:r>
              <a:rPr lang="en-IN" sz="2400" dirty="0" err="1"/>
              <a:t>i</a:t>
            </a:r>
            <a:r>
              <a:rPr lang="en-IN" sz="2400" dirty="0"/>
              <a:t>);</a:t>
            </a:r>
          </a:p>
          <a:p>
            <a:r>
              <a:rPr lang="en-IN" sz="2400" dirty="0"/>
              <a:t>	} </a:t>
            </a:r>
          </a:p>
          <a:p>
            <a:r>
              <a:rPr lang="en-IN" sz="2400" dirty="0"/>
              <a:t>}</a:t>
            </a:r>
          </a:p>
        </p:txBody>
      </p:sp>
    </p:spTree>
    <p:extLst>
      <p:ext uri="{BB962C8B-B14F-4D97-AF65-F5344CB8AC3E}">
        <p14:creationId xmlns:p14="http://schemas.microsoft.com/office/powerpoint/2010/main" val="1179298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B29A3-6DDF-4C8E-9E9C-7D8D8F4A77D5}"/>
              </a:ext>
            </a:extLst>
          </p:cNvPr>
          <p:cNvSpPr txBox="1"/>
          <p:nvPr/>
        </p:nvSpPr>
        <p:spPr>
          <a:xfrm>
            <a:off x="69574" y="297449"/>
            <a:ext cx="12122426" cy="6117124"/>
          </a:xfrm>
          <a:prstGeom prst="rect">
            <a:avLst/>
          </a:prstGeom>
          <a:noFill/>
        </p:spPr>
        <p:txBody>
          <a:bodyPr wrap="square">
            <a:spAutoFit/>
          </a:bodyPr>
          <a:lstStyle/>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The newspaper Agency</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Each Sunday, a newspaper agency sells w copies of a special edition newspaper for </a:t>
            </a:r>
            <a:r>
              <a:rPr lang="en-IN" sz="2800" dirty="0" err="1">
                <a:effectLst/>
                <a:latin typeface="Calibri" panose="020F0502020204030204" pitchFamily="34" charset="0"/>
                <a:ea typeface="Calibri" panose="020F0502020204030204" pitchFamily="34" charset="0"/>
                <a:cs typeface="Gautami" panose="020B0502040204020203" pitchFamily="34" charset="0"/>
              </a:rPr>
              <a:t>Rs.x</a:t>
            </a:r>
            <a:r>
              <a:rPr lang="en-IN" sz="2800" dirty="0">
                <a:effectLst/>
                <a:latin typeface="Calibri" panose="020F0502020204030204" pitchFamily="34" charset="0"/>
                <a:ea typeface="Calibri" panose="020F0502020204030204" pitchFamily="34" charset="0"/>
                <a:cs typeface="Gautami" panose="020B0502040204020203" pitchFamily="34" charset="0"/>
              </a:rPr>
              <a:t> per copy. The cost to the agency of each newspaper is </a:t>
            </a:r>
            <a:r>
              <a:rPr lang="en-IN" sz="2800" dirty="0" err="1">
                <a:effectLst/>
                <a:latin typeface="Calibri" panose="020F0502020204030204" pitchFamily="34" charset="0"/>
                <a:ea typeface="Calibri" panose="020F0502020204030204" pitchFamily="34" charset="0"/>
                <a:cs typeface="Gautami" panose="020B0502040204020203" pitchFamily="34" charset="0"/>
              </a:rPr>
              <a:t>Rs.y</a:t>
            </a:r>
            <a:r>
              <a:rPr lang="en-IN" sz="2800" dirty="0">
                <a:effectLst/>
                <a:latin typeface="Calibri" panose="020F0502020204030204" pitchFamily="34" charset="0"/>
                <a:ea typeface="Calibri" panose="020F0502020204030204" pitchFamily="34" charset="0"/>
                <a:cs typeface="Gautami" panose="020B0502040204020203" pitchFamily="34" charset="0"/>
              </a:rPr>
              <a:t>. The agency pays a fixed cost for storage, delivery and so on of Rs.100 per Sunday. The newspaper agency wants to calculate the profit which it obtains only on Sundays. Can you please help them out by writing a program to compute the profit if w, x, and y are given</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INPUT FORMAT:</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Input consists of 3 integers:</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w, x, and y.</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w is the number of copies sold, x is the cost per copy and y is the cost the agency spends per copy.</a:t>
            </a:r>
          </a:p>
        </p:txBody>
      </p:sp>
    </p:spTree>
    <p:extLst>
      <p:ext uri="{BB962C8B-B14F-4D97-AF65-F5344CB8AC3E}">
        <p14:creationId xmlns:p14="http://schemas.microsoft.com/office/powerpoint/2010/main" val="2022160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1F035F-740E-4AF0-A42F-5D4866703D9D}"/>
              </a:ext>
            </a:extLst>
          </p:cNvPr>
          <p:cNvSpPr txBox="1"/>
          <p:nvPr/>
        </p:nvSpPr>
        <p:spPr>
          <a:xfrm>
            <a:off x="1538079" y="702786"/>
            <a:ext cx="9235937" cy="4349524"/>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OUTPUT FORMAT: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output consists of a single integer which corresponds to the profit obtained by the newspaper agency.</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INPUT: </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1000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2</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OUTPUT: </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900</a:t>
            </a:r>
          </a:p>
        </p:txBody>
      </p:sp>
    </p:spTree>
    <p:extLst>
      <p:ext uri="{BB962C8B-B14F-4D97-AF65-F5344CB8AC3E}">
        <p14:creationId xmlns:p14="http://schemas.microsoft.com/office/powerpoint/2010/main" val="1726761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289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ED123A-BAFD-4CDE-A8AD-36843D1717A9}"/>
              </a:ext>
            </a:extLst>
          </p:cNvPr>
          <p:cNvSpPr txBox="1"/>
          <p:nvPr/>
        </p:nvSpPr>
        <p:spPr>
          <a:xfrm>
            <a:off x="69573" y="89451"/>
            <a:ext cx="12016409" cy="6772239"/>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Dept Repay</a:t>
            </a:r>
          </a:p>
          <a:p>
            <a:r>
              <a:rPr lang="en-IN" sz="2400" dirty="0">
                <a:effectLst/>
                <a:latin typeface="Calibri" panose="020F0502020204030204" pitchFamily="34" charset="0"/>
                <a:ea typeface="Calibri" panose="020F0502020204030204" pitchFamily="34" charset="0"/>
                <a:cs typeface="Gautami" panose="020B0502040204020203" pitchFamily="34" charset="0"/>
              </a:rPr>
              <a:t>Alice wanted to start a business and she was looking for a venture capitalist. Through her friend Bob, she met the owner of a construction company who is interested to invest in an emerging business. Looking at the business proposal, the owner was very much impressed with Alice's work. So he decided to invest in Alice's business and hence gave a green signal to go ahead with the project. Alice bought </a:t>
            </a:r>
            <a:r>
              <a:rPr lang="en-IN" sz="2400" dirty="0" err="1">
                <a:effectLst/>
                <a:latin typeface="Calibri" panose="020F0502020204030204" pitchFamily="34" charset="0"/>
                <a:ea typeface="Calibri" panose="020F0502020204030204" pitchFamily="34" charset="0"/>
                <a:cs typeface="Gautami" panose="020B0502040204020203" pitchFamily="34" charset="0"/>
              </a:rPr>
              <a:t>Rs.X</a:t>
            </a:r>
            <a:r>
              <a:rPr lang="en-IN" sz="2400" dirty="0">
                <a:effectLst/>
                <a:latin typeface="Calibri" panose="020F0502020204030204" pitchFamily="34" charset="0"/>
                <a:ea typeface="Calibri" panose="020F0502020204030204" pitchFamily="34" charset="0"/>
                <a:cs typeface="Gautami" panose="020B0502040204020203" pitchFamily="34" charset="0"/>
              </a:rPr>
              <a:t> for a period of Y years from the owner at R% interest per annum. Find the rate of interest and the total amount to be given by Alice to the owner. The owner impressed by proper repayment of the financed amount decides to give a special offer of 2% discount on the total interest at the end of the settlement. Find the amount given back by Alice and also find the total amount. (Note: All rupee values should be in two decimal points)</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FORMAT: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consists of 3 integers.</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first integer corresponds to the principal amount borrowed by Alice.</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second integer corresponds to the rate of interest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third integer corresponds to the number of years.</a:t>
            </a:r>
          </a:p>
          <a:p>
            <a:endParaRPr lang="en-IN" sz="2400" dirty="0"/>
          </a:p>
        </p:txBody>
      </p:sp>
    </p:spTree>
    <p:extLst>
      <p:ext uri="{BB962C8B-B14F-4D97-AF65-F5344CB8AC3E}">
        <p14:creationId xmlns:p14="http://schemas.microsoft.com/office/powerpoint/2010/main" val="3549453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72009A-9131-49AF-A8F9-71B1498A93F1}"/>
              </a:ext>
            </a:extLst>
          </p:cNvPr>
          <p:cNvSpPr txBox="1"/>
          <p:nvPr/>
        </p:nvSpPr>
        <p:spPr>
          <a:xfrm>
            <a:off x="168965" y="100877"/>
            <a:ext cx="11121887" cy="5447645"/>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OUTPUT FORMAT: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output consists of 4 floating point values.</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first value corresponds to the interest.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second corresponds to the amount.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third value corresponds to the discount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last value corresponds to the final settlement.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All floating point values are to be rounded off to two decimal places</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INPUT: </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a:t>
            </a:r>
          </a:p>
        </p:txBody>
      </p:sp>
      <p:sp>
        <p:nvSpPr>
          <p:cNvPr id="5" name="TextBox 4">
            <a:extLst>
              <a:ext uri="{FF2B5EF4-FFF2-40B4-BE49-F238E27FC236}">
                <a16:creationId xmlns:a16="http://schemas.microsoft.com/office/drawing/2014/main" id="{D602C79C-7E38-499F-AAD3-80168C0D7D77}"/>
              </a:ext>
            </a:extLst>
          </p:cNvPr>
          <p:cNvSpPr txBox="1"/>
          <p:nvPr/>
        </p:nvSpPr>
        <p:spPr>
          <a:xfrm>
            <a:off x="4967080" y="3577148"/>
            <a:ext cx="6097656" cy="2461058"/>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OUTPUT: </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110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0.20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109.8</a:t>
            </a:r>
          </a:p>
        </p:txBody>
      </p:sp>
    </p:spTree>
    <p:extLst>
      <p:ext uri="{BB962C8B-B14F-4D97-AF65-F5344CB8AC3E}">
        <p14:creationId xmlns:p14="http://schemas.microsoft.com/office/powerpoint/2010/main" val="2804194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0370B-A5E0-4F3B-9CBB-49E9F217AC18}"/>
              </a:ext>
            </a:extLst>
          </p:cNvPr>
          <p:cNvSpPr txBox="1"/>
          <p:nvPr/>
        </p:nvSpPr>
        <p:spPr>
          <a:xfrm>
            <a:off x="69574" y="238539"/>
            <a:ext cx="10197548" cy="5509200"/>
          </a:xfrm>
          <a:prstGeom prst="rect">
            <a:avLst/>
          </a:prstGeom>
          <a:noFill/>
        </p:spPr>
        <p:txBody>
          <a:bodyPr wrap="square" rtlCol="0">
            <a:spAutoFit/>
          </a:bodyPr>
          <a:lstStyle/>
          <a:p>
            <a:r>
              <a:rPr lang="en-IN" sz="3200" dirty="0"/>
              <a:t>Int main()</a:t>
            </a:r>
          </a:p>
          <a:p>
            <a:r>
              <a:rPr lang="en-IN" sz="3200" dirty="0"/>
              <a:t>{</a:t>
            </a:r>
          </a:p>
          <a:p>
            <a:r>
              <a:rPr lang="en-IN" sz="3200" dirty="0"/>
              <a:t>Float </a:t>
            </a:r>
            <a:r>
              <a:rPr lang="en-IN" sz="3200" dirty="0" err="1"/>
              <a:t>p,r,n</a:t>
            </a:r>
            <a:r>
              <a:rPr lang="en-IN" sz="3200" dirty="0"/>
              <a:t>, A,SI,DA,FA</a:t>
            </a:r>
          </a:p>
          <a:p>
            <a:r>
              <a:rPr lang="en-IN" sz="3200" dirty="0" err="1"/>
              <a:t>Scanf</a:t>
            </a:r>
            <a:r>
              <a:rPr lang="en-IN" sz="3200" dirty="0"/>
              <a:t>(“%</a:t>
            </a:r>
            <a:r>
              <a:rPr lang="en-IN" sz="3200" dirty="0" err="1"/>
              <a:t>f%f%f</a:t>
            </a:r>
            <a:r>
              <a:rPr lang="en-IN" sz="3200" dirty="0"/>
              <a:t>”, &amp;p, &amp;r, &amp;n);</a:t>
            </a:r>
          </a:p>
          <a:p>
            <a:r>
              <a:rPr lang="en-IN" sz="3200" dirty="0"/>
              <a:t>SI  = (p*r*n) /100;</a:t>
            </a:r>
          </a:p>
          <a:p>
            <a:r>
              <a:rPr lang="en-IN" sz="3200" dirty="0"/>
              <a:t>DA = 0.02* SI</a:t>
            </a:r>
          </a:p>
          <a:p>
            <a:r>
              <a:rPr lang="en-IN" sz="3200" dirty="0"/>
              <a:t>A  = p + SI</a:t>
            </a:r>
          </a:p>
          <a:p>
            <a:r>
              <a:rPr lang="en-IN" sz="3200" dirty="0"/>
              <a:t>FA = A- DA</a:t>
            </a:r>
          </a:p>
          <a:p>
            <a:endParaRPr lang="en-IN" sz="3200" dirty="0"/>
          </a:p>
          <a:p>
            <a:r>
              <a:rPr lang="en-IN" sz="3200" dirty="0" err="1"/>
              <a:t>Printf</a:t>
            </a:r>
            <a:r>
              <a:rPr lang="en-IN" sz="3200" dirty="0"/>
              <a:t>(“SI:%.2f , A : %.2f, DA: :%.2f, FA: :%.2f”, SI,A,DA,DF);</a:t>
            </a:r>
          </a:p>
          <a:p>
            <a:r>
              <a:rPr lang="en-IN" sz="3200" dirty="0"/>
              <a:t> </a:t>
            </a:r>
          </a:p>
        </p:txBody>
      </p:sp>
    </p:spTree>
    <p:extLst>
      <p:ext uri="{BB962C8B-B14F-4D97-AF65-F5344CB8AC3E}">
        <p14:creationId xmlns:p14="http://schemas.microsoft.com/office/powerpoint/2010/main" val="477388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E4B5A-902E-45E3-AE76-84ABD23747AE}"/>
              </a:ext>
            </a:extLst>
          </p:cNvPr>
          <p:cNvSpPr txBox="1"/>
          <p:nvPr/>
        </p:nvSpPr>
        <p:spPr>
          <a:xfrm>
            <a:off x="149087" y="506896"/>
            <a:ext cx="11867321" cy="4784708"/>
          </a:xfrm>
          <a:prstGeom prst="rect">
            <a:avLst/>
          </a:prstGeom>
          <a:noFill/>
        </p:spPr>
        <p:txBody>
          <a:bodyPr wrap="square">
            <a:spAutoFit/>
          </a:bodyPr>
          <a:lstStyle/>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Boating</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You went on a tour to Ooty with your friends. As a part of the tour, you went boating with them. For the boat to remain stable, the number of people on one boat is restricted based on the weight of the people. You find that the boatman who is sailing your boat is so much greedy of money. For earning more, he takes too many people to travel in the boat at a time. So you want to check how many people can travel in the boat at a time so that the boat will not drown. Calculate the weight by considering the number of adults and number of children. Assume that an adult weighs 75 kg and children weigh 30 kg each. If the weight is normal, display Boat is stable, else display Boat will drown.</a:t>
            </a:r>
          </a:p>
        </p:txBody>
      </p:sp>
    </p:spTree>
    <p:extLst>
      <p:ext uri="{BB962C8B-B14F-4D97-AF65-F5344CB8AC3E}">
        <p14:creationId xmlns:p14="http://schemas.microsoft.com/office/powerpoint/2010/main" val="4287308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1618A4-24C0-4FA5-8B81-9A9DEDC73919}"/>
              </a:ext>
            </a:extLst>
          </p:cNvPr>
          <p:cNvSpPr txBox="1"/>
          <p:nvPr/>
        </p:nvSpPr>
        <p:spPr>
          <a:xfrm>
            <a:off x="238539" y="268356"/>
            <a:ext cx="11151704" cy="6169061"/>
          </a:xfrm>
          <a:prstGeom prst="rect">
            <a:avLst/>
          </a:prstGeom>
          <a:noFill/>
        </p:spPr>
        <p:txBody>
          <a:bodyPr wrap="square">
            <a:spAutoFit/>
          </a:bodyPr>
          <a:lstStyle/>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INPUT &amp; OUTPUT FORMAT:</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Input consists of 3 integers.</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First input corresponds to the weight that the boat can handle.</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Second input corresponds to the number of adults.</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Third input corresponds to the number of children.</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SAMPLE INPUT: </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340</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2</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3</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SAMPLE OUTPUT: </a:t>
            </a:r>
          </a:p>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Boat is stable</a:t>
            </a:r>
          </a:p>
        </p:txBody>
      </p:sp>
    </p:spTree>
    <p:extLst>
      <p:ext uri="{BB962C8B-B14F-4D97-AF65-F5344CB8AC3E}">
        <p14:creationId xmlns:p14="http://schemas.microsoft.com/office/powerpoint/2010/main" val="1535806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9233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C9F9E8-7EAB-440A-926A-40E89B9F9FD3}"/>
              </a:ext>
            </a:extLst>
          </p:cNvPr>
          <p:cNvSpPr txBox="1"/>
          <p:nvPr/>
        </p:nvSpPr>
        <p:spPr>
          <a:xfrm>
            <a:off x="337929" y="268357"/>
            <a:ext cx="10803835" cy="4103046"/>
          </a:xfrm>
          <a:prstGeom prst="rect">
            <a:avLst/>
          </a:prstGeom>
          <a:noFill/>
        </p:spPr>
        <p:txBody>
          <a:bodyPr wrap="square">
            <a:spAutoFit/>
          </a:bodyPr>
          <a:lstStyle/>
          <a:p>
            <a:pPr>
              <a:lnSpc>
                <a:spcPct val="107000"/>
              </a:lnSpc>
              <a:spcAft>
                <a:spcPts val="800"/>
              </a:spcAft>
            </a:pPr>
            <a:r>
              <a:rPr lang="en-IN" sz="2800" dirty="0">
                <a:effectLst/>
                <a:latin typeface="Calibri" panose="020F0502020204030204" pitchFamily="34" charset="0"/>
                <a:ea typeface="Calibri" panose="020F0502020204030204" pitchFamily="34" charset="0"/>
                <a:cs typeface="Gautami" panose="020B0502040204020203" pitchFamily="34" charset="0"/>
              </a:rPr>
              <a:t>Electricity Bill</a:t>
            </a:r>
          </a:p>
          <a:p>
            <a:r>
              <a:rPr lang="en-IN" sz="2800" dirty="0">
                <a:effectLst/>
                <a:latin typeface="Calibri" panose="020F0502020204030204" pitchFamily="34" charset="0"/>
                <a:ea typeface="Calibri" panose="020F0502020204030204" pitchFamily="34" charset="0"/>
                <a:cs typeface="Gautami" panose="020B0502040204020203" pitchFamily="34" charset="0"/>
              </a:rPr>
              <a:t>Electricity board has decided to charge rupees based on the units consumed by a particular home. If the units consumed is less than or equal to 200, the cost for one unit is 0.5. If the unit is less than or equal to 400, the cost for one unit is 0.65 and Rs.100 extra charge. If the unit is less than or equal to 600, the cost for one unit is 0.80 and Rs.200 extra charge. If the unit is greater than 600 the cost for one unit is 1.25 and Rs.425 extra charge. You need to now calculate the electricity bill based on the units consumed (given input).</a:t>
            </a:r>
            <a:endParaRPr lang="en-IN" sz="2800" dirty="0"/>
          </a:p>
        </p:txBody>
      </p:sp>
    </p:spTree>
    <p:extLst>
      <p:ext uri="{BB962C8B-B14F-4D97-AF65-F5344CB8AC3E}">
        <p14:creationId xmlns:p14="http://schemas.microsoft.com/office/powerpoint/2010/main" val="27235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7B28DF-3C67-4713-9950-CC509B31A27F}"/>
              </a:ext>
            </a:extLst>
          </p:cNvPr>
          <p:cNvSpPr txBox="1"/>
          <p:nvPr/>
        </p:nvSpPr>
        <p:spPr>
          <a:xfrm>
            <a:off x="487017" y="387627"/>
            <a:ext cx="8659467" cy="4452116"/>
          </a:xfrm>
          <a:prstGeom prst="rect">
            <a:avLst/>
          </a:prstGeom>
          <a:noFill/>
        </p:spPr>
        <p:txBody>
          <a:bodyPr wrap="square">
            <a:spAutoFit/>
          </a:bodyPr>
          <a:lstStyle/>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&amp; OUTPUT FORMAT: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Input consists of one integer.</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This corresponds to the units consumed.</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The output consists of one integer.</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This corresponds to the electricity bill in rupees.</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INPUT: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200</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SAMPLE OUTPUT:</a:t>
            </a:r>
          </a:p>
          <a:p>
            <a:pPr>
              <a:lnSpc>
                <a:spcPct val="107000"/>
              </a:lnSpc>
              <a:spcAft>
                <a:spcPts val="800"/>
              </a:spcAft>
            </a:pPr>
            <a:r>
              <a:rPr lang="en-IN" sz="2400" dirty="0">
                <a:effectLst/>
                <a:latin typeface="Calibri" panose="020F0502020204030204" pitchFamily="34" charset="0"/>
                <a:ea typeface="Calibri" panose="020F0502020204030204" pitchFamily="34" charset="0"/>
                <a:cs typeface="Gautami" panose="020B0502040204020203" pitchFamily="34" charset="0"/>
              </a:rPr>
              <a:t>Rs.100</a:t>
            </a:r>
          </a:p>
        </p:txBody>
      </p:sp>
    </p:spTree>
    <p:extLst>
      <p:ext uri="{BB962C8B-B14F-4D97-AF65-F5344CB8AC3E}">
        <p14:creationId xmlns:p14="http://schemas.microsoft.com/office/powerpoint/2010/main" val="1731619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B7166-D1E0-4689-9235-C45C40817DEB}"/>
              </a:ext>
            </a:extLst>
          </p:cNvPr>
          <p:cNvSpPr>
            <a:spLocks noGrp="1"/>
          </p:cNvSpPr>
          <p:nvPr>
            <p:ph type="title"/>
          </p:nvPr>
        </p:nvSpPr>
        <p:spPr/>
        <p:txBody>
          <a:bodyPr/>
          <a:lstStyle/>
          <a:p>
            <a:r>
              <a:rPr lang="en-IN" dirty="0"/>
              <a:t>Puzzle's</a:t>
            </a:r>
          </a:p>
        </p:txBody>
      </p:sp>
      <p:sp>
        <p:nvSpPr>
          <p:cNvPr id="3" name="Text Placeholder 2">
            <a:extLst>
              <a:ext uri="{FF2B5EF4-FFF2-40B4-BE49-F238E27FC236}">
                <a16:creationId xmlns:a16="http://schemas.microsoft.com/office/drawing/2014/main" id="{AEBF2532-47DB-47B8-BDFB-26EFD39ED14B}"/>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00031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671CB05-F699-46C9-BABB-43E13A79F2B1}"/>
              </a:ext>
            </a:extLst>
          </p:cNvPr>
          <p:cNvSpPr txBox="1"/>
          <p:nvPr/>
        </p:nvSpPr>
        <p:spPr>
          <a:xfrm>
            <a:off x="168442" y="204537"/>
            <a:ext cx="11466095" cy="5078313"/>
          </a:xfrm>
          <a:prstGeom prst="rect">
            <a:avLst/>
          </a:prstGeom>
          <a:noFill/>
        </p:spPr>
        <p:txBody>
          <a:bodyPr wrap="square">
            <a:spAutoFit/>
          </a:bodyPr>
          <a:lstStyle/>
          <a:p>
            <a:r>
              <a:rPr lang="en-US" sz="3600" dirty="0"/>
              <a:t>In a room there is 1000 doors and each door is numbered 1 to 1000. Initially all the doors are closed. In a group of 1000 people each one of them is also numbered 1 to 1000. Person with numbered 1 goes inside the room and opened all the doors, person with numbered 2 then goes next and closed all the doors which are multiple of two. In general, </a:t>
            </a:r>
            <a:r>
              <a:rPr lang="en-US" sz="3600" dirty="0" err="1"/>
              <a:t>rth</a:t>
            </a:r>
            <a:r>
              <a:rPr lang="en-US" sz="3600" dirty="0"/>
              <a:t> person changes the state of those doors having multiple of r. All the 1000 person does the same. After this practice how many doors will be remain opened ??</a:t>
            </a:r>
            <a:endParaRPr lang="en-IN" sz="3600" dirty="0"/>
          </a:p>
        </p:txBody>
      </p:sp>
    </p:spTree>
    <p:extLst>
      <p:ext uri="{BB962C8B-B14F-4D97-AF65-F5344CB8AC3E}">
        <p14:creationId xmlns:p14="http://schemas.microsoft.com/office/powerpoint/2010/main" val="1079105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494AF5-D67D-43FE-9179-7D4A38C6C7C7}"/>
              </a:ext>
            </a:extLst>
          </p:cNvPr>
          <p:cNvSpPr txBox="1"/>
          <p:nvPr/>
        </p:nvSpPr>
        <p:spPr>
          <a:xfrm>
            <a:off x="295688" y="304943"/>
            <a:ext cx="11343034" cy="2062103"/>
          </a:xfrm>
          <a:prstGeom prst="rect">
            <a:avLst/>
          </a:prstGeom>
          <a:noFill/>
        </p:spPr>
        <p:txBody>
          <a:bodyPr wrap="square">
            <a:spAutoFit/>
          </a:bodyPr>
          <a:lstStyle/>
          <a:p>
            <a:r>
              <a:rPr lang="en-US" sz="3200" dirty="0"/>
              <a:t>How do we measure forty-five minutes using two identical wires, each of which takes an hour to burn? We have matchsticks with us. The wires burn non-uniformly. So, for example, the two halves of wire might burn in 10 minutes and 50 minutes respectively</a:t>
            </a:r>
            <a:endParaRPr lang="en-IN" sz="3200" dirty="0"/>
          </a:p>
        </p:txBody>
      </p:sp>
      <p:cxnSp>
        <p:nvCxnSpPr>
          <p:cNvPr id="3" name="Straight Connector 2">
            <a:extLst>
              <a:ext uri="{FF2B5EF4-FFF2-40B4-BE49-F238E27FC236}">
                <a16:creationId xmlns:a16="http://schemas.microsoft.com/office/drawing/2014/main" id="{31602A9D-AFBF-4186-9687-3D2C63A16658}"/>
              </a:ext>
            </a:extLst>
          </p:cNvPr>
          <p:cNvCxnSpPr/>
          <p:nvPr/>
        </p:nvCxnSpPr>
        <p:spPr>
          <a:xfrm>
            <a:off x="3031435" y="3707296"/>
            <a:ext cx="5367130" cy="0"/>
          </a:xfrm>
          <a:prstGeom prst="line">
            <a:avLst/>
          </a:prstGeom>
        </p:spPr>
        <p:style>
          <a:lnRef idx="3">
            <a:schemeClr val="dk1"/>
          </a:lnRef>
          <a:fillRef idx="0">
            <a:schemeClr val="dk1"/>
          </a:fillRef>
          <a:effectRef idx="2">
            <a:schemeClr val="dk1"/>
          </a:effectRef>
          <a:fontRef idx="minor">
            <a:schemeClr val="tx1"/>
          </a:fontRef>
        </p:style>
      </p:cxnSp>
      <p:cxnSp>
        <p:nvCxnSpPr>
          <p:cNvPr id="4" name="Straight Connector 3">
            <a:extLst>
              <a:ext uri="{FF2B5EF4-FFF2-40B4-BE49-F238E27FC236}">
                <a16:creationId xmlns:a16="http://schemas.microsoft.com/office/drawing/2014/main" id="{FD61D7FE-C1C4-4A34-8FA0-79BA41B959D2}"/>
              </a:ext>
            </a:extLst>
          </p:cNvPr>
          <p:cNvCxnSpPr/>
          <p:nvPr/>
        </p:nvCxnSpPr>
        <p:spPr>
          <a:xfrm>
            <a:off x="3124200" y="4575314"/>
            <a:ext cx="536713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18900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782D1-7003-4AB8-8693-CB9950E75A0E}"/>
              </a:ext>
            </a:extLst>
          </p:cNvPr>
          <p:cNvSpPr txBox="1"/>
          <p:nvPr/>
        </p:nvSpPr>
        <p:spPr>
          <a:xfrm>
            <a:off x="248478" y="327991"/>
            <a:ext cx="11430000" cy="5693866"/>
          </a:xfrm>
          <a:prstGeom prst="rect">
            <a:avLst/>
          </a:prstGeom>
          <a:noFill/>
        </p:spPr>
        <p:txBody>
          <a:bodyPr wrap="square">
            <a:spAutoFit/>
          </a:bodyPr>
          <a:lstStyle/>
          <a:p>
            <a:r>
              <a:rPr lang="en-US" sz="2800" dirty="0"/>
              <a:t>Puzzle: There are 4 persons (A, B, C and D) who want to cross a bridge in night.</a:t>
            </a:r>
          </a:p>
          <a:p>
            <a:endParaRPr lang="en-US" sz="2800" dirty="0"/>
          </a:p>
          <a:p>
            <a:r>
              <a:rPr lang="en-US" sz="2800" dirty="0"/>
              <a:t>A takes 1 minute to cross the bridge.</a:t>
            </a:r>
          </a:p>
          <a:p>
            <a:r>
              <a:rPr lang="en-US" sz="2800" dirty="0"/>
              <a:t>B takes 2 minutes to cross the bridge.</a:t>
            </a:r>
          </a:p>
          <a:p>
            <a:r>
              <a:rPr lang="en-US" sz="2800" dirty="0"/>
              <a:t>C takes 5 minutes to cross the bridge.</a:t>
            </a:r>
          </a:p>
          <a:p>
            <a:r>
              <a:rPr lang="en-US" sz="2800" dirty="0"/>
              <a:t>D takes 8 minutes to cross the bridge.</a:t>
            </a:r>
          </a:p>
          <a:p>
            <a:r>
              <a:rPr lang="en-US" sz="2800" dirty="0"/>
              <a:t>There is only one torch with them and the bridge cannot be crossed without the torch. There cannot be more than two persons on the bridge at any time, and when two people cross the bridge together, they must move at the slower person’s pace.</a:t>
            </a:r>
          </a:p>
          <a:p>
            <a:endParaRPr lang="en-US" sz="2800" dirty="0"/>
          </a:p>
          <a:p>
            <a:r>
              <a:rPr lang="en-US" sz="2800" dirty="0"/>
              <a:t>What will be the least possible time taken to cross the bridge?</a:t>
            </a:r>
            <a:endParaRPr lang="en-IN" sz="2800" dirty="0"/>
          </a:p>
        </p:txBody>
      </p:sp>
    </p:spTree>
    <p:extLst>
      <p:ext uri="{BB962C8B-B14F-4D97-AF65-F5344CB8AC3E}">
        <p14:creationId xmlns:p14="http://schemas.microsoft.com/office/powerpoint/2010/main" val="1319212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68856A-67C5-4511-AAB8-889BF6D65659}"/>
              </a:ext>
            </a:extLst>
          </p:cNvPr>
          <p:cNvSpPr txBox="1"/>
          <p:nvPr/>
        </p:nvSpPr>
        <p:spPr>
          <a:xfrm>
            <a:off x="626165" y="705678"/>
            <a:ext cx="10595113" cy="1384995"/>
          </a:xfrm>
          <a:prstGeom prst="rect">
            <a:avLst/>
          </a:prstGeom>
          <a:noFill/>
        </p:spPr>
        <p:txBody>
          <a:bodyPr wrap="square">
            <a:spAutoFit/>
          </a:bodyPr>
          <a:lstStyle/>
          <a:p>
            <a:r>
              <a:rPr lang="en-US" sz="2800" dirty="0"/>
              <a:t>(Hourglasses Puzzle)</a:t>
            </a:r>
          </a:p>
          <a:p>
            <a:r>
              <a:rPr lang="en-US" sz="2800" dirty="0"/>
              <a:t>Given two hourglass of 4 minutes and 7 minutes, the task is to measure 9 minutes</a:t>
            </a:r>
            <a:endParaRPr lang="en-IN" sz="2800" dirty="0"/>
          </a:p>
        </p:txBody>
      </p:sp>
    </p:spTree>
    <p:extLst>
      <p:ext uri="{BB962C8B-B14F-4D97-AF65-F5344CB8AC3E}">
        <p14:creationId xmlns:p14="http://schemas.microsoft.com/office/powerpoint/2010/main" val="3905245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4CE740-185A-4225-8714-11A136744507}"/>
              </a:ext>
            </a:extLst>
          </p:cNvPr>
          <p:cNvSpPr txBox="1"/>
          <p:nvPr/>
        </p:nvSpPr>
        <p:spPr>
          <a:xfrm>
            <a:off x="397565" y="417443"/>
            <a:ext cx="11211339" cy="2677656"/>
          </a:xfrm>
          <a:prstGeom prst="rect">
            <a:avLst/>
          </a:prstGeom>
          <a:noFill/>
        </p:spPr>
        <p:txBody>
          <a:bodyPr wrap="square">
            <a:spAutoFit/>
          </a:bodyPr>
          <a:lstStyle/>
          <a:p>
            <a:r>
              <a:rPr lang="en-US" sz="2800" b="0" i="0" dirty="0">
                <a:solidFill>
                  <a:srgbClr val="444444"/>
                </a:solidFill>
                <a:effectLst/>
                <a:latin typeface="PT Sans" panose="020B0604020202020204" pitchFamily="34" charset="0"/>
              </a:rPr>
              <a:t>Frog and Well Puzzle</a:t>
            </a:r>
          </a:p>
          <a:p>
            <a:r>
              <a:rPr lang="en-US" sz="2800" b="0" i="0" dirty="0">
                <a:solidFill>
                  <a:srgbClr val="444444"/>
                </a:solidFill>
                <a:effectLst/>
                <a:latin typeface="PT Sans" panose="020B0604020202020204" pitchFamily="34" charset="0"/>
              </a:rPr>
              <a:t>A frog is at the bottom of a 30 meter well. Each day he summons enough energy for one 3 meter leap up the well. Exhausted, he then hangs there for the rest of the day. At night, while he is asleep, he slips 2 meters backwards. How many days does it take him to escape from the well?</a:t>
            </a:r>
            <a:endParaRPr lang="en-IN" sz="2800" dirty="0"/>
          </a:p>
        </p:txBody>
      </p:sp>
    </p:spTree>
    <p:extLst>
      <p:ext uri="{BB962C8B-B14F-4D97-AF65-F5344CB8AC3E}">
        <p14:creationId xmlns:p14="http://schemas.microsoft.com/office/powerpoint/2010/main" val="11794835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57E5EC-E949-425F-9787-57E8212205EE}"/>
              </a:ext>
            </a:extLst>
          </p:cNvPr>
          <p:cNvSpPr txBox="1"/>
          <p:nvPr/>
        </p:nvSpPr>
        <p:spPr>
          <a:xfrm>
            <a:off x="228600" y="457199"/>
            <a:ext cx="11449878" cy="1815882"/>
          </a:xfrm>
          <a:prstGeom prst="rect">
            <a:avLst/>
          </a:prstGeom>
          <a:noFill/>
        </p:spPr>
        <p:txBody>
          <a:bodyPr wrap="square">
            <a:spAutoFit/>
          </a:bodyPr>
          <a:lstStyle/>
          <a:p>
            <a:r>
              <a:rPr lang="en-US" sz="2800" i="0" dirty="0">
                <a:solidFill>
                  <a:srgbClr val="282829"/>
                </a:solidFill>
                <a:effectLst/>
                <a:latin typeface="-apple-system"/>
              </a:rPr>
              <a:t>You have 10 bags of coins each with 10 coins, but only one of these bags has gold coins. The gold coin weighs 1.01 ounce and the other coins weighs 1 ounce. You also have a scale, but can only use it once. How can you identify the bag of gold coins?</a:t>
            </a:r>
            <a:endParaRPr lang="en-IN" sz="2800" dirty="0"/>
          </a:p>
        </p:txBody>
      </p:sp>
    </p:spTree>
    <p:extLst>
      <p:ext uri="{BB962C8B-B14F-4D97-AF65-F5344CB8AC3E}">
        <p14:creationId xmlns:p14="http://schemas.microsoft.com/office/powerpoint/2010/main" val="5665343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835E26-62CA-4E65-AB45-C110A1ACBD97}"/>
              </a:ext>
            </a:extLst>
          </p:cNvPr>
          <p:cNvSpPr txBox="1"/>
          <p:nvPr/>
        </p:nvSpPr>
        <p:spPr>
          <a:xfrm>
            <a:off x="308113" y="477078"/>
            <a:ext cx="11191461" cy="2677656"/>
          </a:xfrm>
          <a:prstGeom prst="rect">
            <a:avLst/>
          </a:prstGeom>
          <a:noFill/>
        </p:spPr>
        <p:txBody>
          <a:bodyPr wrap="square">
            <a:spAutoFit/>
          </a:bodyPr>
          <a:lstStyle/>
          <a:p>
            <a:r>
              <a:rPr lang="en-US" sz="2800" dirty="0"/>
              <a:t>GRY Puzzle</a:t>
            </a:r>
          </a:p>
          <a:p>
            <a:r>
              <a:rPr lang="en-US" sz="2800" dirty="0"/>
              <a:t>Think of words ending in GRY. Angry and hungry are two of them. There are only three words in the English language. What is the third word? The word is something that everyone uses every day. If you have listened carefully, I have already told you what it is.</a:t>
            </a:r>
          </a:p>
          <a:p>
            <a:endParaRPr lang="en-US" sz="2800" dirty="0"/>
          </a:p>
        </p:txBody>
      </p:sp>
    </p:spTree>
    <p:extLst>
      <p:ext uri="{BB962C8B-B14F-4D97-AF65-F5344CB8AC3E}">
        <p14:creationId xmlns:p14="http://schemas.microsoft.com/office/powerpoint/2010/main" val="3080980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04F941-85F9-4E6C-A2C2-999050EBCACA}"/>
              </a:ext>
            </a:extLst>
          </p:cNvPr>
          <p:cNvSpPr txBox="1"/>
          <p:nvPr/>
        </p:nvSpPr>
        <p:spPr>
          <a:xfrm>
            <a:off x="623679" y="740970"/>
            <a:ext cx="10726807" cy="954107"/>
          </a:xfrm>
          <a:prstGeom prst="rect">
            <a:avLst/>
          </a:prstGeom>
          <a:noFill/>
        </p:spPr>
        <p:txBody>
          <a:bodyPr wrap="square">
            <a:spAutoFit/>
          </a:bodyPr>
          <a:lstStyle/>
          <a:p>
            <a:pPr algn="l"/>
            <a:r>
              <a:rPr lang="en-US" sz="2800" dirty="0"/>
              <a:t>Puzzle:  </a:t>
            </a:r>
            <a:r>
              <a:rPr lang="en-US" sz="2800" b="0" i="0" dirty="0">
                <a:solidFill>
                  <a:srgbClr val="0C0C0C"/>
                </a:solidFill>
                <a:effectLst/>
                <a:latin typeface="Tinos"/>
              </a:rPr>
              <a:t>A birthday cake has to be equally divided into 8 equal pieces in exactly 3 cuts. Determine the way to make this division possible.</a:t>
            </a:r>
          </a:p>
        </p:txBody>
      </p:sp>
      <p:sp>
        <p:nvSpPr>
          <p:cNvPr id="7" name="TextBox 6">
            <a:extLst>
              <a:ext uri="{FF2B5EF4-FFF2-40B4-BE49-F238E27FC236}">
                <a16:creationId xmlns:a16="http://schemas.microsoft.com/office/drawing/2014/main" id="{5E5136C6-996C-4734-9E3D-D830A6DE09CF}"/>
              </a:ext>
            </a:extLst>
          </p:cNvPr>
          <p:cNvSpPr txBox="1"/>
          <p:nvPr/>
        </p:nvSpPr>
        <p:spPr>
          <a:xfrm>
            <a:off x="623678" y="1936908"/>
            <a:ext cx="11124373" cy="2677656"/>
          </a:xfrm>
          <a:prstGeom prst="rect">
            <a:avLst/>
          </a:prstGeom>
          <a:noFill/>
        </p:spPr>
        <p:txBody>
          <a:bodyPr wrap="square">
            <a:spAutoFit/>
          </a:bodyPr>
          <a:lstStyle/>
          <a:p>
            <a:r>
              <a:rPr lang="en-US" sz="2800" dirty="0"/>
              <a:t>Puzzle: You are stuck in a room with two doors- One right and one wrong. Both these doors are safeguarded by two guards, one in front of each door. The right door will lead you to your freedom and the wrong door will lead you to prison forever. However, you can ask only one question. One guard always tells the truth, and the other guard always tells lies, but you don’t know which is which. What question should you ask to find the right door?</a:t>
            </a:r>
            <a:endParaRPr lang="en-IN" sz="2800" dirty="0"/>
          </a:p>
        </p:txBody>
      </p:sp>
      <p:sp>
        <p:nvSpPr>
          <p:cNvPr id="8" name="Rectangle 7">
            <a:extLst>
              <a:ext uri="{FF2B5EF4-FFF2-40B4-BE49-F238E27FC236}">
                <a16:creationId xmlns:a16="http://schemas.microsoft.com/office/drawing/2014/main" id="{94E7C38D-CB20-40B0-97DC-E4255A42120C}"/>
              </a:ext>
            </a:extLst>
          </p:cNvPr>
          <p:cNvSpPr/>
          <p:nvPr/>
        </p:nvSpPr>
        <p:spPr>
          <a:xfrm>
            <a:off x="335443" y="1758615"/>
            <a:ext cx="11124373" cy="33407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80087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5083</TotalTime>
  <Words>3283</Words>
  <Application>Microsoft Office PowerPoint</Application>
  <PresentationFormat>Widescreen</PresentationFormat>
  <Paragraphs>279</Paragraphs>
  <Slides>49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-apple-system</vt:lpstr>
      <vt:lpstr>Calibri</vt:lpstr>
      <vt:lpstr>Calibri Light</vt:lpstr>
      <vt:lpstr>Cambria</vt:lpstr>
      <vt:lpstr>PT Sans</vt:lpstr>
      <vt:lpstr>Times New Roman</vt:lpstr>
      <vt:lpstr>Tinos</vt:lpstr>
      <vt:lpstr>Retrospect</vt:lpstr>
      <vt:lpstr>LOGIC BUILDING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Puzzle's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vijaynagamalla2607@gmail.com</dc:creator>
  <cp:lastModifiedBy>vijaynagamalla2607@gmail.com</cp:lastModifiedBy>
  <cp:revision>24</cp:revision>
  <dcterms:created xsi:type="dcterms:W3CDTF">2022-01-04T04:29:27Z</dcterms:created>
  <dcterms:modified xsi:type="dcterms:W3CDTF">2022-02-28T06:15:20Z</dcterms:modified>
</cp:coreProperties>
</file>