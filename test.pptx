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94"/>
  </p:notesMasterIdLst>
  <p:sldIdLst>
    <p:sldId id="256" r:id="rId2"/>
    <p:sldId id="313" r:id="rId3"/>
    <p:sldId id="308" r:id="rId4"/>
    <p:sldId id="314" r:id="rId5"/>
    <p:sldId id="309" r:id="rId6"/>
    <p:sldId id="315" r:id="rId7"/>
    <p:sldId id="310" r:id="rId8"/>
    <p:sldId id="257" r:id="rId9"/>
    <p:sldId id="263" r:id="rId10"/>
    <p:sldId id="264" r:id="rId11"/>
    <p:sldId id="259" r:id="rId12"/>
    <p:sldId id="265" r:id="rId13"/>
    <p:sldId id="266" r:id="rId14"/>
    <p:sldId id="260" r:id="rId15"/>
    <p:sldId id="269" r:id="rId16"/>
    <p:sldId id="270" r:id="rId17"/>
    <p:sldId id="261" r:id="rId18"/>
    <p:sldId id="267" r:id="rId19"/>
    <p:sldId id="268" r:id="rId20"/>
    <p:sldId id="271" r:id="rId21"/>
    <p:sldId id="272" r:id="rId22"/>
    <p:sldId id="273" r:id="rId23"/>
    <p:sldId id="274" r:id="rId24"/>
    <p:sldId id="276" r:id="rId25"/>
    <p:sldId id="278" r:id="rId26"/>
    <p:sldId id="275" r:id="rId27"/>
    <p:sldId id="277" r:id="rId28"/>
    <p:sldId id="279" r:id="rId29"/>
    <p:sldId id="281" r:id="rId30"/>
    <p:sldId id="282" r:id="rId31"/>
    <p:sldId id="283" r:id="rId32"/>
    <p:sldId id="284" r:id="rId33"/>
    <p:sldId id="285" r:id="rId34"/>
    <p:sldId id="295" r:id="rId35"/>
    <p:sldId id="292" r:id="rId36"/>
    <p:sldId id="326" r:id="rId37"/>
    <p:sldId id="296" r:id="rId38"/>
    <p:sldId id="297" r:id="rId39"/>
    <p:sldId id="298" r:id="rId40"/>
    <p:sldId id="299" r:id="rId41"/>
    <p:sldId id="300" r:id="rId42"/>
    <p:sldId id="311" r:id="rId43"/>
    <p:sldId id="307" r:id="rId44"/>
    <p:sldId id="301" r:id="rId45"/>
    <p:sldId id="302" r:id="rId46"/>
    <p:sldId id="303" r:id="rId47"/>
    <p:sldId id="304" r:id="rId48"/>
    <p:sldId id="305" r:id="rId49"/>
    <p:sldId id="306" r:id="rId50"/>
    <p:sldId id="312" r:id="rId51"/>
    <p:sldId id="316" r:id="rId52"/>
    <p:sldId id="320" r:id="rId53"/>
    <p:sldId id="317" r:id="rId54"/>
    <p:sldId id="318" r:id="rId55"/>
    <p:sldId id="324" r:id="rId56"/>
    <p:sldId id="319" r:id="rId57"/>
    <p:sldId id="325" r:id="rId58"/>
    <p:sldId id="323" r:id="rId59"/>
    <p:sldId id="321" r:id="rId60"/>
    <p:sldId id="322" r:id="rId61"/>
    <p:sldId id="925" r:id="rId62"/>
    <p:sldId id="926" r:id="rId63"/>
    <p:sldId id="327" r:id="rId64"/>
    <p:sldId id="328" r:id="rId65"/>
    <p:sldId id="924" r:id="rId66"/>
    <p:sldId id="921" r:id="rId67"/>
    <p:sldId id="922" r:id="rId68"/>
    <p:sldId id="923" r:id="rId69"/>
    <p:sldId id="928" r:id="rId70"/>
    <p:sldId id="929" r:id="rId71"/>
    <p:sldId id="786" r:id="rId72"/>
    <p:sldId id="932" r:id="rId73"/>
    <p:sldId id="847" r:id="rId74"/>
    <p:sldId id="933" r:id="rId75"/>
    <p:sldId id="848" r:id="rId76"/>
    <p:sldId id="849" r:id="rId77"/>
    <p:sldId id="931" r:id="rId78"/>
    <p:sldId id="927" r:id="rId79"/>
    <p:sldId id="842" r:id="rId80"/>
    <p:sldId id="934" r:id="rId81"/>
    <p:sldId id="935" r:id="rId82"/>
    <p:sldId id="937" r:id="rId83"/>
    <p:sldId id="936" r:id="rId84"/>
    <p:sldId id="294" r:id="rId85"/>
    <p:sldId id="280" r:id="rId86"/>
    <p:sldId id="286" r:id="rId87"/>
    <p:sldId id="287" r:id="rId88"/>
    <p:sldId id="288" r:id="rId89"/>
    <p:sldId id="289" r:id="rId90"/>
    <p:sldId id="290" r:id="rId91"/>
    <p:sldId id="291" r:id="rId92"/>
    <p:sldId id="293" r:id="rId9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28" autoAdjust="0"/>
    <p:restoredTop sz="93857" autoAdjust="0"/>
  </p:normalViewPr>
  <p:slideViewPr>
    <p:cSldViewPr snapToGrid="0">
      <p:cViewPr varScale="1">
        <p:scale>
          <a:sx n="47" d="100"/>
          <a:sy n="47" d="100"/>
        </p:scale>
        <p:origin x="58" y="907"/>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slide" Target="slides/slide83.xml"/><Relationship Id="rId89" Type="http://schemas.openxmlformats.org/officeDocument/2006/relationships/slide" Target="slides/slide88.xml"/><Relationship Id="rId97"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CB60CC6-CCA0-4DD2-9746-0E15A5EACE60}" type="datetimeFigureOut">
              <a:rPr lang="en-IN" smtClean="0"/>
              <a:t>15-03-2022</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4130D0-B3F8-408F-AABD-DB0516417E09}" type="slidenum">
              <a:rPr lang="en-IN" smtClean="0"/>
              <a:t>‹#›</a:t>
            </a:fld>
            <a:endParaRPr lang="en-IN"/>
          </a:p>
        </p:txBody>
      </p:sp>
    </p:spTree>
    <p:extLst>
      <p:ext uri="{BB962C8B-B14F-4D97-AF65-F5344CB8AC3E}">
        <p14:creationId xmlns:p14="http://schemas.microsoft.com/office/powerpoint/2010/main" val="39614394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algn="l"/>
            <a:r>
              <a:rPr lang="en-US" b="0" i="0" dirty="0">
                <a:solidFill>
                  <a:srgbClr val="333333"/>
                </a:solidFill>
                <a:effectLst/>
                <a:latin typeface="Helvetica Neue"/>
              </a:rPr>
              <a:t>The Supervisor of the institute opened a room named </a:t>
            </a:r>
            <a:r>
              <a:rPr lang="en-US" b="0" i="0" dirty="0" err="1">
                <a:solidFill>
                  <a:srgbClr val="333333"/>
                </a:solidFill>
                <a:effectLst/>
                <a:latin typeface="Helvetica Neue"/>
              </a:rPr>
              <a:t>Biswachakra</a:t>
            </a:r>
            <a:r>
              <a:rPr lang="en-US" b="0" i="0" dirty="0">
                <a:solidFill>
                  <a:srgbClr val="333333"/>
                </a:solidFill>
                <a:effectLst/>
                <a:latin typeface="Helvetica Neue"/>
              </a:rPr>
              <a:t> and found that one item was a bag.</a:t>
            </a:r>
          </a:p>
          <a:p>
            <a:pPr algn="l"/>
            <a:r>
              <a:rPr lang="en-US" b="0" i="0" dirty="0">
                <a:solidFill>
                  <a:srgbClr val="333333"/>
                </a:solidFill>
                <a:effectLst/>
                <a:latin typeface="Helvetica Neue"/>
              </a:rPr>
              <a:t>We know that there are two rooms with a bag as one of the items – </a:t>
            </a:r>
            <a:r>
              <a:rPr lang="en-US" b="0" i="0" dirty="0" err="1">
                <a:solidFill>
                  <a:srgbClr val="333333"/>
                </a:solidFill>
                <a:effectLst/>
                <a:latin typeface="Helvetica Neue"/>
              </a:rPr>
              <a:t>Biswachakra</a:t>
            </a:r>
            <a:r>
              <a:rPr lang="en-US" b="0" i="0" dirty="0">
                <a:solidFill>
                  <a:srgbClr val="333333"/>
                </a:solidFill>
                <a:effectLst/>
                <a:latin typeface="Helvetica Neue"/>
              </a:rPr>
              <a:t> (1 Bag + 1 Computer) and </a:t>
            </a:r>
            <a:r>
              <a:rPr lang="en-US" b="0" i="0" dirty="0" err="1">
                <a:solidFill>
                  <a:srgbClr val="333333"/>
                </a:solidFill>
                <a:effectLst/>
                <a:latin typeface="Helvetica Neue"/>
              </a:rPr>
              <a:t>Bagbahadur</a:t>
            </a:r>
            <a:r>
              <a:rPr lang="en-US" b="0" i="0" dirty="0">
                <a:solidFill>
                  <a:srgbClr val="333333"/>
                </a:solidFill>
                <a:effectLst/>
                <a:latin typeface="Helvetica Neue"/>
              </a:rPr>
              <a:t> (2 Bags). Since the name plate of every room is changed such that no room contains its actual name, the room named </a:t>
            </a:r>
            <a:r>
              <a:rPr lang="en-US" b="0" i="0" dirty="0" err="1">
                <a:solidFill>
                  <a:srgbClr val="333333"/>
                </a:solidFill>
                <a:effectLst/>
                <a:latin typeface="Helvetica Neue"/>
              </a:rPr>
              <a:t>Biswachakra</a:t>
            </a:r>
            <a:r>
              <a:rPr lang="en-US" b="0" i="0" dirty="0">
                <a:solidFill>
                  <a:srgbClr val="333333"/>
                </a:solidFill>
                <a:effectLst/>
                <a:latin typeface="Helvetica Neue"/>
              </a:rPr>
              <a:t> will have two bags.</a:t>
            </a:r>
          </a:p>
          <a:p>
            <a:pPr algn="l"/>
            <a:r>
              <a:rPr lang="en-US" b="0" i="0" dirty="0">
                <a:solidFill>
                  <a:srgbClr val="333333"/>
                </a:solidFill>
                <a:effectLst/>
                <a:latin typeface="Helvetica Neue"/>
              </a:rPr>
              <a:t>Hence, </a:t>
            </a:r>
            <a:r>
              <a:rPr lang="en-US" b="1" i="0" dirty="0">
                <a:solidFill>
                  <a:srgbClr val="333333"/>
                </a:solidFill>
                <a:effectLst/>
                <a:latin typeface="Helvetica Neue"/>
              </a:rPr>
              <a:t>option A</a:t>
            </a:r>
            <a:r>
              <a:rPr lang="en-US" b="0" i="0" dirty="0">
                <a:solidFill>
                  <a:srgbClr val="333333"/>
                </a:solidFill>
                <a:effectLst/>
                <a:latin typeface="Helvetica Neue"/>
              </a:rPr>
              <a:t> is the correct choice.</a:t>
            </a:r>
          </a:p>
          <a:p>
            <a:endParaRPr lang="en-IN" dirty="0"/>
          </a:p>
        </p:txBody>
      </p:sp>
      <p:sp>
        <p:nvSpPr>
          <p:cNvPr id="4" name="Slide Number Placeholder 3"/>
          <p:cNvSpPr>
            <a:spLocks noGrp="1"/>
          </p:cNvSpPr>
          <p:nvPr>
            <p:ph type="sldNum" sz="quarter" idx="5"/>
          </p:nvPr>
        </p:nvSpPr>
        <p:spPr/>
        <p:txBody>
          <a:bodyPr/>
          <a:lstStyle/>
          <a:p>
            <a:fld id="{F8646707-6BBD-41A9-B4DF-0C76A73A2D2A}" type="slidenum">
              <a:rPr lang="en-US" smtClean="0"/>
              <a:t>67</a:t>
            </a:fld>
            <a:endParaRPr lang="en-US"/>
          </a:p>
        </p:txBody>
      </p:sp>
    </p:spTree>
    <p:extLst>
      <p:ext uri="{BB962C8B-B14F-4D97-AF65-F5344CB8AC3E}">
        <p14:creationId xmlns:p14="http://schemas.microsoft.com/office/powerpoint/2010/main" val="21129449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algn="l"/>
            <a:r>
              <a:rPr lang="en-US" b="0" i="0" dirty="0">
                <a:solidFill>
                  <a:srgbClr val="333333"/>
                </a:solidFill>
                <a:effectLst/>
                <a:latin typeface="Helvetica Neue"/>
              </a:rPr>
              <a:t>Option(</a:t>
            </a:r>
            <a:r>
              <a:rPr lang="en-US" b="1" i="0" dirty="0">
                <a:solidFill>
                  <a:srgbClr val="333333"/>
                </a:solidFill>
                <a:effectLst/>
                <a:latin typeface="Helvetica Neue"/>
              </a:rPr>
              <a:t>D</a:t>
            </a:r>
            <a:r>
              <a:rPr lang="en-US" b="0" i="0" dirty="0">
                <a:solidFill>
                  <a:srgbClr val="333333"/>
                </a:solidFill>
                <a:effectLst/>
                <a:latin typeface="Helvetica Neue"/>
              </a:rPr>
              <a:t>) is correct</a:t>
            </a:r>
          </a:p>
          <a:p>
            <a:pPr algn="l"/>
            <a:r>
              <a:rPr lang="en-US" b="0" i="0" dirty="0">
                <a:solidFill>
                  <a:srgbClr val="333333"/>
                </a:solidFill>
                <a:effectLst/>
                <a:latin typeface="Helvetica Neue"/>
              </a:rPr>
              <a:t>The room named </a:t>
            </a:r>
            <a:r>
              <a:rPr lang="en-US" b="0" i="0" dirty="0" err="1">
                <a:solidFill>
                  <a:srgbClr val="333333"/>
                </a:solidFill>
                <a:effectLst/>
                <a:latin typeface="Helvetica Neue"/>
              </a:rPr>
              <a:t>Purnachandra</a:t>
            </a:r>
            <a:r>
              <a:rPr lang="en-US" b="0" i="0" dirty="0">
                <a:solidFill>
                  <a:srgbClr val="333333"/>
                </a:solidFill>
                <a:effectLst/>
                <a:latin typeface="Helvetica Neue"/>
              </a:rPr>
              <a:t> does not contain either any printer or any computer, which means that it contains two bags (i.e. it is actually room </a:t>
            </a:r>
            <a:r>
              <a:rPr lang="en-US" b="0" i="0" dirty="0" err="1">
                <a:solidFill>
                  <a:srgbClr val="333333"/>
                </a:solidFill>
                <a:effectLst/>
                <a:latin typeface="Helvetica Neue"/>
              </a:rPr>
              <a:t>Bagbahadur</a:t>
            </a:r>
            <a:r>
              <a:rPr lang="en-US" b="0" i="0" dirty="0">
                <a:solidFill>
                  <a:srgbClr val="333333"/>
                </a:solidFill>
                <a:effectLst/>
                <a:latin typeface="Helvetica Neue"/>
              </a:rPr>
              <a:t>).</a:t>
            </a:r>
          </a:p>
          <a:p>
            <a:pPr algn="l"/>
            <a:r>
              <a:rPr lang="en-US" b="0" i="0" dirty="0">
                <a:solidFill>
                  <a:srgbClr val="333333"/>
                </a:solidFill>
                <a:effectLst/>
                <a:latin typeface="Helvetica Neue"/>
              </a:rPr>
              <a:t>The room named </a:t>
            </a:r>
            <a:r>
              <a:rPr lang="en-US" b="0" i="0" dirty="0" err="1">
                <a:solidFill>
                  <a:srgbClr val="333333"/>
                </a:solidFill>
                <a:effectLst/>
                <a:latin typeface="Helvetica Neue"/>
              </a:rPr>
              <a:t>Chandrachud</a:t>
            </a:r>
            <a:r>
              <a:rPr lang="en-US" b="0" i="0" dirty="0">
                <a:solidFill>
                  <a:srgbClr val="333333"/>
                </a:solidFill>
                <a:effectLst/>
                <a:latin typeface="Helvetica Neue"/>
              </a:rPr>
              <a:t> contains one computer and one bag (i.e. it is actually room </a:t>
            </a:r>
            <a:r>
              <a:rPr lang="en-US" b="0" i="0" dirty="0" err="1">
                <a:solidFill>
                  <a:srgbClr val="333333"/>
                </a:solidFill>
                <a:effectLst/>
                <a:latin typeface="Helvetica Neue"/>
              </a:rPr>
              <a:t>Biswachakra</a:t>
            </a:r>
            <a:r>
              <a:rPr lang="en-US" b="0" i="0" dirty="0">
                <a:solidFill>
                  <a:srgbClr val="333333"/>
                </a:solidFill>
                <a:effectLst/>
                <a:latin typeface="Helvetica Neue"/>
              </a:rPr>
              <a:t>).</a:t>
            </a:r>
          </a:p>
          <a:p>
            <a:pPr algn="l"/>
            <a:r>
              <a:rPr lang="en-US" b="0" i="0" dirty="0">
                <a:solidFill>
                  <a:srgbClr val="333333"/>
                </a:solidFill>
                <a:effectLst/>
                <a:latin typeface="Helvetica Neue"/>
              </a:rPr>
              <a:t>The room named </a:t>
            </a:r>
            <a:r>
              <a:rPr lang="en-US" b="0" i="0" dirty="0" err="1">
                <a:solidFill>
                  <a:srgbClr val="333333"/>
                </a:solidFill>
                <a:effectLst/>
                <a:latin typeface="Helvetica Neue"/>
              </a:rPr>
              <a:t>Pashupatti</a:t>
            </a:r>
            <a:r>
              <a:rPr lang="en-US" b="0" i="0" dirty="0">
                <a:solidFill>
                  <a:srgbClr val="333333"/>
                </a:solidFill>
                <a:effectLst/>
                <a:latin typeface="Helvetica Neue"/>
              </a:rPr>
              <a:t> does not contain any printer, which means this room is either room </a:t>
            </a:r>
            <a:r>
              <a:rPr lang="en-US" b="0" i="0" dirty="0" err="1">
                <a:solidFill>
                  <a:srgbClr val="333333"/>
                </a:solidFill>
                <a:effectLst/>
                <a:latin typeface="Helvetica Neue"/>
              </a:rPr>
              <a:t>Chandrachud</a:t>
            </a:r>
            <a:r>
              <a:rPr lang="en-US" b="0" i="0" dirty="0">
                <a:solidFill>
                  <a:srgbClr val="333333"/>
                </a:solidFill>
                <a:effectLst/>
                <a:latin typeface="Helvetica Neue"/>
              </a:rPr>
              <a:t>, or room </a:t>
            </a:r>
            <a:r>
              <a:rPr lang="en-US" b="0" i="0" dirty="0" err="1">
                <a:solidFill>
                  <a:srgbClr val="333333"/>
                </a:solidFill>
                <a:effectLst/>
                <a:latin typeface="Helvetica Neue"/>
              </a:rPr>
              <a:t>Bagbahadur</a:t>
            </a:r>
            <a:r>
              <a:rPr lang="en-US" b="0" i="0" dirty="0">
                <a:solidFill>
                  <a:srgbClr val="333333"/>
                </a:solidFill>
                <a:effectLst/>
                <a:latin typeface="Helvetica Neue"/>
              </a:rPr>
              <a:t>, or room </a:t>
            </a:r>
            <a:r>
              <a:rPr lang="en-US" b="0" i="0" dirty="0" err="1">
                <a:solidFill>
                  <a:srgbClr val="333333"/>
                </a:solidFill>
                <a:effectLst/>
                <a:latin typeface="Helvetica Neue"/>
              </a:rPr>
              <a:t>Biswachakra</a:t>
            </a:r>
            <a:r>
              <a:rPr lang="en-US" b="0" i="0" dirty="0">
                <a:solidFill>
                  <a:srgbClr val="333333"/>
                </a:solidFill>
                <a:effectLst/>
                <a:latin typeface="Helvetica Neue"/>
              </a:rPr>
              <a:t>. However, two of these three rooms are already taken. Hence, this is actually room </a:t>
            </a:r>
            <a:r>
              <a:rPr lang="en-US" b="0" i="0" dirty="0" err="1">
                <a:solidFill>
                  <a:srgbClr val="333333"/>
                </a:solidFill>
                <a:effectLst/>
                <a:latin typeface="Helvetica Neue"/>
              </a:rPr>
              <a:t>Chandrachud</a:t>
            </a:r>
            <a:r>
              <a:rPr lang="en-US" b="0" i="0" dirty="0">
                <a:solidFill>
                  <a:srgbClr val="333333"/>
                </a:solidFill>
                <a:effectLst/>
                <a:latin typeface="Helvetica Neue"/>
              </a:rPr>
              <a:t> and contains two computers.</a:t>
            </a:r>
          </a:p>
          <a:p>
            <a:pPr algn="l"/>
            <a:r>
              <a:rPr lang="en-US" b="0" i="0" dirty="0">
                <a:solidFill>
                  <a:srgbClr val="333333"/>
                </a:solidFill>
                <a:effectLst/>
                <a:latin typeface="Helvetica Neue"/>
              </a:rPr>
              <a:t>The two remaining rooms are </a:t>
            </a:r>
            <a:r>
              <a:rPr lang="en-US" b="0" i="0" dirty="0" err="1">
                <a:solidFill>
                  <a:srgbClr val="333333"/>
                </a:solidFill>
                <a:effectLst/>
                <a:latin typeface="Helvetica Neue"/>
              </a:rPr>
              <a:t>Pashupatti</a:t>
            </a:r>
            <a:r>
              <a:rPr lang="en-US" b="0" i="0" dirty="0">
                <a:solidFill>
                  <a:srgbClr val="333333"/>
                </a:solidFill>
                <a:effectLst/>
                <a:latin typeface="Helvetica Neue"/>
              </a:rPr>
              <a:t> and </a:t>
            </a:r>
            <a:r>
              <a:rPr lang="en-US" b="0" i="0" dirty="0" err="1">
                <a:solidFill>
                  <a:srgbClr val="333333"/>
                </a:solidFill>
                <a:effectLst/>
                <a:latin typeface="Helvetica Neue"/>
              </a:rPr>
              <a:t>Purnachandra</a:t>
            </a:r>
            <a:r>
              <a:rPr lang="en-US" b="0" i="0" dirty="0">
                <a:solidFill>
                  <a:srgbClr val="333333"/>
                </a:solidFill>
                <a:effectLst/>
                <a:latin typeface="Helvetica Neue"/>
              </a:rPr>
              <a:t> (original name plates). Hence, one of the remaining two rooms contains two printers and the other room contains one computer and one printer. So, if only one of the remaining rooms is opened, it will have at least one printer.</a:t>
            </a:r>
          </a:p>
          <a:p>
            <a:pPr algn="l"/>
            <a:r>
              <a:rPr lang="en-US" b="0" i="0" dirty="0">
                <a:solidFill>
                  <a:srgbClr val="333333"/>
                </a:solidFill>
                <a:effectLst/>
                <a:latin typeface="Helvetica Neue"/>
              </a:rPr>
              <a:t>Hence, </a:t>
            </a:r>
            <a:r>
              <a:rPr lang="en-US" b="1" i="0" dirty="0">
                <a:solidFill>
                  <a:srgbClr val="333333"/>
                </a:solidFill>
                <a:effectLst/>
                <a:latin typeface="Helvetica Neue"/>
              </a:rPr>
              <a:t>option D</a:t>
            </a:r>
            <a:r>
              <a:rPr lang="en-US" b="0" i="0" dirty="0">
                <a:solidFill>
                  <a:srgbClr val="333333"/>
                </a:solidFill>
                <a:effectLst/>
                <a:latin typeface="Helvetica Neue"/>
              </a:rPr>
              <a:t> is the correct choice</a:t>
            </a:r>
          </a:p>
          <a:p>
            <a:endParaRPr lang="en-IN" dirty="0"/>
          </a:p>
        </p:txBody>
      </p:sp>
      <p:sp>
        <p:nvSpPr>
          <p:cNvPr id="4" name="Slide Number Placeholder 3"/>
          <p:cNvSpPr>
            <a:spLocks noGrp="1"/>
          </p:cNvSpPr>
          <p:nvPr>
            <p:ph type="sldNum" sz="quarter" idx="5"/>
          </p:nvPr>
        </p:nvSpPr>
        <p:spPr/>
        <p:txBody>
          <a:bodyPr/>
          <a:lstStyle/>
          <a:p>
            <a:fld id="{F8646707-6BBD-41A9-B4DF-0C76A73A2D2A}" type="slidenum">
              <a:rPr lang="en-US" smtClean="0"/>
              <a:t>68</a:t>
            </a:fld>
            <a:endParaRPr lang="en-US"/>
          </a:p>
        </p:txBody>
      </p:sp>
    </p:spTree>
    <p:extLst>
      <p:ext uri="{BB962C8B-B14F-4D97-AF65-F5344CB8AC3E}">
        <p14:creationId xmlns:p14="http://schemas.microsoft.com/office/powerpoint/2010/main" val="26307755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IN" dirty="0"/>
              <a:t>C</a:t>
            </a:r>
          </a:p>
          <a:p>
            <a:r>
              <a:rPr lang="en-IN" dirty="0"/>
              <a:t>Time	Family	Dish	Chinaware</a:t>
            </a:r>
          </a:p>
          <a:p>
            <a:r>
              <a:rPr lang="en-IN" dirty="0">
                <a:effectLst/>
              </a:rPr>
              <a:t>12Noon	Sharma	Sambhar	White</a:t>
            </a:r>
          </a:p>
          <a:p>
            <a:r>
              <a:rPr lang="en-IN" dirty="0">
                <a:effectLst/>
              </a:rPr>
              <a:t>1 p.m.	</a:t>
            </a:r>
            <a:r>
              <a:rPr lang="en-IN" dirty="0" err="1">
                <a:effectLst/>
              </a:rPr>
              <a:t>Pattabhiraman</a:t>
            </a:r>
            <a:r>
              <a:rPr lang="en-IN" dirty="0">
                <a:effectLst/>
              </a:rPr>
              <a:t> Fried Brinjal	Blue</a:t>
            </a:r>
          </a:p>
          <a:p>
            <a:r>
              <a:rPr lang="en-IN" dirty="0">
                <a:effectLst/>
              </a:rPr>
              <a:t>2 p.m.	</a:t>
            </a:r>
            <a:r>
              <a:rPr lang="en-IN" dirty="0" err="1">
                <a:effectLst/>
              </a:rPr>
              <a:t>Bannerjees</a:t>
            </a:r>
            <a:r>
              <a:rPr lang="en-IN" dirty="0">
                <a:effectLst/>
              </a:rPr>
              <a:t>	</a:t>
            </a:r>
            <a:r>
              <a:rPr lang="en-IN" dirty="0" err="1">
                <a:effectLst/>
              </a:rPr>
              <a:t>Makkai</a:t>
            </a:r>
            <a:r>
              <a:rPr lang="en-IN" dirty="0">
                <a:effectLst/>
              </a:rPr>
              <a:t>-</a:t>
            </a:r>
            <a:r>
              <a:rPr lang="en-IN" dirty="0" err="1">
                <a:effectLst/>
              </a:rPr>
              <a:t>ki</a:t>
            </a:r>
            <a:r>
              <a:rPr lang="en-IN" dirty="0">
                <a:effectLst/>
              </a:rPr>
              <a:t>-roti	Red</a:t>
            </a:r>
            <a:endParaRPr lang="en-IN" dirty="0"/>
          </a:p>
        </p:txBody>
      </p:sp>
      <p:sp>
        <p:nvSpPr>
          <p:cNvPr id="4" name="Slide Number Placeholder 3"/>
          <p:cNvSpPr>
            <a:spLocks noGrp="1"/>
          </p:cNvSpPr>
          <p:nvPr>
            <p:ph type="sldNum" sz="quarter" idx="5"/>
          </p:nvPr>
        </p:nvSpPr>
        <p:spPr/>
        <p:txBody>
          <a:bodyPr/>
          <a:lstStyle/>
          <a:p>
            <a:fld id="{F8646707-6BBD-41A9-B4DF-0C76A73A2D2A}" type="slidenum">
              <a:rPr lang="en-US" smtClean="0"/>
              <a:t>70</a:t>
            </a:fld>
            <a:endParaRPr lang="en-US"/>
          </a:p>
        </p:txBody>
      </p:sp>
    </p:spTree>
    <p:extLst>
      <p:ext uri="{BB962C8B-B14F-4D97-AF65-F5344CB8AC3E}">
        <p14:creationId xmlns:p14="http://schemas.microsoft.com/office/powerpoint/2010/main" val="12437163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None/>
            </a:pPr>
            <a:r>
              <a:rPr lang="en-IN" dirty="0"/>
              <a:t>7)</a:t>
            </a:r>
          </a:p>
          <a:p>
            <a:pPr marL="0" indent="0">
              <a:buNone/>
            </a:pPr>
            <a:r>
              <a:rPr lang="en-IN" dirty="0"/>
              <a:t>Position 	Box	Colour</a:t>
            </a:r>
          </a:p>
          <a:p>
            <a:pPr marL="0" indent="0">
              <a:buNone/>
            </a:pPr>
            <a:r>
              <a:rPr lang="en-IN" dirty="0"/>
              <a:t>----------------------------------------</a:t>
            </a:r>
            <a:br>
              <a:rPr lang="en-IN" dirty="0"/>
            </a:br>
            <a:r>
              <a:rPr lang="en-IN" dirty="0"/>
              <a:t>7 	H	Violet</a:t>
            </a:r>
          </a:p>
          <a:p>
            <a:pPr marL="0" indent="0">
              <a:buNone/>
            </a:pPr>
            <a:r>
              <a:rPr lang="en-IN" dirty="0"/>
              <a:t>6	M	grey</a:t>
            </a:r>
          </a:p>
          <a:p>
            <a:pPr marL="0" indent="0">
              <a:buNone/>
            </a:pPr>
            <a:r>
              <a:rPr lang="en-IN" dirty="0"/>
              <a:t>5	C	Blue</a:t>
            </a:r>
          </a:p>
          <a:p>
            <a:pPr marL="0" indent="0">
              <a:buNone/>
            </a:pPr>
            <a:r>
              <a:rPr lang="en-IN" dirty="0"/>
              <a:t>4	K	Pink</a:t>
            </a:r>
          </a:p>
          <a:p>
            <a:pPr marL="0" indent="0">
              <a:buNone/>
            </a:pPr>
            <a:r>
              <a:rPr lang="en-IN" dirty="0"/>
              <a:t>3	G	Yellow</a:t>
            </a:r>
          </a:p>
          <a:p>
            <a:pPr marL="0" indent="0">
              <a:buNone/>
            </a:pPr>
            <a:r>
              <a:rPr lang="en-IN" dirty="0"/>
              <a:t>2	A	Peach</a:t>
            </a:r>
          </a:p>
          <a:p>
            <a:pPr marL="0" indent="0">
              <a:buNone/>
            </a:pPr>
            <a:r>
              <a:rPr lang="en-IN" dirty="0"/>
              <a:t>1	D	White</a:t>
            </a:r>
          </a:p>
        </p:txBody>
      </p:sp>
      <p:sp>
        <p:nvSpPr>
          <p:cNvPr id="4" name="Slide Number Placeholder 3"/>
          <p:cNvSpPr>
            <a:spLocks noGrp="1"/>
          </p:cNvSpPr>
          <p:nvPr>
            <p:ph type="sldNum" sz="quarter" idx="5"/>
          </p:nvPr>
        </p:nvSpPr>
        <p:spPr/>
        <p:txBody>
          <a:bodyPr/>
          <a:lstStyle/>
          <a:p>
            <a:fld id="{F8646707-6BBD-41A9-B4DF-0C76A73A2D2A}" type="slidenum">
              <a:rPr lang="en-US" smtClean="0"/>
              <a:t>71</a:t>
            </a:fld>
            <a:endParaRPr lang="en-US"/>
          </a:p>
        </p:txBody>
      </p:sp>
    </p:spTree>
    <p:extLst>
      <p:ext uri="{BB962C8B-B14F-4D97-AF65-F5344CB8AC3E}">
        <p14:creationId xmlns:p14="http://schemas.microsoft.com/office/powerpoint/2010/main" val="25428701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IN" dirty="0"/>
              <a:t>7)</a:t>
            </a:r>
          </a:p>
          <a:p>
            <a:pPr marL="0" indent="0">
              <a:buNone/>
            </a:pPr>
            <a:r>
              <a:rPr lang="en-IN" dirty="0"/>
              <a:t>Position 	Box	Colour</a:t>
            </a:r>
          </a:p>
          <a:p>
            <a:pPr marL="0" indent="0">
              <a:buNone/>
            </a:pPr>
            <a:r>
              <a:rPr lang="en-IN" dirty="0"/>
              <a:t>----------------------------------------</a:t>
            </a:r>
            <a:br>
              <a:rPr lang="en-IN" dirty="0"/>
            </a:br>
            <a:r>
              <a:rPr lang="en-IN" dirty="0"/>
              <a:t>7 	H	Violet</a:t>
            </a:r>
          </a:p>
          <a:p>
            <a:pPr marL="0" indent="0">
              <a:buNone/>
            </a:pPr>
            <a:r>
              <a:rPr lang="en-IN" dirty="0"/>
              <a:t>6	M	grey</a:t>
            </a:r>
          </a:p>
          <a:p>
            <a:pPr marL="0" indent="0">
              <a:buNone/>
            </a:pPr>
            <a:r>
              <a:rPr lang="en-IN" dirty="0"/>
              <a:t>5	C	Blue</a:t>
            </a:r>
          </a:p>
          <a:p>
            <a:pPr marL="0" indent="0">
              <a:buNone/>
            </a:pPr>
            <a:r>
              <a:rPr lang="en-IN" dirty="0"/>
              <a:t>4	K	Pink</a:t>
            </a:r>
          </a:p>
          <a:p>
            <a:pPr marL="0" indent="0">
              <a:buNone/>
            </a:pPr>
            <a:r>
              <a:rPr lang="en-IN" dirty="0"/>
              <a:t>3	G	Yellow</a:t>
            </a:r>
          </a:p>
          <a:p>
            <a:pPr marL="0" indent="0">
              <a:buNone/>
            </a:pPr>
            <a:r>
              <a:rPr lang="en-IN" dirty="0"/>
              <a:t>2	A	Peach</a:t>
            </a:r>
          </a:p>
          <a:p>
            <a:pPr marL="0" indent="0">
              <a:buNone/>
            </a:pPr>
            <a:r>
              <a:rPr lang="en-IN" dirty="0"/>
              <a:t>1	D	White</a:t>
            </a:r>
          </a:p>
          <a:p>
            <a:endParaRPr lang="en-IN" dirty="0"/>
          </a:p>
        </p:txBody>
      </p:sp>
      <p:sp>
        <p:nvSpPr>
          <p:cNvPr id="4" name="Slide Number Placeholder 3"/>
          <p:cNvSpPr>
            <a:spLocks noGrp="1"/>
          </p:cNvSpPr>
          <p:nvPr>
            <p:ph type="sldNum" sz="quarter" idx="5"/>
          </p:nvPr>
        </p:nvSpPr>
        <p:spPr/>
        <p:txBody>
          <a:bodyPr/>
          <a:lstStyle/>
          <a:p>
            <a:fld id="{1A4130D0-B3F8-408F-AABD-DB0516417E09}" type="slidenum">
              <a:rPr lang="en-IN" smtClean="0"/>
              <a:t>72</a:t>
            </a:fld>
            <a:endParaRPr lang="en-IN"/>
          </a:p>
        </p:txBody>
      </p:sp>
    </p:spTree>
    <p:extLst>
      <p:ext uri="{BB962C8B-B14F-4D97-AF65-F5344CB8AC3E}">
        <p14:creationId xmlns:p14="http://schemas.microsoft.com/office/powerpoint/2010/main" val="4646341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IN" dirty="0"/>
              <a:t>D- Computer</a:t>
            </a:r>
          </a:p>
          <a:p>
            <a:endParaRPr lang="en-IN" dirty="0"/>
          </a:p>
          <a:p>
            <a:r>
              <a:rPr lang="en-IN" dirty="0"/>
              <a:t>Person 	case	Condition</a:t>
            </a:r>
          </a:p>
          <a:p>
            <a:r>
              <a:rPr lang="en-IN" dirty="0"/>
              <a:t>A	Chemistry</a:t>
            </a:r>
          </a:p>
          <a:p>
            <a:r>
              <a:rPr lang="en-IN" dirty="0"/>
              <a:t>B	Math</a:t>
            </a:r>
          </a:p>
          <a:p>
            <a:r>
              <a:rPr lang="en-IN" dirty="0"/>
              <a:t>C	English	Hindi X</a:t>
            </a:r>
          </a:p>
          <a:p>
            <a:r>
              <a:rPr lang="en-IN" dirty="0"/>
              <a:t>D	Computer	English X, Hindi X</a:t>
            </a:r>
          </a:p>
          <a:p>
            <a:r>
              <a:rPr lang="en-IN" dirty="0"/>
              <a:t>E	Sanskrit</a:t>
            </a:r>
          </a:p>
          <a:p>
            <a:r>
              <a:rPr lang="en-IN" dirty="0"/>
              <a:t>F	Hindi</a:t>
            </a:r>
          </a:p>
          <a:p>
            <a:r>
              <a:rPr lang="en-IN" dirty="0"/>
              <a:t>G	Physics	Hindi X , English X , Computer X, Math X, Biology X</a:t>
            </a:r>
          </a:p>
          <a:p>
            <a:r>
              <a:rPr lang="en-IN" dirty="0"/>
              <a:t>H	Biology	Hindi X, English X, Computer X, Math X</a:t>
            </a:r>
          </a:p>
        </p:txBody>
      </p:sp>
      <p:sp>
        <p:nvSpPr>
          <p:cNvPr id="4" name="Slide Number Placeholder 3"/>
          <p:cNvSpPr>
            <a:spLocks noGrp="1"/>
          </p:cNvSpPr>
          <p:nvPr>
            <p:ph type="sldNum" sz="quarter" idx="5"/>
          </p:nvPr>
        </p:nvSpPr>
        <p:spPr/>
        <p:txBody>
          <a:bodyPr/>
          <a:lstStyle/>
          <a:p>
            <a:fld id="{F8646707-6BBD-41A9-B4DF-0C76A73A2D2A}" type="slidenum">
              <a:rPr lang="en-US" smtClean="0"/>
              <a:t>73</a:t>
            </a:fld>
            <a:endParaRPr lang="en-US"/>
          </a:p>
        </p:txBody>
      </p:sp>
    </p:spTree>
    <p:extLst>
      <p:ext uri="{BB962C8B-B14F-4D97-AF65-F5344CB8AC3E}">
        <p14:creationId xmlns:p14="http://schemas.microsoft.com/office/powerpoint/2010/main" val="37896167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IN" dirty="0"/>
              <a:t>F Hindi</a:t>
            </a:r>
          </a:p>
          <a:p>
            <a:r>
              <a:rPr lang="en-IN" dirty="0"/>
              <a:t>Person 	case	Condition</a:t>
            </a:r>
          </a:p>
          <a:p>
            <a:r>
              <a:rPr lang="en-IN" dirty="0"/>
              <a:t>A	Chemistry</a:t>
            </a:r>
          </a:p>
          <a:p>
            <a:r>
              <a:rPr lang="en-IN" dirty="0"/>
              <a:t>B	Math</a:t>
            </a:r>
          </a:p>
          <a:p>
            <a:r>
              <a:rPr lang="en-IN" dirty="0"/>
              <a:t>C	English	Hindi X</a:t>
            </a:r>
          </a:p>
          <a:p>
            <a:r>
              <a:rPr lang="en-IN" dirty="0"/>
              <a:t>D	Computer	English X, Hindi X</a:t>
            </a:r>
          </a:p>
          <a:p>
            <a:r>
              <a:rPr lang="en-IN" dirty="0"/>
              <a:t>E	Sanskrit</a:t>
            </a:r>
          </a:p>
          <a:p>
            <a:r>
              <a:rPr lang="en-IN" dirty="0"/>
              <a:t>F	Hindi</a:t>
            </a:r>
          </a:p>
          <a:p>
            <a:r>
              <a:rPr lang="en-IN" dirty="0"/>
              <a:t>G	Physics	Hindi X , English X , Computer X, Math X, Biology X</a:t>
            </a:r>
          </a:p>
          <a:p>
            <a:r>
              <a:rPr lang="en-IN" dirty="0"/>
              <a:t>H	Biology	Hindi X, English X, Computer X, Math X</a:t>
            </a:r>
          </a:p>
          <a:p>
            <a:endParaRPr lang="en-IN" dirty="0"/>
          </a:p>
        </p:txBody>
      </p:sp>
      <p:sp>
        <p:nvSpPr>
          <p:cNvPr id="4" name="Slide Number Placeholder 3"/>
          <p:cNvSpPr>
            <a:spLocks noGrp="1"/>
          </p:cNvSpPr>
          <p:nvPr>
            <p:ph type="sldNum" sz="quarter" idx="5"/>
          </p:nvPr>
        </p:nvSpPr>
        <p:spPr/>
        <p:txBody>
          <a:bodyPr/>
          <a:lstStyle/>
          <a:p>
            <a:fld id="{F8646707-6BBD-41A9-B4DF-0C76A73A2D2A}" type="slidenum">
              <a:rPr lang="en-US" smtClean="0"/>
              <a:t>75</a:t>
            </a:fld>
            <a:endParaRPr lang="en-US"/>
          </a:p>
        </p:txBody>
      </p:sp>
    </p:spTree>
    <p:extLst>
      <p:ext uri="{BB962C8B-B14F-4D97-AF65-F5344CB8AC3E}">
        <p14:creationId xmlns:p14="http://schemas.microsoft.com/office/powerpoint/2010/main" val="18236550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IN" dirty="0"/>
              <a:t>Sanskrit</a:t>
            </a:r>
          </a:p>
          <a:p>
            <a:r>
              <a:rPr lang="en-IN" dirty="0"/>
              <a:t>Person 	case	Condition</a:t>
            </a:r>
          </a:p>
          <a:p>
            <a:r>
              <a:rPr lang="en-IN" dirty="0"/>
              <a:t>A	Chemistry</a:t>
            </a:r>
          </a:p>
          <a:p>
            <a:r>
              <a:rPr lang="en-IN" dirty="0"/>
              <a:t>B	Math</a:t>
            </a:r>
          </a:p>
          <a:p>
            <a:r>
              <a:rPr lang="en-IN" dirty="0"/>
              <a:t>C	English	Hindi X</a:t>
            </a:r>
          </a:p>
          <a:p>
            <a:r>
              <a:rPr lang="en-IN" dirty="0"/>
              <a:t>D	Computer	English X, Hindi X</a:t>
            </a:r>
          </a:p>
          <a:p>
            <a:r>
              <a:rPr lang="en-IN" dirty="0"/>
              <a:t>E	Sanskrit</a:t>
            </a:r>
          </a:p>
          <a:p>
            <a:r>
              <a:rPr lang="en-IN" dirty="0"/>
              <a:t>F	Hindi</a:t>
            </a:r>
          </a:p>
          <a:p>
            <a:r>
              <a:rPr lang="en-IN" dirty="0"/>
              <a:t>G	Physics	Hindi X , English X , Computer X, Math X, Biology X</a:t>
            </a:r>
          </a:p>
          <a:p>
            <a:r>
              <a:rPr lang="en-IN" dirty="0"/>
              <a:t>H	Biology	Hindi X, English X, Computer X, Math X</a:t>
            </a:r>
          </a:p>
          <a:p>
            <a:endParaRPr lang="en-IN" dirty="0"/>
          </a:p>
        </p:txBody>
      </p:sp>
      <p:sp>
        <p:nvSpPr>
          <p:cNvPr id="4" name="Slide Number Placeholder 3"/>
          <p:cNvSpPr>
            <a:spLocks noGrp="1"/>
          </p:cNvSpPr>
          <p:nvPr>
            <p:ph type="sldNum" sz="quarter" idx="5"/>
          </p:nvPr>
        </p:nvSpPr>
        <p:spPr/>
        <p:txBody>
          <a:bodyPr/>
          <a:lstStyle/>
          <a:p>
            <a:fld id="{F8646707-6BBD-41A9-B4DF-0C76A73A2D2A}" type="slidenum">
              <a:rPr lang="en-US" smtClean="0"/>
              <a:t>76</a:t>
            </a:fld>
            <a:endParaRPr lang="en-US"/>
          </a:p>
        </p:txBody>
      </p:sp>
    </p:spTree>
    <p:extLst>
      <p:ext uri="{BB962C8B-B14F-4D97-AF65-F5344CB8AC3E}">
        <p14:creationId xmlns:p14="http://schemas.microsoft.com/office/powerpoint/2010/main" val="41892936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algn="l"/>
            <a:r>
              <a:rPr lang="en-IN" b="1" i="0" dirty="0">
                <a:solidFill>
                  <a:srgbClr val="5EAC1A"/>
                </a:solidFill>
                <a:effectLst/>
                <a:latin typeface="arial" panose="020B0604020202020204" pitchFamily="34" charset="0"/>
              </a:rPr>
              <a:t>Answer:</a:t>
            </a:r>
            <a:r>
              <a:rPr lang="en-IN" b="0" i="0" dirty="0">
                <a:solidFill>
                  <a:srgbClr val="000000"/>
                </a:solidFill>
                <a:effectLst/>
                <a:latin typeface="arial" panose="020B0604020202020204" pitchFamily="34" charset="0"/>
              </a:rPr>
              <a:t> Option </a:t>
            </a:r>
            <a:r>
              <a:rPr lang="en-IN" b="1" i="0" dirty="0">
                <a:solidFill>
                  <a:srgbClr val="000000"/>
                </a:solidFill>
                <a:effectLst/>
                <a:latin typeface="arial" panose="020B0604020202020204" pitchFamily="34" charset="0"/>
              </a:rPr>
              <a:t>B</a:t>
            </a:r>
            <a:endParaRPr lang="en-IN" b="0" i="0" dirty="0">
              <a:solidFill>
                <a:srgbClr val="000000"/>
              </a:solidFill>
              <a:effectLst/>
              <a:latin typeface="arial" panose="020B0604020202020204" pitchFamily="34" charset="0"/>
            </a:endParaRPr>
          </a:p>
          <a:p>
            <a:pPr algn="l"/>
            <a:r>
              <a:rPr lang="en-IN" b="1" i="0" dirty="0">
                <a:solidFill>
                  <a:srgbClr val="5EAC1A"/>
                </a:solidFill>
                <a:effectLst/>
                <a:latin typeface="arial" panose="020B0604020202020204" pitchFamily="34" charset="0"/>
              </a:rPr>
              <a:t>Explanation:</a:t>
            </a:r>
            <a:endParaRPr lang="en-IN" b="0" i="0" dirty="0">
              <a:solidFill>
                <a:srgbClr val="000000"/>
              </a:solidFill>
              <a:effectLst/>
              <a:latin typeface="arial" panose="020B0604020202020204" pitchFamily="34" charset="0"/>
            </a:endParaRPr>
          </a:p>
          <a:p>
            <a:endParaRPr lang="en-IN" dirty="0"/>
          </a:p>
          <a:p>
            <a:r>
              <a:rPr lang="en-IN" dirty="0"/>
              <a:t>E B A C D</a:t>
            </a:r>
          </a:p>
          <a:p>
            <a:endParaRPr lang="en-IN" dirty="0"/>
          </a:p>
          <a:p>
            <a:r>
              <a:rPr lang="en-US" b="0" i="0" dirty="0">
                <a:solidFill>
                  <a:srgbClr val="000000"/>
                </a:solidFill>
                <a:effectLst/>
                <a:latin typeface="arial" panose="020B0604020202020204" pitchFamily="34" charset="0"/>
              </a:rPr>
              <a:t>Therefore, A is sitting in between B and C.</a:t>
            </a:r>
            <a:endParaRPr lang="en-IN" dirty="0"/>
          </a:p>
        </p:txBody>
      </p:sp>
      <p:sp>
        <p:nvSpPr>
          <p:cNvPr id="4" name="Slide Number Placeholder 3"/>
          <p:cNvSpPr>
            <a:spLocks noGrp="1"/>
          </p:cNvSpPr>
          <p:nvPr>
            <p:ph type="sldNum" sz="quarter" idx="5"/>
          </p:nvPr>
        </p:nvSpPr>
        <p:spPr/>
        <p:txBody>
          <a:bodyPr/>
          <a:lstStyle/>
          <a:p>
            <a:fld id="{F8646707-6BBD-41A9-B4DF-0C76A73A2D2A}" type="slidenum">
              <a:rPr lang="en-US" smtClean="0"/>
              <a:t>78</a:t>
            </a:fld>
            <a:endParaRPr lang="en-US"/>
          </a:p>
        </p:txBody>
      </p:sp>
    </p:spTree>
    <p:extLst>
      <p:ext uri="{BB962C8B-B14F-4D97-AF65-F5344CB8AC3E}">
        <p14:creationId xmlns:p14="http://schemas.microsoft.com/office/powerpoint/2010/main" val="24011047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IN" dirty="0"/>
              <a:t>F</a:t>
            </a:r>
          </a:p>
        </p:txBody>
      </p:sp>
      <p:sp>
        <p:nvSpPr>
          <p:cNvPr id="4" name="Slide Number Placeholder 3"/>
          <p:cNvSpPr>
            <a:spLocks noGrp="1"/>
          </p:cNvSpPr>
          <p:nvPr>
            <p:ph type="sldNum" sz="quarter" idx="5"/>
          </p:nvPr>
        </p:nvSpPr>
        <p:spPr/>
        <p:txBody>
          <a:bodyPr/>
          <a:lstStyle/>
          <a:p>
            <a:fld id="{F8646707-6BBD-41A9-B4DF-0C76A73A2D2A}" type="slidenum">
              <a:rPr lang="en-US" smtClean="0"/>
              <a:t>79</a:t>
            </a:fld>
            <a:endParaRPr lang="en-US"/>
          </a:p>
        </p:txBody>
      </p:sp>
    </p:spTree>
    <p:extLst>
      <p:ext uri="{BB962C8B-B14F-4D97-AF65-F5344CB8AC3E}">
        <p14:creationId xmlns:p14="http://schemas.microsoft.com/office/powerpoint/2010/main" val="30396206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8e5b21250e_0_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g8e5b21250e_0_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8e5b21250e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0" name="Google Shape;230;g8e5b21250e_0_1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2E2F390-CDB9-4D79-90DA-75283D595AAF}" type="datetimeFigureOut">
              <a:rPr lang="en-IN" smtClean="0"/>
              <a:t>15-03-2022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A8C4B947-5A51-47C8-AB5F-CFB55612E15E}"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03785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2E2F390-CDB9-4D79-90DA-75283D595AAF}" type="datetimeFigureOut">
              <a:rPr lang="en-IN" smtClean="0"/>
              <a:t>15-03-2022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A8C4B947-5A51-47C8-AB5F-CFB55612E15E}" type="slidenum">
              <a:rPr lang="en-IN" smtClean="0"/>
              <a:t>‹#›</a:t>
            </a:fld>
            <a:endParaRPr lang="en-IN"/>
          </a:p>
        </p:txBody>
      </p:sp>
    </p:spTree>
    <p:extLst>
      <p:ext uri="{BB962C8B-B14F-4D97-AF65-F5344CB8AC3E}">
        <p14:creationId xmlns:p14="http://schemas.microsoft.com/office/powerpoint/2010/main" val="39101713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2E2F390-CDB9-4D79-90DA-75283D595AAF}" type="datetimeFigureOut">
              <a:rPr lang="en-IN" smtClean="0"/>
              <a:t>15-03-2022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A8C4B947-5A51-47C8-AB5F-CFB55612E15E}"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460505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2E2F390-CDB9-4D79-90DA-75283D595AAF}" type="datetimeFigureOut">
              <a:rPr lang="en-IN" smtClean="0"/>
              <a:t>15-03-2022</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A8C4B947-5A51-47C8-AB5F-CFB55612E15E}" type="slidenum">
              <a:rPr lang="en-IN" smtClean="0"/>
              <a:t>‹#›</a:t>
            </a:fld>
            <a:endParaRPr lang="en-IN"/>
          </a:p>
        </p:txBody>
      </p:sp>
    </p:spTree>
    <p:extLst>
      <p:ext uri="{BB962C8B-B14F-4D97-AF65-F5344CB8AC3E}">
        <p14:creationId xmlns:p14="http://schemas.microsoft.com/office/powerpoint/2010/main" val="3777352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2E2F390-CDB9-4D79-90DA-75283D595AAF}" type="datetimeFigureOut">
              <a:rPr lang="en-IN" smtClean="0"/>
              <a:t>15-03-2022</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A8C4B947-5A51-47C8-AB5F-CFB55612E15E}" type="slidenum">
              <a:rPr lang="en-IN" smtClean="0"/>
              <a:t>‹#›</a:t>
            </a:fld>
            <a:endParaRPr lang="en-IN"/>
          </a:p>
        </p:txBody>
      </p:sp>
    </p:spTree>
    <p:extLst>
      <p:ext uri="{BB962C8B-B14F-4D97-AF65-F5344CB8AC3E}">
        <p14:creationId xmlns:p14="http://schemas.microsoft.com/office/powerpoint/2010/main" val="41438953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2E2F390-CDB9-4D79-90DA-75283D595AAF}" type="datetimeFigureOut">
              <a:rPr lang="en-IN" smtClean="0"/>
              <a:t>15-03-2022</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A8C4B947-5A51-47C8-AB5F-CFB55612E15E}" type="slidenum">
              <a:rPr lang="en-IN" smtClean="0"/>
              <a:t>‹#›</a:t>
            </a:fld>
            <a:endParaRPr lang="en-IN"/>
          </a:p>
        </p:txBody>
      </p:sp>
    </p:spTree>
    <p:extLst>
      <p:ext uri="{BB962C8B-B14F-4D97-AF65-F5344CB8AC3E}">
        <p14:creationId xmlns:p14="http://schemas.microsoft.com/office/powerpoint/2010/main" val="1202112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62E2F390-CDB9-4D79-90DA-75283D595AAF}" type="datetimeFigureOut">
              <a:rPr lang="en-IN" smtClean="0"/>
              <a:t>15-03-2022</a:t>
            </a:fld>
            <a:endParaRPr lang="en-IN"/>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IN"/>
          </a:p>
        </p:txBody>
      </p:sp>
      <p:sp>
        <p:nvSpPr>
          <p:cNvPr id="9" name="Slide Number Placeholder 8"/>
          <p:cNvSpPr>
            <a:spLocks noGrp="1"/>
          </p:cNvSpPr>
          <p:nvPr>
            <p:ph type="sldNum" sz="quarter" idx="12"/>
          </p:nvPr>
        </p:nvSpPr>
        <p:spPr/>
        <p:txBody>
          <a:bodyPr/>
          <a:lstStyle/>
          <a:p>
            <a:fld id="{A8C4B947-5A51-47C8-AB5F-CFB55612E15E}" type="slidenum">
              <a:rPr lang="en-IN" smtClean="0"/>
              <a:t>‹#›</a:t>
            </a:fld>
            <a:endParaRPr lang="en-IN"/>
          </a:p>
        </p:txBody>
      </p:sp>
    </p:spTree>
    <p:extLst>
      <p:ext uri="{BB962C8B-B14F-4D97-AF65-F5344CB8AC3E}">
        <p14:creationId xmlns:p14="http://schemas.microsoft.com/office/powerpoint/2010/main" val="17018420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62E2F390-CDB9-4D79-90DA-75283D595AAF}" type="datetimeFigureOut">
              <a:rPr lang="en-IN" smtClean="0"/>
              <a:t>15-03-2022</a:t>
            </a:fld>
            <a:endParaRPr lang="en-IN"/>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IN"/>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A8C4B947-5A51-47C8-AB5F-CFB55612E15E}" type="slidenum">
              <a:rPr lang="en-IN" smtClean="0"/>
              <a:t>‹#›</a:t>
            </a:fld>
            <a:endParaRPr lang="en-IN"/>
          </a:p>
        </p:txBody>
      </p:sp>
    </p:spTree>
    <p:extLst>
      <p:ext uri="{BB962C8B-B14F-4D97-AF65-F5344CB8AC3E}">
        <p14:creationId xmlns:p14="http://schemas.microsoft.com/office/powerpoint/2010/main" val="6828797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2E2F390-CDB9-4D79-90DA-75283D595AAF}" type="datetimeFigureOut">
              <a:rPr lang="en-IN" smtClean="0"/>
              <a:t>15-03-2022</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A8C4B947-5A51-47C8-AB5F-CFB55612E15E}" type="slidenum">
              <a:rPr lang="en-IN" smtClean="0"/>
              <a:t>‹#›</a:t>
            </a:fld>
            <a:endParaRPr lang="en-IN"/>
          </a:p>
        </p:txBody>
      </p:sp>
    </p:spTree>
    <p:extLst>
      <p:ext uri="{BB962C8B-B14F-4D97-AF65-F5344CB8AC3E}">
        <p14:creationId xmlns:p14="http://schemas.microsoft.com/office/powerpoint/2010/main" val="7749257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2E2F390-CDB9-4D79-90DA-75283D595AAF}" type="datetimeFigureOut">
              <a:rPr lang="en-IN" smtClean="0"/>
              <a:t>15-03-2022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A8C4B947-5A51-47C8-AB5F-CFB55612E15E}" type="slidenum">
              <a:rPr lang="en-IN" smtClean="0"/>
              <a:t>‹#›</a:t>
            </a:fld>
            <a:endParaRPr lang="en-IN"/>
          </a:p>
        </p:txBody>
      </p:sp>
    </p:spTree>
    <p:extLst>
      <p:ext uri="{BB962C8B-B14F-4D97-AF65-F5344CB8AC3E}">
        <p14:creationId xmlns:p14="http://schemas.microsoft.com/office/powerpoint/2010/main" val="4439485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2E2F390-CDB9-4D79-90DA-75283D595AAF}" type="datetimeFigureOut">
              <a:rPr lang="en-IN" smtClean="0"/>
              <a:t>15-03-2022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A8C4B947-5A51-47C8-AB5F-CFB55612E15E}" type="slidenum">
              <a:rPr lang="en-IN" smtClean="0"/>
              <a:t>‹#›</a:t>
            </a:fld>
            <a:endParaRPr lang="en-IN"/>
          </a:p>
        </p:txBody>
      </p:sp>
    </p:spTree>
    <p:extLst>
      <p:ext uri="{BB962C8B-B14F-4D97-AF65-F5344CB8AC3E}">
        <p14:creationId xmlns:p14="http://schemas.microsoft.com/office/powerpoint/2010/main" val="30481000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62E2F390-CDB9-4D79-90DA-75283D595AAF}" type="datetimeFigureOut">
              <a:rPr lang="en-IN" smtClean="0"/>
              <a:t>15-03-2022</a:t>
            </a:fld>
            <a:endParaRPr lang="en-IN"/>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IN"/>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A8C4B947-5A51-47C8-AB5F-CFB55612E15E}" type="slidenum">
              <a:rPr lang="en-IN" smtClean="0"/>
              <a:t>‹#›</a:t>
            </a:fld>
            <a:endParaRPr lang="en-IN"/>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382133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945E9B-C189-4D3D-A8DB-1F3FFB9BD8E1}"/>
              </a:ext>
            </a:extLst>
          </p:cNvPr>
          <p:cNvSpPr>
            <a:spLocks noGrp="1"/>
          </p:cNvSpPr>
          <p:nvPr>
            <p:ph type="ctrTitle"/>
          </p:nvPr>
        </p:nvSpPr>
        <p:spPr/>
        <p:txBody>
          <a:bodyPr/>
          <a:lstStyle/>
          <a:p>
            <a:r>
              <a:rPr lang="en-IN" dirty="0"/>
              <a:t>LOGIC BUILDING</a:t>
            </a:r>
          </a:p>
        </p:txBody>
      </p:sp>
    </p:spTree>
    <p:extLst>
      <p:ext uri="{BB962C8B-B14F-4D97-AF65-F5344CB8AC3E}">
        <p14:creationId xmlns:p14="http://schemas.microsoft.com/office/powerpoint/2010/main" val="14521543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B6DB6D62-D30F-4AF2-966B-2731C5EF5AC0}"/>
              </a:ext>
            </a:extLst>
          </p:cNvPr>
          <p:cNvSpPr/>
          <p:nvPr/>
        </p:nvSpPr>
        <p:spPr>
          <a:xfrm>
            <a:off x="1103243" y="347870"/>
            <a:ext cx="2932044" cy="124239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800" dirty="0">
                <a:ln w="0"/>
                <a:solidFill>
                  <a:schemeClr val="tx1"/>
                </a:solidFill>
                <a:effectLst>
                  <a:outerShdw blurRad="38100" dist="19050" dir="2700000" algn="tl" rotWithShape="0">
                    <a:schemeClr val="dk1">
                      <a:alpha val="40000"/>
                    </a:schemeClr>
                  </a:outerShdw>
                </a:effectLst>
              </a:rPr>
              <a:t>Start /Stop</a:t>
            </a:r>
            <a:endParaRPr lang="en-IN" sz="2800" dirty="0"/>
          </a:p>
        </p:txBody>
      </p:sp>
      <p:cxnSp>
        <p:nvCxnSpPr>
          <p:cNvPr id="5" name="Straight Arrow Connector 4">
            <a:extLst>
              <a:ext uri="{FF2B5EF4-FFF2-40B4-BE49-F238E27FC236}">
                <a16:creationId xmlns:a16="http://schemas.microsoft.com/office/drawing/2014/main" id="{A02D4549-CB7D-409A-A83B-5C2B35E6C6C3}"/>
              </a:ext>
            </a:extLst>
          </p:cNvPr>
          <p:cNvCxnSpPr>
            <a:cxnSpLocks/>
          </p:cNvCxnSpPr>
          <p:nvPr/>
        </p:nvCxnSpPr>
        <p:spPr>
          <a:xfrm>
            <a:off x="10069689" y="5108222"/>
            <a:ext cx="1103243"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 name="Straight Arrow Connector 5">
            <a:extLst>
              <a:ext uri="{FF2B5EF4-FFF2-40B4-BE49-F238E27FC236}">
                <a16:creationId xmlns:a16="http://schemas.microsoft.com/office/drawing/2014/main" id="{BB5BBB19-6BCA-46C1-B1BF-C280087F6FD8}"/>
              </a:ext>
            </a:extLst>
          </p:cNvPr>
          <p:cNvCxnSpPr>
            <a:cxnSpLocks/>
          </p:cNvCxnSpPr>
          <p:nvPr/>
        </p:nvCxnSpPr>
        <p:spPr>
          <a:xfrm flipH="1" flipV="1">
            <a:off x="2316553" y="5108222"/>
            <a:ext cx="1467678" cy="3312"/>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7" name="Straight Arrow Connector 6">
            <a:extLst>
              <a:ext uri="{FF2B5EF4-FFF2-40B4-BE49-F238E27FC236}">
                <a16:creationId xmlns:a16="http://schemas.microsoft.com/office/drawing/2014/main" id="{494B49D1-9ED0-4AAE-8678-7CB41CCACA9D}"/>
              </a:ext>
            </a:extLst>
          </p:cNvPr>
          <p:cNvCxnSpPr>
            <a:cxnSpLocks/>
          </p:cNvCxnSpPr>
          <p:nvPr/>
        </p:nvCxnSpPr>
        <p:spPr>
          <a:xfrm>
            <a:off x="1944142" y="3019011"/>
            <a:ext cx="0" cy="819978"/>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8" name="Straight Arrow Connector 7">
            <a:extLst>
              <a:ext uri="{FF2B5EF4-FFF2-40B4-BE49-F238E27FC236}">
                <a16:creationId xmlns:a16="http://schemas.microsoft.com/office/drawing/2014/main" id="{DB70A6FB-92E1-48FB-ADCF-1FFD570D7906}"/>
              </a:ext>
            </a:extLst>
          </p:cNvPr>
          <p:cNvCxnSpPr>
            <a:cxnSpLocks/>
          </p:cNvCxnSpPr>
          <p:nvPr/>
        </p:nvCxnSpPr>
        <p:spPr>
          <a:xfrm flipV="1">
            <a:off x="2232009" y="3045178"/>
            <a:ext cx="0" cy="73301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10" name="Flowchart: Data 9">
            <a:extLst>
              <a:ext uri="{FF2B5EF4-FFF2-40B4-BE49-F238E27FC236}">
                <a16:creationId xmlns:a16="http://schemas.microsoft.com/office/drawing/2014/main" id="{A5ED68FC-38E2-4D8C-92DE-6B37A9A1456F}"/>
              </a:ext>
            </a:extLst>
          </p:cNvPr>
          <p:cNvSpPr/>
          <p:nvPr/>
        </p:nvSpPr>
        <p:spPr>
          <a:xfrm>
            <a:off x="5125156" y="347870"/>
            <a:ext cx="5384800" cy="1242391"/>
          </a:xfrm>
          <a:prstGeom prst="flowChartInputOutp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3200" dirty="0"/>
              <a:t>Input &amp; Output</a:t>
            </a:r>
          </a:p>
        </p:txBody>
      </p:sp>
      <p:sp>
        <p:nvSpPr>
          <p:cNvPr id="11" name="Flowchart: Process 10">
            <a:extLst>
              <a:ext uri="{FF2B5EF4-FFF2-40B4-BE49-F238E27FC236}">
                <a16:creationId xmlns:a16="http://schemas.microsoft.com/office/drawing/2014/main" id="{89C8D1EE-9E87-4213-979B-8599D2A3060C}"/>
              </a:ext>
            </a:extLst>
          </p:cNvPr>
          <p:cNvSpPr/>
          <p:nvPr/>
        </p:nvSpPr>
        <p:spPr>
          <a:xfrm>
            <a:off x="5125156" y="2280356"/>
            <a:ext cx="5508976" cy="1388527"/>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3200" dirty="0"/>
              <a:t>Executable block</a:t>
            </a:r>
          </a:p>
        </p:txBody>
      </p:sp>
      <p:sp>
        <p:nvSpPr>
          <p:cNvPr id="12" name="Flowchart: Decision 11">
            <a:extLst>
              <a:ext uri="{FF2B5EF4-FFF2-40B4-BE49-F238E27FC236}">
                <a16:creationId xmlns:a16="http://schemas.microsoft.com/office/drawing/2014/main" id="{C67DE7D1-8838-4A0E-962E-0FD08D611679}"/>
              </a:ext>
            </a:extLst>
          </p:cNvPr>
          <p:cNvSpPr/>
          <p:nvPr/>
        </p:nvSpPr>
        <p:spPr>
          <a:xfrm>
            <a:off x="3668889" y="4120444"/>
            <a:ext cx="6400800" cy="1975556"/>
          </a:xfrm>
          <a:prstGeom prst="flowChartDecisi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800" dirty="0"/>
              <a:t>Decision Making Block</a:t>
            </a:r>
          </a:p>
        </p:txBody>
      </p:sp>
    </p:spTree>
    <p:extLst>
      <p:ext uri="{BB962C8B-B14F-4D97-AF65-F5344CB8AC3E}">
        <p14:creationId xmlns:p14="http://schemas.microsoft.com/office/powerpoint/2010/main" val="6154981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48C8AE4A-6251-4352-BAE1-6D2A72CE9D56}"/>
              </a:ext>
            </a:extLst>
          </p:cNvPr>
          <p:cNvSpPr/>
          <p:nvPr/>
        </p:nvSpPr>
        <p:spPr>
          <a:xfrm>
            <a:off x="1103243" y="347870"/>
            <a:ext cx="2932044" cy="124239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800" dirty="0">
                <a:ln w="0"/>
                <a:solidFill>
                  <a:schemeClr val="tx1"/>
                </a:solidFill>
                <a:effectLst>
                  <a:outerShdw blurRad="38100" dist="19050" dir="2700000" algn="tl" rotWithShape="0">
                    <a:schemeClr val="dk1">
                      <a:alpha val="40000"/>
                    </a:schemeClr>
                  </a:outerShdw>
                </a:effectLst>
              </a:rPr>
              <a:t>Start /Stop</a:t>
            </a:r>
            <a:endParaRPr lang="en-IN" sz="2800" dirty="0"/>
          </a:p>
        </p:txBody>
      </p:sp>
      <p:sp>
        <p:nvSpPr>
          <p:cNvPr id="13" name="Rectangle 12">
            <a:extLst>
              <a:ext uri="{FF2B5EF4-FFF2-40B4-BE49-F238E27FC236}">
                <a16:creationId xmlns:a16="http://schemas.microsoft.com/office/drawing/2014/main" id="{92675199-8637-4AA2-92EC-ABF3B590FE41}"/>
              </a:ext>
            </a:extLst>
          </p:cNvPr>
          <p:cNvSpPr/>
          <p:nvPr/>
        </p:nvSpPr>
        <p:spPr>
          <a:xfrm>
            <a:off x="5933661" y="447261"/>
            <a:ext cx="3796748" cy="124239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800" dirty="0">
                <a:ln w="0"/>
                <a:solidFill>
                  <a:schemeClr val="tx1"/>
                </a:solidFill>
                <a:effectLst>
                  <a:outerShdw blurRad="38100" dist="19050" dir="2700000" algn="tl" rotWithShape="0">
                    <a:schemeClr val="dk1">
                      <a:alpha val="40000"/>
                    </a:schemeClr>
                  </a:outerShdw>
                </a:effectLst>
              </a:rPr>
              <a:t>Executable block</a:t>
            </a:r>
          </a:p>
        </p:txBody>
      </p:sp>
      <p:sp>
        <p:nvSpPr>
          <p:cNvPr id="14" name="Flowchart: Data 13">
            <a:extLst>
              <a:ext uri="{FF2B5EF4-FFF2-40B4-BE49-F238E27FC236}">
                <a16:creationId xmlns:a16="http://schemas.microsoft.com/office/drawing/2014/main" id="{97243E87-0B3B-4AE0-A615-326EB76CAE26}"/>
              </a:ext>
            </a:extLst>
          </p:cNvPr>
          <p:cNvSpPr/>
          <p:nvPr/>
        </p:nvSpPr>
        <p:spPr>
          <a:xfrm>
            <a:off x="5347253" y="2266122"/>
            <a:ext cx="4492479" cy="1152942"/>
          </a:xfrm>
          <a:prstGeom prst="flowChartInputOutp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3200" dirty="0">
                <a:ln w="0"/>
                <a:solidFill>
                  <a:schemeClr val="tx1"/>
                </a:solidFill>
                <a:effectLst>
                  <a:outerShdw blurRad="38100" dist="19050" dir="2700000" algn="tl" rotWithShape="0">
                    <a:schemeClr val="dk1">
                      <a:alpha val="40000"/>
                    </a:schemeClr>
                  </a:outerShdw>
                </a:effectLst>
              </a:rPr>
              <a:t>Input &amp; Output</a:t>
            </a:r>
            <a:endParaRPr lang="en-IN" sz="3200" dirty="0"/>
          </a:p>
        </p:txBody>
      </p:sp>
      <p:sp>
        <p:nvSpPr>
          <p:cNvPr id="15" name="Flowchart: Decision 14">
            <a:extLst>
              <a:ext uri="{FF2B5EF4-FFF2-40B4-BE49-F238E27FC236}">
                <a16:creationId xmlns:a16="http://schemas.microsoft.com/office/drawing/2014/main" id="{6B37598A-C77A-438F-A4A5-283E816AC76C}"/>
              </a:ext>
            </a:extLst>
          </p:cNvPr>
          <p:cNvSpPr/>
          <p:nvPr/>
        </p:nvSpPr>
        <p:spPr>
          <a:xfrm>
            <a:off x="5078895" y="3806687"/>
            <a:ext cx="4870173" cy="1878496"/>
          </a:xfrm>
          <a:prstGeom prst="flowChartDecisi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3600" dirty="0">
                <a:ln w="0"/>
                <a:solidFill>
                  <a:schemeClr val="tx1"/>
                </a:solidFill>
                <a:effectLst>
                  <a:outerShdw blurRad="38100" dist="19050" dir="2700000" algn="tl" rotWithShape="0">
                    <a:schemeClr val="dk1">
                      <a:alpha val="40000"/>
                    </a:schemeClr>
                  </a:outerShdw>
                </a:effectLst>
              </a:rPr>
              <a:t>Decision making block</a:t>
            </a:r>
            <a:endParaRPr lang="en-IN" sz="3600" dirty="0"/>
          </a:p>
        </p:txBody>
      </p:sp>
      <p:sp>
        <p:nvSpPr>
          <p:cNvPr id="16" name="Flowchart: Connector 15">
            <a:extLst>
              <a:ext uri="{FF2B5EF4-FFF2-40B4-BE49-F238E27FC236}">
                <a16:creationId xmlns:a16="http://schemas.microsoft.com/office/drawing/2014/main" id="{54CE467F-76D5-4744-B4CB-0ED59D7F219C}"/>
              </a:ext>
            </a:extLst>
          </p:cNvPr>
          <p:cNvSpPr/>
          <p:nvPr/>
        </p:nvSpPr>
        <p:spPr>
          <a:xfrm>
            <a:off x="1451112" y="2655404"/>
            <a:ext cx="2415198" cy="2203176"/>
          </a:xfrm>
          <a:prstGeom prst="flowChartConnec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800" dirty="0">
                <a:ln w="0"/>
                <a:solidFill>
                  <a:schemeClr val="tx1"/>
                </a:solidFill>
                <a:effectLst>
                  <a:outerShdw blurRad="38100" dist="19050" dir="2700000" algn="tl" rotWithShape="0">
                    <a:schemeClr val="dk1">
                      <a:alpha val="40000"/>
                    </a:schemeClr>
                  </a:outerShdw>
                </a:effectLst>
              </a:rPr>
              <a:t>Connector</a:t>
            </a:r>
            <a:endParaRPr lang="en-IN" sz="2800" dirty="0"/>
          </a:p>
        </p:txBody>
      </p:sp>
    </p:spTree>
    <p:extLst>
      <p:ext uri="{BB962C8B-B14F-4D97-AF65-F5344CB8AC3E}">
        <p14:creationId xmlns:p14="http://schemas.microsoft.com/office/powerpoint/2010/main" val="1347543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lowchart: Off-page Connector 1">
            <a:extLst>
              <a:ext uri="{FF2B5EF4-FFF2-40B4-BE49-F238E27FC236}">
                <a16:creationId xmlns:a16="http://schemas.microsoft.com/office/drawing/2014/main" id="{7ECCE278-E42F-4EA8-B292-407A9E9805DE}"/>
              </a:ext>
            </a:extLst>
          </p:cNvPr>
          <p:cNvSpPr/>
          <p:nvPr/>
        </p:nvSpPr>
        <p:spPr>
          <a:xfrm rot="10800000">
            <a:off x="2065253" y="808751"/>
            <a:ext cx="1302026" cy="1401418"/>
          </a:xfrm>
          <a:prstGeom prst="flowChartOffpageConnec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3600" dirty="0">
              <a:ln w="0"/>
              <a:solidFill>
                <a:schemeClr val="tx1"/>
              </a:solidFill>
              <a:effectLst>
                <a:outerShdw blurRad="38100" dist="19050" dir="2700000" algn="tl" rotWithShape="0">
                  <a:schemeClr val="dk1">
                    <a:alpha val="40000"/>
                  </a:schemeClr>
                </a:outerShdw>
              </a:effectLst>
            </a:endParaRPr>
          </a:p>
        </p:txBody>
      </p:sp>
      <p:sp>
        <p:nvSpPr>
          <p:cNvPr id="3" name="Flowchart: Off-page Connector 2">
            <a:extLst>
              <a:ext uri="{FF2B5EF4-FFF2-40B4-BE49-F238E27FC236}">
                <a16:creationId xmlns:a16="http://schemas.microsoft.com/office/drawing/2014/main" id="{F702B67B-F95A-4648-952E-3913E626B5DA}"/>
              </a:ext>
            </a:extLst>
          </p:cNvPr>
          <p:cNvSpPr/>
          <p:nvPr/>
        </p:nvSpPr>
        <p:spPr>
          <a:xfrm>
            <a:off x="271546" y="798811"/>
            <a:ext cx="1540559" cy="1828799"/>
          </a:xfrm>
          <a:prstGeom prst="flowChartOffpageConnec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ln w="0"/>
                <a:solidFill>
                  <a:schemeClr val="tx1"/>
                </a:solidFill>
                <a:effectLst>
                  <a:outerShdw blurRad="38100" dist="19050" dir="2700000" algn="tl" rotWithShape="0">
                    <a:schemeClr val="dk1">
                      <a:alpha val="40000"/>
                    </a:schemeClr>
                  </a:outerShdw>
                </a:effectLst>
              </a:rPr>
              <a:t>Page Layout/ Connector</a:t>
            </a:r>
          </a:p>
        </p:txBody>
      </p:sp>
      <p:cxnSp>
        <p:nvCxnSpPr>
          <p:cNvPr id="4" name="Straight Arrow Connector 3">
            <a:extLst>
              <a:ext uri="{FF2B5EF4-FFF2-40B4-BE49-F238E27FC236}">
                <a16:creationId xmlns:a16="http://schemas.microsoft.com/office/drawing/2014/main" id="{A198CCAF-FEC1-4D88-A1AF-12B8787E947C}"/>
              </a:ext>
            </a:extLst>
          </p:cNvPr>
          <p:cNvCxnSpPr>
            <a:cxnSpLocks/>
          </p:cNvCxnSpPr>
          <p:nvPr/>
        </p:nvCxnSpPr>
        <p:spPr>
          <a:xfrm>
            <a:off x="2704976" y="-135467"/>
            <a:ext cx="0" cy="944218"/>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5" name="Straight Arrow Connector 4">
            <a:extLst>
              <a:ext uri="{FF2B5EF4-FFF2-40B4-BE49-F238E27FC236}">
                <a16:creationId xmlns:a16="http://schemas.microsoft.com/office/drawing/2014/main" id="{0015A7B8-2796-425E-BAE2-D3686BD160FD}"/>
              </a:ext>
            </a:extLst>
          </p:cNvPr>
          <p:cNvCxnSpPr/>
          <p:nvPr/>
        </p:nvCxnSpPr>
        <p:spPr>
          <a:xfrm>
            <a:off x="1031890" y="2627610"/>
            <a:ext cx="0" cy="944218"/>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6" name="Flowchart: Document 5">
            <a:extLst>
              <a:ext uri="{FF2B5EF4-FFF2-40B4-BE49-F238E27FC236}">
                <a16:creationId xmlns:a16="http://schemas.microsoft.com/office/drawing/2014/main" id="{1F9E5E43-969E-4C94-8077-F712285FD6EF}"/>
              </a:ext>
            </a:extLst>
          </p:cNvPr>
          <p:cNvSpPr/>
          <p:nvPr/>
        </p:nvSpPr>
        <p:spPr>
          <a:xfrm>
            <a:off x="8039226" y="649724"/>
            <a:ext cx="2895596" cy="1987826"/>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400" dirty="0"/>
          </a:p>
        </p:txBody>
      </p:sp>
      <p:sp>
        <p:nvSpPr>
          <p:cNvPr id="7" name="Flowchart: Multidocument 6">
            <a:extLst>
              <a:ext uri="{FF2B5EF4-FFF2-40B4-BE49-F238E27FC236}">
                <a16:creationId xmlns:a16="http://schemas.microsoft.com/office/drawing/2014/main" id="{069AD292-5DD3-47DA-9CAA-0D1CD19C59AB}"/>
              </a:ext>
            </a:extLst>
          </p:cNvPr>
          <p:cNvSpPr/>
          <p:nvPr/>
        </p:nvSpPr>
        <p:spPr>
          <a:xfrm>
            <a:off x="7818906" y="2935725"/>
            <a:ext cx="3336235" cy="2395330"/>
          </a:xfrm>
          <a:prstGeom prst="flowChartMulti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400" dirty="0"/>
          </a:p>
        </p:txBody>
      </p:sp>
      <p:sp>
        <p:nvSpPr>
          <p:cNvPr id="8" name="Flowchart: Preparation 7">
            <a:extLst>
              <a:ext uri="{FF2B5EF4-FFF2-40B4-BE49-F238E27FC236}">
                <a16:creationId xmlns:a16="http://schemas.microsoft.com/office/drawing/2014/main" id="{10F8524D-7782-4448-B804-2D423A4CFFF3}"/>
              </a:ext>
            </a:extLst>
          </p:cNvPr>
          <p:cNvSpPr/>
          <p:nvPr/>
        </p:nvSpPr>
        <p:spPr>
          <a:xfrm>
            <a:off x="528434" y="4174435"/>
            <a:ext cx="4552119" cy="1292087"/>
          </a:xfrm>
          <a:prstGeom prst="flowChartPreparati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800" dirty="0"/>
              <a:t>Preparation</a:t>
            </a:r>
            <a:br>
              <a:rPr lang="en-IN" sz="2800" dirty="0"/>
            </a:br>
            <a:r>
              <a:rPr lang="en-IN" sz="2400" dirty="0"/>
              <a:t>Initiation, Condition, Change in Value</a:t>
            </a:r>
            <a:endParaRPr lang="en-IN" sz="2800" dirty="0"/>
          </a:p>
        </p:txBody>
      </p:sp>
    </p:spTree>
    <p:extLst>
      <p:ext uri="{BB962C8B-B14F-4D97-AF65-F5344CB8AC3E}">
        <p14:creationId xmlns:p14="http://schemas.microsoft.com/office/powerpoint/2010/main" val="32826937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lowchart: Off-page Connector 1">
            <a:extLst>
              <a:ext uri="{FF2B5EF4-FFF2-40B4-BE49-F238E27FC236}">
                <a16:creationId xmlns:a16="http://schemas.microsoft.com/office/drawing/2014/main" id="{0EABCF8B-5033-4454-A32E-F489D5438C84}"/>
              </a:ext>
            </a:extLst>
          </p:cNvPr>
          <p:cNvSpPr/>
          <p:nvPr/>
        </p:nvSpPr>
        <p:spPr>
          <a:xfrm>
            <a:off x="1242391" y="944217"/>
            <a:ext cx="1540559" cy="1828799"/>
          </a:xfrm>
          <a:prstGeom prst="flowChartOffpageConnec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ln w="0"/>
                <a:solidFill>
                  <a:schemeClr val="tx1"/>
                </a:solidFill>
                <a:effectLst>
                  <a:outerShdw blurRad="38100" dist="19050" dir="2700000" algn="tl" rotWithShape="0">
                    <a:schemeClr val="dk1">
                      <a:alpha val="40000"/>
                    </a:schemeClr>
                  </a:outerShdw>
                </a:effectLst>
              </a:rPr>
              <a:t>Page Layout/ Connector</a:t>
            </a:r>
          </a:p>
        </p:txBody>
      </p:sp>
      <p:sp>
        <p:nvSpPr>
          <p:cNvPr id="3" name="Flowchart: Off-page Connector 2">
            <a:extLst>
              <a:ext uri="{FF2B5EF4-FFF2-40B4-BE49-F238E27FC236}">
                <a16:creationId xmlns:a16="http://schemas.microsoft.com/office/drawing/2014/main" id="{F8C9ACE7-0213-40A3-BB02-E3F5CEC520E2}"/>
              </a:ext>
            </a:extLst>
          </p:cNvPr>
          <p:cNvSpPr/>
          <p:nvPr/>
        </p:nvSpPr>
        <p:spPr>
          <a:xfrm rot="10800000">
            <a:off x="3024808" y="944218"/>
            <a:ext cx="1302026" cy="1401418"/>
          </a:xfrm>
          <a:prstGeom prst="flowChartOffpageConnec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3600" dirty="0">
              <a:ln w="0"/>
              <a:solidFill>
                <a:schemeClr val="tx1"/>
              </a:solidFill>
              <a:effectLst>
                <a:outerShdw blurRad="38100" dist="19050" dir="2700000" algn="tl" rotWithShape="0">
                  <a:schemeClr val="dk1">
                    <a:alpha val="40000"/>
                  </a:schemeClr>
                </a:outerShdw>
              </a:effectLst>
            </a:endParaRPr>
          </a:p>
        </p:txBody>
      </p:sp>
      <p:cxnSp>
        <p:nvCxnSpPr>
          <p:cNvPr id="5" name="Straight Arrow Connector 4">
            <a:extLst>
              <a:ext uri="{FF2B5EF4-FFF2-40B4-BE49-F238E27FC236}">
                <a16:creationId xmlns:a16="http://schemas.microsoft.com/office/drawing/2014/main" id="{0E26FB81-AEC2-45F0-A3BC-91AF450F1622}"/>
              </a:ext>
            </a:extLst>
          </p:cNvPr>
          <p:cNvCxnSpPr>
            <a:cxnSpLocks/>
          </p:cNvCxnSpPr>
          <p:nvPr/>
        </p:nvCxnSpPr>
        <p:spPr>
          <a:xfrm>
            <a:off x="3675821" y="9939"/>
            <a:ext cx="0" cy="944218"/>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 name="Straight Arrow Connector 5">
            <a:extLst>
              <a:ext uri="{FF2B5EF4-FFF2-40B4-BE49-F238E27FC236}">
                <a16:creationId xmlns:a16="http://schemas.microsoft.com/office/drawing/2014/main" id="{AEC1B107-A8E7-4E33-884A-E89BA6B98354}"/>
              </a:ext>
            </a:extLst>
          </p:cNvPr>
          <p:cNvCxnSpPr/>
          <p:nvPr/>
        </p:nvCxnSpPr>
        <p:spPr>
          <a:xfrm>
            <a:off x="2002735" y="2773016"/>
            <a:ext cx="0" cy="944218"/>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7" name="Flowchart: Document 6">
            <a:extLst>
              <a:ext uri="{FF2B5EF4-FFF2-40B4-BE49-F238E27FC236}">
                <a16:creationId xmlns:a16="http://schemas.microsoft.com/office/drawing/2014/main" id="{64133BCC-F1DA-4EC2-92B4-022689CD6B62}"/>
              </a:ext>
            </a:extLst>
          </p:cNvPr>
          <p:cNvSpPr/>
          <p:nvPr/>
        </p:nvSpPr>
        <p:spPr>
          <a:xfrm>
            <a:off x="6271591" y="785191"/>
            <a:ext cx="2895596" cy="1987826"/>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400" dirty="0"/>
          </a:p>
        </p:txBody>
      </p:sp>
      <p:sp>
        <p:nvSpPr>
          <p:cNvPr id="8" name="Flowchart: Multidocument 7">
            <a:extLst>
              <a:ext uri="{FF2B5EF4-FFF2-40B4-BE49-F238E27FC236}">
                <a16:creationId xmlns:a16="http://schemas.microsoft.com/office/drawing/2014/main" id="{67D52A12-1DB6-4429-8178-6AD9346C16B5}"/>
              </a:ext>
            </a:extLst>
          </p:cNvPr>
          <p:cNvSpPr/>
          <p:nvPr/>
        </p:nvSpPr>
        <p:spPr>
          <a:xfrm>
            <a:off x="6051271" y="3071192"/>
            <a:ext cx="3336235" cy="2395330"/>
          </a:xfrm>
          <a:prstGeom prst="flowChartMulti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400" dirty="0"/>
          </a:p>
        </p:txBody>
      </p:sp>
    </p:spTree>
    <p:extLst>
      <p:ext uri="{BB962C8B-B14F-4D97-AF65-F5344CB8AC3E}">
        <p14:creationId xmlns:p14="http://schemas.microsoft.com/office/powerpoint/2010/main" val="14768874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lowchart: Terminator 1">
            <a:extLst>
              <a:ext uri="{FF2B5EF4-FFF2-40B4-BE49-F238E27FC236}">
                <a16:creationId xmlns:a16="http://schemas.microsoft.com/office/drawing/2014/main" id="{AE13FFBB-E45B-4163-90E7-64A0AB6A0D95}"/>
              </a:ext>
            </a:extLst>
          </p:cNvPr>
          <p:cNvSpPr/>
          <p:nvPr/>
        </p:nvSpPr>
        <p:spPr>
          <a:xfrm>
            <a:off x="3955774" y="99391"/>
            <a:ext cx="3597965" cy="536713"/>
          </a:xfrm>
          <a:prstGeom prst="flowChartTermina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800" dirty="0"/>
              <a:t>Start</a:t>
            </a:r>
          </a:p>
        </p:txBody>
      </p:sp>
      <p:cxnSp>
        <p:nvCxnSpPr>
          <p:cNvPr id="3" name="Straight Arrow Connector 2">
            <a:extLst>
              <a:ext uri="{FF2B5EF4-FFF2-40B4-BE49-F238E27FC236}">
                <a16:creationId xmlns:a16="http://schemas.microsoft.com/office/drawing/2014/main" id="{5C6C7931-205D-4201-8B47-044A70F161A1}"/>
              </a:ext>
            </a:extLst>
          </p:cNvPr>
          <p:cNvCxnSpPr>
            <a:cxnSpLocks/>
          </p:cNvCxnSpPr>
          <p:nvPr/>
        </p:nvCxnSpPr>
        <p:spPr>
          <a:xfrm>
            <a:off x="5802795" y="636104"/>
            <a:ext cx="0" cy="47707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4" name="Flowchart: Data 3">
            <a:extLst>
              <a:ext uri="{FF2B5EF4-FFF2-40B4-BE49-F238E27FC236}">
                <a16:creationId xmlns:a16="http://schemas.microsoft.com/office/drawing/2014/main" id="{CF96A561-6125-4281-8E03-1413F6BBB77B}"/>
              </a:ext>
            </a:extLst>
          </p:cNvPr>
          <p:cNvSpPr/>
          <p:nvPr/>
        </p:nvSpPr>
        <p:spPr>
          <a:xfrm>
            <a:off x="3009900" y="1152938"/>
            <a:ext cx="5585790" cy="536713"/>
          </a:xfrm>
          <a:prstGeom prst="flowChartInputOutp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3200" dirty="0"/>
              <a:t>Read n</a:t>
            </a:r>
          </a:p>
        </p:txBody>
      </p:sp>
      <p:cxnSp>
        <p:nvCxnSpPr>
          <p:cNvPr id="5" name="Straight Arrow Connector 4">
            <a:extLst>
              <a:ext uri="{FF2B5EF4-FFF2-40B4-BE49-F238E27FC236}">
                <a16:creationId xmlns:a16="http://schemas.microsoft.com/office/drawing/2014/main" id="{1FF338F0-72C8-4455-ADF2-D603E3736B6E}"/>
              </a:ext>
            </a:extLst>
          </p:cNvPr>
          <p:cNvCxnSpPr>
            <a:cxnSpLocks/>
          </p:cNvCxnSpPr>
          <p:nvPr/>
        </p:nvCxnSpPr>
        <p:spPr>
          <a:xfrm>
            <a:off x="5802795" y="1689651"/>
            <a:ext cx="0" cy="47707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6" name="Rectangle 5">
            <a:extLst>
              <a:ext uri="{FF2B5EF4-FFF2-40B4-BE49-F238E27FC236}">
                <a16:creationId xmlns:a16="http://schemas.microsoft.com/office/drawing/2014/main" id="{C5AF14C1-C86D-4842-9BB5-05DA3486DA1C}"/>
              </a:ext>
            </a:extLst>
          </p:cNvPr>
          <p:cNvSpPr/>
          <p:nvPr/>
        </p:nvSpPr>
        <p:spPr>
          <a:xfrm>
            <a:off x="3955774" y="2166731"/>
            <a:ext cx="3796748" cy="64604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800" dirty="0">
                <a:ln w="0"/>
                <a:solidFill>
                  <a:schemeClr val="tx1"/>
                </a:solidFill>
                <a:effectLst>
                  <a:outerShdw blurRad="38100" dist="19050" dir="2700000" algn="tl" rotWithShape="0">
                    <a:schemeClr val="dk1">
                      <a:alpha val="40000"/>
                    </a:schemeClr>
                  </a:outerShdw>
                </a:effectLst>
              </a:rPr>
              <a:t>Res = Num1 + Num2</a:t>
            </a:r>
          </a:p>
        </p:txBody>
      </p:sp>
      <p:sp>
        <p:nvSpPr>
          <p:cNvPr id="7" name="Flowchart: Data 6">
            <a:extLst>
              <a:ext uri="{FF2B5EF4-FFF2-40B4-BE49-F238E27FC236}">
                <a16:creationId xmlns:a16="http://schemas.microsoft.com/office/drawing/2014/main" id="{7C40BE71-EEC1-4C44-85A9-822490193934}"/>
              </a:ext>
            </a:extLst>
          </p:cNvPr>
          <p:cNvSpPr/>
          <p:nvPr/>
        </p:nvSpPr>
        <p:spPr>
          <a:xfrm>
            <a:off x="3061253" y="3289855"/>
            <a:ext cx="5585790" cy="536713"/>
          </a:xfrm>
          <a:prstGeom prst="flowChartInputOutp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3200" dirty="0"/>
              <a:t>Print res</a:t>
            </a:r>
          </a:p>
        </p:txBody>
      </p:sp>
      <p:cxnSp>
        <p:nvCxnSpPr>
          <p:cNvPr id="8" name="Straight Arrow Connector 7">
            <a:extLst>
              <a:ext uri="{FF2B5EF4-FFF2-40B4-BE49-F238E27FC236}">
                <a16:creationId xmlns:a16="http://schemas.microsoft.com/office/drawing/2014/main" id="{6BD4D9DF-ABBC-4C57-B2E9-F4676BCD881B}"/>
              </a:ext>
            </a:extLst>
          </p:cNvPr>
          <p:cNvCxnSpPr>
            <a:cxnSpLocks/>
          </p:cNvCxnSpPr>
          <p:nvPr/>
        </p:nvCxnSpPr>
        <p:spPr>
          <a:xfrm>
            <a:off x="5854148" y="2812776"/>
            <a:ext cx="0" cy="47707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9" name="Flowchart: Terminator 8">
            <a:extLst>
              <a:ext uri="{FF2B5EF4-FFF2-40B4-BE49-F238E27FC236}">
                <a16:creationId xmlns:a16="http://schemas.microsoft.com/office/drawing/2014/main" id="{92C38187-A8EA-401A-B4FE-914230B0DEEF}"/>
              </a:ext>
            </a:extLst>
          </p:cNvPr>
          <p:cNvSpPr/>
          <p:nvPr/>
        </p:nvSpPr>
        <p:spPr>
          <a:xfrm>
            <a:off x="4055165" y="4353346"/>
            <a:ext cx="3597965" cy="536713"/>
          </a:xfrm>
          <a:prstGeom prst="flowChartTermina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800" dirty="0"/>
              <a:t>End</a:t>
            </a:r>
          </a:p>
        </p:txBody>
      </p:sp>
      <p:cxnSp>
        <p:nvCxnSpPr>
          <p:cNvPr id="10" name="Straight Arrow Connector 9">
            <a:extLst>
              <a:ext uri="{FF2B5EF4-FFF2-40B4-BE49-F238E27FC236}">
                <a16:creationId xmlns:a16="http://schemas.microsoft.com/office/drawing/2014/main" id="{AD6B0F00-983B-42D2-A095-E55E0669BA57}"/>
              </a:ext>
            </a:extLst>
          </p:cNvPr>
          <p:cNvCxnSpPr>
            <a:cxnSpLocks/>
          </p:cNvCxnSpPr>
          <p:nvPr/>
        </p:nvCxnSpPr>
        <p:spPr>
          <a:xfrm>
            <a:off x="5854147" y="3876267"/>
            <a:ext cx="0" cy="47707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15254015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lowchart: Terminator 1">
            <a:extLst>
              <a:ext uri="{FF2B5EF4-FFF2-40B4-BE49-F238E27FC236}">
                <a16:creationId xmlns:a16="http://schemas.microsoft.com/office/drawing/2014/main" id="{C6A39319-5CAC-4C28-A9F1-A63D63ED74EA}"/>
              </a:ext>
            </a:extLst>
          </p:cNvPr>
          <p:cNvSpPr/>
          <p:nvPr/>
        </p:nvSpPr>
        <p:spPr>
          <a:xfrm>
            <a:off x="3955774" y="99391"/>
            <a:ext cx="3597965" cy="536713"/>
          </a:xfrm>
          <a:prstGeom prst="flowChartTermina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800" dirty="0"/>
              <a:t>Start</a:t>
            </a:r>
          </a:p>
        </p:txBody>
      </p:sp>
      <p:cxnSp>
        <p:nvCxnSpPr>
          <p:cNvPr id="3" name="Straight Arrow Connector 2">
            <a:extLst>
              <a:ext uri="{FF2B5EF4-FFF2-40B4-BE49-F238E27FC236}">
                <a16:creationId xmlns:a16="http://schemas.microsoft.com/office/drawing/2014/main" id="{4306551F-D756-412F-A8C9-1A20E14FDA07}"/>
              </a:ext>
            </a:extLst>
          </p:cNvPr>
          <p:cNvCxnSpPr>
            <a:cxnSpLocks/>
          </p:cNvCxnSpPr>
          <p:nvPr/>
        </p:nvCxnSpPr>
        <p:spPr>
          <a:xfrm>
            <a:off x="5802795" y="636104"/>
            <a:ext cx="0" cy="47707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6" name="Flowchart: Data 5">
            <a:extLst>
              <a:ext uri="{FF2B5EF4-FFF2-40B4-BE49-F238E27FC236}">
                <a16:creationId xmlns:a16="http://schemas.microsoft.com/office/drawing/2014/main" id="{56BE6A05-D775-4F4E-AF15-178879BF69C7}"/>
              </a:ext>
            </a:extLst>
          </p:cNvPr>
          <p:cNvSpPr/>
          <p:nvPr/>
        </p:nvSpPr>
        <p:spPr>
          <a:xfrm>
            <a:off x="3009900" y="1152938"/>
            <a:ext cx="5585790" cy="536713"/>
          </a:xfrm>
          <a:prstGeom prst="flowChartInputOutp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3200" dirty="0"/>
              <a:t>num1, num2</a:t>
            </a:r>
          </a:p>
        </p:txBody>
      </p:sp>
      <p:cxnSp>
        <p:nvCxnSpPr>
          <p:cNvPr id="7" name="Straight Arrow Connector 6">
            <a:extLst>
              <a:ext uri="{FF2B5EF4-FFF2-40B4-BE49-F238E27FC236}">
                <a16:creationId xmlns:a16="http://schemas.microsoft.com/office/drawing/2014/main" id="{2509952F-FAF4-4D48-BC68-9133723B4B00}"/>
              </a:ext>
            </a:extLst>
          </p:cNvPr>
          <p:cNvCxnSpPr>
            <a:cxnSpLocks/>
          </p:cNvCxnSpPr>
          <p:nvPr/>
        </p:nvCxnSpPr>
        <p:spPr>
          <a:xfrm>
            <a:off x="5802795" y="1689651"/>
            <a:ext cx="0" cy="47707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8" name="Rectangle 7">
            <a:extLst>
              <a:ext uri="{FF2B5EF4-FFF2-40B4-BE49-F238E27FC236}">
                <a16:creationId xmlns:a16="http://schemas.microsoft.com/office/drawing/2014/main" id="{810FF8FD-7B39-44E7-BF03-71DCA75BC8CA}"/>
              </a:ext>
            </a:extLst>
          </p:cNvPr>
          <p:cNvSpPr/>
          <p:nvPr/>
        </p:nvSpPr>
        <p:spPr>
          <a:xfrm>
            <a:off x="3955774" y="2166730"/>
            <a:ext cx="3796748" cy="64604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800" dirty="0">
              <a:ln w="0"/>
              <a:solidFill>
                <a:schemeClr val="tx1"/>
              </a:solidFill>
              <a:effectLst>
                <a:outerShdw blurRad="38100" dist="19050" dir="2700000" algn="tl" rotWithShape="0">
                  <a:schemeClr val="dk1">
                    <a:alpha val="40000"/>
                  </a:schemeClr>
                </a:outerShdw>
              </a:effectLst>
            </a:endParaRPr>
          </a:p>
        </p:txBody>
      </p:sp>
      <p:sp>
        <p:nvSpPr>
          <p:cNvPr id="9" name="Flowchart: Data 8">
            <a:extLst>
              <a:ext uri="{FF2B5EF4-FFF2-40B4-BE49-F238E27FC236}">
                <a16:creationId xmlns:a16="http://schemas.microsoft.com/office/drawing/2014/main" id="{9BEBFE84-B719-4508-A626-DC5FCB87CB19}"/>
              </a:ext>
            </a:extLst>
          </p:cNvPr>
          <p:cNvSpPr/>
          <p:nvPr/>
        </p:nvSpPr>
        <p:spPr>
          <a:xfrm>
            <a:off x="3061252" y="3289855"/>
            <a:ext cx="5585790" cy="536713"/>
          </a:xfrm>
          <a:prstGeom prst="flowChartInputOutp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3200" dirty="0"/>
              <a:t>res</a:t>
            </a:r>
          </a:p>
        </p:txBody>
      </p:sp>
      <p:cxnSp>
        <p:nvCxnSpPr>
          <p:cNvPr id="10" name="Straight Arrow Connector 9">
            <a:extLst>
              <a:ext uri="{FF2B5EF4-FFF2-40B4-BE49-F238E27FC236}">
                <a16:creationId xmlns:a16="http://schemas.microsoft.com/office/drawing/2014/main" id="{342C316D-2258-47A3-8C87-015616C937D3}"/>
              </a:ext>
            </a:extLst>
          </p:cNvPr>
          <p:cNvCxnSpPr>
            <a:cxnSpLocks/>
          </p:cNvCxnSpPr>
          <p:nvPr/>
        </p:nvCxnSpPr>
        <p:spPr>
          <a:xfrm>
            <a:off x="5854148" y="2812776"/>
            <a:ext cx="0" cy="47707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11" name="Flowchart: Terminator 10">
            <a:extLst>
              <a:ext uri="{FF2B5EF4-FFF2-40B4-BE49-F238E27FC236}">
                <a16:creationId xmlns:a16="http://schemas.microsoft.com/office/drawing/2014/main" id="{63118CDD-2D75-4CE8-9053-55B331E9CD2C}"/>
              </a:ext>
            </a:extLst>
          </p:cNvPr>
          <p:cNvSpPr/>
          <p:nvPr/>
        </p:nvSpPr>
        <p:spPr>
          <a:xfrm>
            <a:off x="4055165" y="4353346"/>
            <a:ext cx="3597965" cy="536713"/>
          </a:xfrm>
          <a:prstGeom prst="flowChartTermina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800" dirty="0"/>
              <a:t>End</a:t>
            </a:r>
          </a:p>
        </p:txBody>
      </p:sp>
      <p:cxnSp>
        <p:nvCxnSpPr>
          <p:cNvPr id="12" name="Straight Arrow Connector 11">
            <a:extLst>
              <a:ext uri="{FF2B5EF4-FFF2-40B4-BE49-F238E27FC236}">
                <a16:creationId xmlns:a16="http://schemas.microsoft.com/office/drawing/2014/main" id="{C7B0BC96-7AFF-4597-8064-A11A06BB8455}"/>
              </a:ext>
            </a:extLst>
          </p:cNvPr>
          <p:cNvCxnSpPr>
            <a:cxnSpLocks/>
          </p:cNvCxnSpPr>
          <p:nvPr/>
        </p:nvCxnSpPr>
        <p:spPr>
          <a:xfrm>
            <a:off x="5854147" y="3876267"/>
            <a:ext cx="0" cy="47707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26020880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96BDD43-1400-4AEB-9041-7BA95217023A}"/>
              </a:ext>
            </a:extLst>
          </p:cNvPr>
          <p:cNvSpPr txBox="1"/>
          <p:nvPr/>
        </p:nvSpPr>
        <p:spPr>
          <a:xfrm>
            <a:off x="0" y="430983"/>
            <a:ext cx="12192000" cy="3619837"/>
          </a:xfrm>
          <a:prstGeom prst="rect">
            <a:avLst/>
          </a:prstGeom>
          <a:noFill/>
        </p:spPr>
        <p:txBody>
          <a:bodyPr wrap="square">
            <a:spAutoFit/>
          </a:bodyPr>
          <a:lstStyle/>
          <a:p>
            <a:pPr>
              <a:lnSpc>
                <a:spcPct val="107000"/>
              </a:lnSpc>
              <a:spcAft>
                <a:spcPts val="800"/>
              </a:spcAft>
            </a:pPr>
            <a:r>
              <a:rPr lang="en-IN" sz="3600" dirty="0">
                <a:effectLst/>
                <a:latin typeface="Times New Roman" panose="02020603050405020304" pitchFamily="18" charset="0"/>
                <a:ea typeface="Calibri" panose="020F0502020204030204" pitchFamily="34" charset="0"/>
                <a:cs typeface="Gautami" panose="020B0502040204020203" pitchFamily="34" charset="0"/>
              </a:rPr>
              <a:t>Stuart Bloom's teacher Denise uses chalk to write on the board. When the chalk reduces to 1/square root(n) of its original size, she keeps the chalk aside as it gets too small. She joins all the small pieces of the chalk and makes another chalk of the same size and uses it. If she uses one chalk each day, in how many days will she use the given n number of chalks?</a:t>
            </a:r>
            <a:endParaRPr lang="en-IN" sz="3600" dirty="0">
              <a:effectLst/>
              <a:latin typeface="Calibri" panose="020F0502020204030204" pitchFamily="34" charset="0"/>
              <a:ea typeface="Calibri" panose="020F0502020204030204" pitchFamily="34" charset="0"/>
              <a:cs typeface="Gautami" panose="020B0502040204020203" pitchFamily="34" charset="0"/>
            </a:endParaRPr>
          </a:p>
        </p:txBody>
      </p:sp>
    </p:spTree>
    <p:extLst>
      <p:ext uri="{BB962C8B-B14F-4D97-AF65-F5344CB8AC3E}">
        <p14:creationId xmlns:p14="http://schemas.microsoft.com/office/powerpoint/2010/main" val="10998289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93662BA0-219D-4720-A3DD-941BDD87A0B0}"/>
              </a:ext>
            </a:extLst>
          </p:cNvPr>
          <p:cNvSpPr txBox="1"/>
          <p:nvPr/>
        </p:nvSpPr>
        <p:spPr>
          <a:xfrm>
            <a:off x="417443" y="347869"/>
            <a:ext cx="10426148" cy="5397953"/>
          </a:xfrm>
          <a:prstGeom prst="rect">
            <a:avLst/>
          </a:prstGeom>
          <a:noFill/>
        </p:spPr>
        <p:txBody>
          <a:bodyPr wrap="square">
            <a:spAutoFit/>
          </a:bodyPr>
          <a:lstStyle/>
          <a:p>
            <a:pPr>
              <a:lnSpc>
                <a:spcPct val="107000"/>
              </a:lnSpc>
              <a:spcAft>
                <a:spcPts val="800"/>
              </a:spcAft>
            </a:pPr>
            <a:r>
              <a:rPr lang="en-IN" sz="2800" dirty="0">
                <a:effectLst/>
                <a:latin typeface="Times New Roman" panose="02020603050405020304" pitchFamily="18" charset="0"/>
                <a:ea typeface="Calibri" panose="020F0502020204030204" pitchFamily="34" charset="0"/>
                <a:cs typeface="Gautami" panose="020B0502040204020203" pitchFamily="34" charset="0"/>
              </a:rPr>
              <a:t>INPUT &amp; OUTPUT FORMAT:</a:t>
            </a:r>
            <a:endParaRPr lang="en-IN" sz="28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800" dirty="0">
                <a:effectLst/>
                <a:latin typeface="Times New Roman" panose="02020603050405020304" pitchFamily="18" charset="0"/>
                <a:ea typeface="Calibri" panose="020F0502020204030204" pitchFamily="34" charset="0"/>
                <a:cs typeface="Gautami" panose="020B0502040204020203" pitchFamily="34" charset="0"/>
              </a:rPr>
              <a:t>Input consists of 1 integer which corresponds to the number of chalks given. Output corresponds to the number of days in which the given number of chalks will be used.</a:t>
            </a:r>
            <a:endParaRPr lang="en-IN" sz="28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800" dirty="0">
                <a:effectLst/>
                <a:latin typeface="Times New Roman" panose="02020603050405020304" pitchFamily="18" charset="0"/>
                <a:ea typeface="Calibri" panose="020F0502020204030204" pitchFamily="34" charset="0"/>
                <a:cs typeface="Gautami" panose="020B0502040204020203" pitchFamily="34" charset="0"/>
              </a:rPr>
              <a:t>Constrains:</a:t>
            </a:r>
            <a:endParaRPr lang="en-IN" sz="28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800" dirty="0">
                <a:effectLst/>
                <a:latin typeface="Times New Roman" panose="02020603050405020304" pitchFamily="18" charset="0"/>
                <a:ea typeface="Calibri" panose="020F0502020204030204" pitchFamily="34" charset="0"/>
                <a:cs typeface="Gautami" panose="020B0502040204020203" pitchFamily="34" charset="0"/>
              </a:rPr>
              <a:t>4&lt;=n&lt;666</a:t>
            </a:r>
            <a:endParaRPr lang="en-IN" sz="28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800" dirty="0">
                <a:effectLst/>
                <a:latin typeface="Times New Roman" panose="02020603050405020304" pitchFamily="18" charset="0"/>
                <a:ea typeface="Calibri" panose="020F0502020204030204" pitchFamily="34" charset="0"/>
                <a:cs typeface="Gautami" panose="020B0502040204020203" pitchFamily="34" charset="0"/>
              </a:rPr>
              <a:t>SAMPLE INPUT:</a:t>
            </a:r>
            <a:endParaRPr lang="en-IN" sz="28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800" dirty="0">
                <a:effectLst/>
                <a:latin typeface="Times New Roman" panose="02020603050405020304" pitchFamily="18" charset="0"/>
                <a:ea typeface="Calibri" panose="020F0502020204030204" pitchFamily="34" charset="0"/>
                <a:cs typeface="Gautami" panose="020B0502040204020203" pitchFamily="34" charset="0"/>
              </a:rPr>
              <a:t>16</a:t>
            </a:r>
            <a:endParaRPr lang="en-IN" sz="28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800" dirty="0">
                <a:effectLst/>
                <a:latin typeface="Times New Roman" panose="02020603050405020304" pitchFamily="18" charset="0"/>
                <a:ea typeface="Calibri" panose="020F0502020204030204" pitchFamily="34" charset="0"/>
                <a:cs typeface="Gautami" panose="020B0502040204020203" pitchFamily="34" charset="0"/>
              </a:rPr>
              <a:t>SAMPLE OUTPUT:</a:t>
            </a:r>
            <a:endParaRPr lang="en-IN" sz="28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800" dirty="0">
                <a:effectLst/>
                <a:latin typeface="Times New Roman" panose="02020603050405020304" pitchFamily="18" charset="0"/>
                <a:ea typeface="Calibri" panose="020F0502020204030204" pitchFamily="34" charset="0"/>
                <a:cs typeface="Gautami" panose="020B0502040204020203" pitchFamily="34" charset="0"/>
              </a:rPr>
              <a:t>21</a:t>
            </a:r>
            <a:endParaRPr lang="en-IN" sz="2800" dirty="0">
              <a:effectLst/>
              <a:latin typeface="Calibri" panose="020F0502020204030204" pitchFamily="34" charset="0"/>
              <a:ea typeface="Calibri" panose="020F0502020204030204" pitchFamily="34" charset="0"/>
              <a:cs typeface="Gautami" panose="020B0502040204020203" pitchFamily="34" charset="0"/>
            </a:endParaRPr>
          </a:p>
        </p:txBody>
      </p:sp>
    </p:spTree>
    <p:extLst>
      <p:ext uri="{BB962C8B-B14F-4D97-AF65-F5344CB8AC3E}">
        <p14:creationId xmlns:p14="http://schemas.microsoft.com/office/powerpoint/2010/main" val="39781229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lowchart: Terminator 1">
            <a:extLst>
              <a:ext uri="{FF2B5EF4-FFF2-40B4-BE49-F238E27FC236}">
                <a16:creationId xmlns:a16="http://schemas.microsoft.com/office/drawing/2014/main" id="{E04D59CF-D8D6-49A5-B877-BC085AC67144}"/>
              </a:ext>
            </a:extLst>
          </p:cNvPr>
          <p:cNvSpPr/>
          <p:nvPr/>
        </p:nvSpPr>
        <p:spPr>
          <a:xfrm>
            <a:off x="3955774" y="99391"/>
            <a:ext cx="3597965" cy="536713"/>
          </a:xfrm>
          <a:prstGeom prst="flowChartTermina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800" dirty="0"/>
              <a:t>Start</a:t>
            </a:r>
          </a:p>
        </p:txBody>
      </p:sp>
      <p:cxnSp>
        <p:nvCxnSpPr>
          <p:cNvPr id="3" name="Straight Arrow Connector 2">
            <a:extLst>
              <a:ext uri="{FF2B5EF4-FFF2-40B4-BE49-F238E27FC236}">
                <a16:creationId xmlns:a16="http://schemas.microsoft.com/office/drawing/2014/main" id="{3F2514C6-4D9A-48AB-97C8-D71301601132}"/>
              </a:ext>
            </a:extLst>
          </p:cNvPr>
          <p:cNvCxnSpPr>
            <a:cxnSpLocks/>
          </p:cNvCxnSpPr>
          <p:nvPr/>
        </p:nvCxnSpPr>
        <p:spPr>
          <a:xfrm>
            <a:off x="5802795" y="658682"/>
            <a:ext cx="0" cy="47707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4" name="Flowchart: Data 3">
            <a:extLst>
              <a:ext uri="{FF2B5EF4-FFF2-40B4-BE49-F238E27FC236}">
                <a16:creationId xmlns:a16="http://schemas.microsoft.com/office/drawing/2014/main" id="{64308B05-6357-4B6A-B2C2-71CD190332F5}"/>
              </a:ext>
            </a:extLst>
          </p:cNvPr>
          <p:cNvSpPr/>
          <p:nvPr/>
        </p:nvSpPr>
        <p:spPr>
          <a:xfrm>
            <a:off x="3009900" y="1152938"/>
            <a:ext cx="5585790" cy="536713"/>
          </a:xfrm>
          <a:prstGeom prst="flowChartInputOutp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3200" dirty="0"/>
              <a:t>Read n</a:t>
            </a:r>
          </a:p>
        </p:txBody>
      </p:sp>
      <p:cxnSp>
        <p:nvCxnSpPr>
          <p:cNvPr id="9" name="Straight Arrow Connector 8">
            <a:extLst>
              <a:ext uri="{FF2B5EF4-FFF2-40B4-BE49-F238E27FC236}">
                <a16:creationId xmlns:a16="http://schemas.microsoft.com/office/drawing/2014/main" id="{DE416A73-7E92-4655-9367-1888250541E4}"/>
              </a:ext>
            </a:extLst>
          </p:cNvPr>
          <p:cNvCxnSpPr>
            <a:cxnSpLocks/>
          </p:cNvCxnSpPr>
          <p:nvPr/>
        </p:nvCxnSpPr>
        <p:spPr>
          <a:xfrm>
            <a:off x="5802795" y="1689651"/>
            <a:ext cx="0" cy="47707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10" name="Rectangle 9">
            <a:extLst>
              <a:ext uri="{FF2B5EF4-FFF2-40B4-BE49-F238E27FC236}">
                <a16:creationId xmlns:a16="http://schemas.microsoft.com/office/drawing/2014/main" id="{1789C13C-C4DD-4367-BE43-32853E6DB23D}"/>
              </a:ext>
            </a:extLst>
          </p:cNvPr>
          <p:cNvSpPr/>
          <p:nvPr/>
        </p:nvSpPr>
        <p:spPr>
          <a:xfrm>
            <a:off x="3955774" y="2166730"/>
            <a:ext cx="3796748" cy="64604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800" dirty="0">
              <a:ln w="0"/>
              <a:solidFill>
                <a:schemeClr val="tx1"/>
              </a:solidFill>
              <a:effectLst>
                <a:outerShdw blurRad="38100" dist="19050" dir="2700000" algn="tl" rotWithShape="0">
                  <a:schemeClr val="dk1">
                    <a:alpha val="40000"/>
                  </a:schemeClr>
                </a:outerShdw>
              </a:effectLst>
            </a:endParaRPr>
          </a:p>
        </p:txBody>
      </p:sp>
      <p:sp>
        <p:nvSpPr>
          <p:cNvPr id="11" name="Flowchart: Data 10">
            <a:extLst>
              <a:ext uri="{FF2B5EF4-FFF2-40B4-BE49-F238E27FC236}">
                <a16:creationId xmlns:a16="http://schemas.microsoft.com/office/drawing/2014/main" id="{80997397-6225-48AF-94FC-449DFF40B00A}"/>
              </a:ext>
            </a:extLst>
          </p:cNvPr>
          <p:cNvSpPr/>
          <p:nvPr/>
        </p:nvSpPr>
        <p:spPr>
          <a:xfrm>
            <a:off x="3061253" y="3289855"/>
            <a:ext cx="5585790" cy="536713"/>
          </a:xfrm>
          <a:prstGeom prst="flowChartInputOutp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3200" dirty="0"/>
              <a:t>Print res</a:t>
            </a:r>
          </a:p>
        </p:txBody>
      </p:sp>
      <p:cxnSp>
        <p:nvCxnSpPr>
          <p:cNvPr id="12" name="Straight Arrow Connector 11">
            <a:extLst>
              <a:ext uri="{FF2B5EF4-FFF2-40B4-BE49-F238E27FC236}">
                <a16:creationId xmlns:a16="http://schemas.microsoft.com/office/drawing/2014/main" id="{63C3C3CE-E6BB-4BB1-91FC-11D8180ED707}"/>
              </a:ext>
            </a:extLst>
          </p:cNvPr>
          <p:cNvCxnSpPr>
            <a:cxnSpLocks/>
          </p:cNvCxnSpPr>
          <p:nvPr/>
        </p:nvCxnSpPr>
        <p:spPr>
          <a:xfrm>
            <a:off x="5854148" y="2812776"/>
            <a:ext cx="0" cy="47707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13" name="Flowchart: Terminator 12">
            <a:extLst>
              <a:ext uri="{FF2B5EF4-FFF2-40B4-BE49-F238E27FC236}">
                <a16:creationId xmlns:a16="http://schemas.microsoft.com/office/drawing/2014/main" id="{30E489B0-9EF6-4271-8BC1-FD539CD3661B}"/>
              </a:ext>
            </a:extLst>
          </p:cNvPr>
          <p:cNvSpPr/>
          <p:nvPr/>
        </p:nvSpPr>
        <p:spPr>
          <a:xfrm>
            <a:off x="4055165" y="4353346"/>
            <a:ext cx="3597965" cy="536713"/>
          </a:xfrm>
          <a:prstGeom prst="flowChartTermina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800" dirty="0"/>
              <a:t>End</a:t>
            </a:r>
          </a:p>
        </p:txBody>
      </p:sp>
      <p:cxnSp>
        <p:nvCxnSpPr>
          <p:cNvPr id="14" name="Straight Arrow Connector 13">
            <a:extLst>
              <a:ext uri="{FF2B5EF4-FFF2-40B4-BE49-F238E27FC236}">
                <a16:creationId xmlns:a16="http://schemas.microsoft.com/office/drawing/2014/main" id="{637EB716-82B8-4D6C-91A1-CAF62C1DF2D3}"/>
              </a:ext>
            </a:extLst>
          </p:cNvPr>
          <p:cNvCxnSpPr>
            <a:cxnSpLocks/>
          </p:cNvCxnSpPr>
          <p:nvPr/>
        </p:nvCxnSpPr>
        <p:spPr>
          <a:xfrm>
            <a:off x="5854147" y="3876267"/>
            <a:ext cx="0" cy="47707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9287494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949D138E-913A-431E-8B00-A3C853800011}"/>
              </a:ext>
            </a:extLst>
          </p:cNvPr>
          <p:cNvSpPr txBox="1"/>
          <p:nvPr/>
        </p:nvSpPr>
        <p:spPr>
          <a:xfrm>
            <a:off x="11575" y="173433"/>
            <a:ext cx="12192000" cy="6491649"/>
          </a:xfrm>
          <a:prstGeom prst="rect">
            <a:avLst/>
          </a:prstGeom>
          <a:noFill/>
        </p:spPr>
        <p:txBody>
          <a:bodyPr wrap="square">
            <a:spAutoFit/>
          </a:bodyPr>
          <a:lstStyle/>
          <a:p>
            <a:pPr>
              <a:lnSpc>
                <a:spcPct val="107000"/>
              </a:lnSpc>
              <a:spcAft>
                <a:spcPts val="800"/>
              </a:spcAft>
            </a:pPr>
            <a:r>
              <a:rPr lang="en-IN" sz="3200" dirty="0">
                <a:effectLst/>
                <a:latin typeface="Cambria" panose="02040503050406030204" pitchFamily="18" charset="0"/>
                <a:ea typeface="Calibri" panose="020F0502020204030204" pitchFamily="34" charset="0"/>
                <a:cs typeface="Gautami" panose="020B0502040204020203" pitchFamily="34" charset="0"/>
              </a:rPr>
              <a:t>Richie and Riya are participating in a game called "Lucky pairs" at the Annual Game Fair in their Company. As per the rules of the contest, two members form a team and Richie initially has the number A and Riya has the number </a:t>
            </a:r>
            <a:r>
              <a:rPr lang="en-IN" sz="3200" dirty="0" err="1">
                <a:effectLst/>
                <a:latin typeface="Cambria" panose="02040503050406030204" pitchFamily="18" charset="0"/>
                <a:ea typeface="Calibri" panose="020F0502020204030204" pitchFamily="34" charset="0"/>
                <a:cs typeface="Gautami" panose="020B0502040204020203" pitchFamily="34" charset="0"/>
              </a:rPr>
              <a:t>B.There</a:t>
            </a:r>
            <a:r>
              <a:rPr lang="en-IN" sz="3200" dirty="0">
                <a:effectLst/>
                <a:latin typeface="Cambria" panose="02040503050406030204" pitchFamily="18" charset="0"/>
                <a:ea typeface="Calibri" panose="020F0502020204030204" pitchFamily="34" charset="0"/>
                <a:cs typeface="Gautami" panose="020B0502040204020203" pitchFamily="34" charset="0"/>
              </a:rPr>
              <a:t> are a total of N turns in the game, and Richie and Riya alternatively take turns. In each turn the player whose turn it is, multiplies his or her number by 2. Richie has the first turn. Suppose after the entire N turns, Richie’s number has become C and Riya’s number has become D. The final score of the team will be the sum of the scores (C+D) of both the players after N turns.</a:t>
            </a:r>
            <a:endParaRPr lang="en-IN" sz="44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3200" dirty="0">
                <a:effectLst/>
                <a:latin typeface="Cambria" panose="02040503050406030204" pitchFamily="18" charset="0"/>
                <a:ea typeface="Calibri" panose="020F0502020204030204" pitchFamily="34" charset="0"/>
                <a:cs typeface="Gautami" panose="020B0502040204020203" pitchFamily="34" charset="0"/>
              </a:rPr>
              <a:t>Draw an </a:t>
            </a:r>
            <a:r>
              <a:rPr lang="en-IN" sz="3200" dirty="0">
                <a:latin typeface="Cambria" panose="02040503050406030204" pitchFamily="18" charset="0"/>
                <a:ea typeface="Calibri" panose="020F0502020204030204" pitchFamily="34" charset="0"/>
                <a:cs typeface="Gautami" panose="020B0502040204020203" pitchFamily="34" charset="0"/>
              </a:rPr>
              <a:t>flowchart </a:t>
            </a:r>
            <a:r>
              <a:rPr lang="en-IN" sz="3200" dirty="0">
                <a:effectLst/>
                <a:latin typeface="Cambria" panose="02040503050406030204" pitchFamily="18" charset="0"/>
                <a:ea typeface="Calibri" panose="020F0502020204030204" pitchFamily="34" charset="0"/>
                <a:cs typeface="Gautami" panose="020B0502040204020203" pitchFamily="34" charset="0"/>
              </a:rPr>
              <a:t>to facilitate the quiz organizers to find the final scores of the teams.</a:t>
            </a:r>
            <a:endParaRPr lang="en-IN" sz="4400" dirty="0">
              <a:effectLst/>
              <a:latin typeface="Calibri" panose="020F0502020204030204" pitchFamily="34" charset="0"/>
              <a:ea typeface="Calibri" panose="020F0502020204030204" pitchFamily="34" charset="0"/>
              <a:cs typeface="Gautami" panose="020B0502040204020203" pitchFamily="34" charset="0"/>
            </a:endParaRPr>
          </a:p>
        </p:txBody>
      </p:sp>
    </p:spTree>
    <p:extLst>
      <p:ext uri="{BB962C8B-B14F-4D97-AF65-F5344CB8AC3E}">
        <p14:creationId xmlns:p14="http://schemas.microsoft.com/office/powerpoint/2010/main" val="38744504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F475C62-F63F-47E4-9507-2AE781A55757}"/>
              </a:ext>
            </a:extLst>
          </p:cNvPr>
          <p:cNvSpPr txBox="1"/>
          <p:nvPr/>
        </p:nvSpPr>
        <p:spPr>
          <a:xfrm>
            <a:off x="178904" y="327991"/>
            <a:ext cx="10704444" cy="5961055"/>
          </a:xfrm>
          <a:prstGeom prst="rect">
            <a:avLst/>
          </a:prstGeom>
          <a:noFill/>
        </p:spPr>
        <p:txBody>
          <a:bodyPr wrap="square">
            <a:spAutoFit/>
          </a:bodyPr>
          <a:lstStyle/>
          <a:p>
            <a:pPr>
              <a:lnSpc>
                <a:spcPct val="107000"/>
              </a:lnSpc>
              <a:spcAft>
                <a:spcPts val="800"/>
              </a:spcAft>
            </a:pPr>
            <a:r>
              <a:rPr lang="en-IN" sz="2800" dirty="0">
                <a:effectLst/>
                <a:latin typeface="Cambria" panose="02040503050406030204" pitchFamily="18" charset="0"/>
                <a:ea typeface="Calibri" panose="020F0502020204030204" pitchFamily="34" charset="0"/>
                <a:cs typeface="Gautami" panose="020B0502040204020203" pitchFamily="34" charset="0"/>
              </a:rPr>
              <a:t>Input Format:</a:t>
            </a:r>
            <a:endParaRPr lang="en-IN" sz="40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800" dirty="0">
                <a:effectLst/>
                <a:latin typeface="Cambria" panose="02040503050406030204" pitchFamily="18" charset="0"/>
                <a:ea typeface="Calibri" panose="020F0502020204030204" pitchFamily="34" charset="0"/>
                <a:cs typeface="Gautami" panose="020B0502040204020203" pitchFamily="34" charset="0"/>
              </a:rPr>
              <a:t>The only line of input contains 3 integers A, B, and N.</a:t>
            </a:r>
            <a:endParaRPr lang="en-IN" sz="40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800" dirty="0">
                <a:effectLst/>
                <a:latin typeface="Cambria" panose="02040503050406030204" pitchFamily="18" charset="0"/>
                <a:ea typeface="Calibri" panose="020F0502020204030204" pitchFamily="34" charset="0"/>
                <a:cs typeface="Gautami" panose="020B0502040204020203" pitchFamily="34" charset="0"/>
              </a:rPr>
              <a:t>Output Format:</a:t>
            </a:r>
            <a:endParaRPr lang="en-IN" sz="40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800" dirty="0">
                <a:effectLst/>
                <a:latin typeface="Cambria" panose="02040503050406030204" pitchFamily="18" charset="0"/>
                <a:ea typeface="Calibri" panose="020F0502020204030204" pitchFamily="34" charset="0"/>
                <a:cs typeface="Gautami" panose="020B0502040204020203" pitchFamily="34" charset="0"/>
              </a:rPr>
              <a:t>Output a single line which contains the integer that gives the final score of the team which will be the sum of the scores of both the players after N turns.</a:t>
            </a:r>
            <a:endParaRPr lang="en-IN" sz="40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800" dirty="0">
                <a:effectLst/>
                <a:latin typeface="Cambria" panose="02040503050406030204" pitchFamily="18" charset="0"/>
                <a:ea typeface="Calibri" panose="020F0502020204030204" pitchFamily="34" charset="0"/>
                <a:cs typeface="Gautami" panose="020B0502040204020203" pitchFamily="34" charset="0"/>
              </a:rPr>
              <a:t>Refer sample input and output for formatting specifications.</a:t>
            </a:r>
            <a:endParaRPr lang="en-IN" sz="40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800" dirty="0">
                <a:effectLst/>
                <a:latin typeface="Cambria" panose="02040503050406030204" pitchFamily="18" charset="0"/>
                <a:ea typeface="Calibri" panose="020F0502020204030204" pitchFamily="34" charset="0"/>
                <a:cs typeface="Gautami" panose="020B0502040204020203" pitchFamily="34" charset="0"/>
              </a:rPr>
              <a:t>Sample Input 1:</a:t>
            </a:r>
            <a:endParaRPr lang="en-IN" sz="40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800" dirty="0">
                <a:effectLst/>
                <a:latin typeface="Cambria" panose="02040503050406030204" pitchFamily="18" charset="0"/>
                <a:ea typeface="Calibri" panose="020F0502020204030204" pitchFamily="34" charset="0"/>
                <a:cs typeface="Gautami" panose="020B0502040204020203" pitchFamily="34" charset="0"/>
              </a:rPr>
              <a:t>1 2 1</a:t>
            </a:r>
            <a:endParaRPr lang="en-IN" sz="40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800" dirty="0">
                <a:effectLst/>
                <a:latin typeface="Cambria" panose="02040503050406030204" pitchFamily="18" charset="0"/>
                <a:ea typeface="Calibri" panose="020F0502020204030204" pitchFamily="34" charset="0"/>
                <a:cs typeface="Gautami" panose="020B0502040204020203" pitchFamily="34" charset="0"/>
              </a:rPr>
              <a:t>Sample Output 1:</a:t>
            </a:r>
            <a:endParaRPr lang="en-IN" sz="40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800" dirty="0">
                <a:effectLst/>
                <a:latin typeface="Cambria" panose="02040503050406030204" pitchFamily="18" charset="0"/>
                <a:ea typeface="Calibri" panose="020F0502020204030204" pitchFamily="34" charset="0"/>
                <a:cs typeface="Gautami" panose="020B0502040204020203" pitchFamily="34" charset="0"/>
              </a:rPr>
              <a:t>4	</a:t>
            </a:r>
            <a:endParaRPr lang="en-IN" sz="4000" dirty="0">
              <a:effectLst/>
              <a:latin typeface="Calibri" panose="020F0502020204030204" pitchFamily="34" charset="0"/>
              <a:ea typeface="Calibri" panose="020F0502020204030204" pitchFamily="34" charset="0"/>
              <a:cs typeface="Gautami" panose="020B0502040204020203" pitchFamily="34" charset="0"/>
            </a:endParaRPr>
          </a:p>
        </p:txBody>
      </p:sp>
    </p:spTree>
    <p:extLst>
      <p:ext uri="{BB962C8B-B14F-4D97-AF65-F5344CB8AC3E}">
        <p14:creationId xmlns:p14="http://schemas.microsoft.com/office/powerpoint/2010/main" val="23979235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7478366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EBFE56F-066A-4B68-B555-E0DDABE05520}"/>
              </a:ext>
            </a:extLst>
          </p:cNvPr>
          <p:cNvSpPr txBox="1"/>
          <p:nvPr/>
        </p:nvSpPr>
        <p:spPr>
          <a:xfrm>
            <a:off x="0" y="255663"/>
            <a:ext cx="12192000" cy="6723251"/>
          </a:xfrm>
          <a:prstGeom prst="rect">
            <a:avLst/>
          </a:prstGeom>
          <a:noFill/>
        </p:spPr>
        <p:txBody>
          <a:bodyPr wrap="square">
            <a:spAutoFit/>
          </a:bodyPr>
          <a:lstStyle/>
          <a:p>
            <a:pPr>
              <a:lnSpc>
                <a:spcPct val="107000"/>
              </a:lnSpc>
              <a:spcAft>
                <a:spcPts val="800"/>
              </a:spcAft>
            </a:pPr>
            <a:r>
              <a:rPr lang="en-IN" sz="3200" dirty="0">
                <a:effectLst/>
                <a:latin typeface="Cambria" panose="02040503050406030204" pitchFamily="18" charset="0"/>
                <a:ea typeface="Calibri" panose="020F0502020204030204" pitchFamily="34" charset="0"/>
                <a:cs typeface="Gautami" panose="020B0502040204020203" pitchFamily="34" charset="0"/>
              </a:rPr>
              <a:t>Super Quiz Bee is a famous quiz Competition that tests students on a wide variety of academic subjects. This week’s competition was a Team event and students who register for the event will be given a unique registration code N. The participants are teamed into 10 teams and the team to which a participant is assigned to depends on the absolute difference between the first and last digit in the registration code.</a:t>
            </a:r>
            <a:endParaRPr lang="en-IN" sz="44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3200" dirty="0">
                <a:effectLst/>
                <a:latin typeface="Cambria" panose="02040503050406030204" pitchFamily="18" charset="0"/>
                <a:ea typeface="Calibri" panose="020F0502020204030204" pitchFamily="34" charset="0"/>
                <a:cs typeface="Gautami" panose="020B0502040204020203" pitchFamily="34" charset="0"/>
              </a:rPr>
              <a:t>The event organizers wanted your help in writing an automated program that will ease their job of assigning teams to the participants. If the registration number given is less than 10, then the program should display "Invalid Input".</a:t>
            </a:r>
            <a:endParaRPr lang="en-IN" sz="44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endParaRPr lang="en-IN" sz="4400" dirty="0">
              <a:effectLst/>
              <a:latin typeface="Calibri" panose="020F0502020204030204" pitchFamily="34" charset="0"/>
              <a:ea typeface="Calibri" panose="020F0502020204030204" pitchFamily="34" charset="0"/>
              <a:cs typeface="Gautami" panose="020B0502040204020203" pitchFamily="34" charset="0"/>
            </a:endParaRPr>
          </a:p>
        </p:txBody>
      </p:sp>
    </p:spTree>
    <p:extLst>
      <p:ext uri="{BB962C8B-B14F-4D97-AF65-F5344CB8AC3E}">
        <p14:creationId xmlns:p14="http://schemas.microsoft.com/office/powerpoint/2010/main" val="6348871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A7CF43F-E448-459B-9A19-EB48FE9F9D36}"/>
              </a:ext>
            </a:extLst>
          </p:cNvPr>
          <p:cNvSpPr txBox="1"/>
          <p:nvPr/>
        </p:nvSpPr>
        <p:spPr>
          <a:xfrm>
            <a:off x="576470" y="586409"/>
            <a:ext cx="8570014" cy="5840381"/>
          </a:xfrm>
          <a:prstGeom prst="rect">
            <a:avLst/>
          </a:prstGeom>
          <a:noFill/>
        </p:spPr>
        <p:txBody>
          <a:bodyPr wrap="square">
            <a:spAutoFit/>
          </a:bodyPr>
          <a:lstStyle/>
          <a:p>
            <a:pPr>
              <a:lnSpc>
                <a:spcPct val="107000"/>
              </a:lnSpc>
              <a:spcAft>
                <a:spcPts val="800"/>
              </a:spcAft>
            </a:pPr>
            <a:r>
              <a:rPr lang="en-IN" sz="2400" dirty="0">
                <a:effectLst/>
                <a:latin typeface="Cambria" panose="02040503050406030204" pitchFamily="18" charset="0"/>
                <a:ea typeface="Calibri" panose="020F0502020204030204" pitchFamily="34" charset="0"/>
                <a:cs typeface="Gautami" panose="020B0502040204020203" pitchFamily="34" charset="0"/>
              </a:rPr>
              <a:t>Input Format:</a:t>
            </a:r>
            <a:endParaRPr lang="en-IN" sz="36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400" dirty="0">
                <a:effectLst/>
                <a:latin typeface="Cambria" panose="02040503050406030204" pitchFamily="18" charset="0"/>
                <a:ea typeface="Calibri" panose="020F0502020204030204" pitchFamily="34" charset="0"/>
                <a:cs typeface="Gautami" panose="020B0502040204020203" pitchFamily="34" charset="0"/>
              </a:rPr>
              <a:t>The only line of input contains an integer N. </a:t>
            </a:r>
            <a:endParaRPr lang="en-IN" sz="36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400" dirty="0">
                <a:effectLst/>
                <a:latin typeface="Cambria" panose="02040503050406030204" pitchFamily="18" charset="0"/>
                <a:ea typeface="Calibri" panose="020F0502020204030204" pitchFamily="34" charset="0"/>
                <a:cs typeface="Gautami" panose="020B0502040204020203" pitchFamily="34" charset="0"/>
              </a:rPr>
              <a:t>Output Format:</a:t>
            </a:r>
            <a:endParaRPr lang="en-IN" sz="36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400" dirty="0">
                <a:effectLst/>
                <a:latin typeface="Cambria" panose="02040503050406030204" pitchFamily="18" charset="0"/>
                <a:ea typeface="Calibri" panose="020F0502020204030204" pitchFamily="34" charset="0"/>
                <a:cs typeface="Gautami" panose="020B0502040204020203" pitchFamily="34" charset="0"/>
              </a:rPr>
              <a:t>Output the absolute difference between the first and last digit of N.</a:t>
            </a:r>
            <a:endParaRPr lang="en-IN" sz="36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400" dirty="0">
                <a:effectLst/>
                <a:latin typeface="Cambria" panose="02040503050406030204" pitchFamily="18" charset="0"/>
                <a:ea typeface="Calibri" panose="020F0502020204030204" pitchFamily="34" charset="0"/>
                <a:cs typeface="Gautami" panose="020B0502040204020203" pitchFamily="34" charset="0"/>
              </a:rPr>
              <a:t>Refer sample input and output for formatting specifications.</a:t>
            </a:r>
            <a:endParaRPr lang="en-IN" sz="36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400" dirty="0">
                <a:effectLst/>
                <a:latin typeface="Cambria" panose="02040503050406030204" pitchFamily="18" charset="0"/>
                <a:ea typeface="Calibri" panose="020F0502020204030204" pitchFamily="34" charset="0"/>
                <a:cs typeface="Gautami" panose="020B0502040204020203" pitchFamily="34" charset="0"/>
              </a:rPr>
              <a:t>Sample Input 1:</a:t>
            </a:r>
            <a:endParaRPr lang="en-IN" sz="36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400" dirty="0">
                <a:effectLst/>
                <a:latin typeface="Cambria" panose="02040503050406030204" pitchFamily="18" charset="0"/>
                <a:ea typeface="Calibri" panose="020F0502020204030204" pitchFamily="34" charset="0"/>
                <a:cs typeface="Gautami" panose="020B0502040204020203" pitchFamily="34" charset="0"/>
              </a:rPr>
              <a:t>345</a:t>
            </a:r>
            <a:endParaRPr lang="en-IN" sz="36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400" dirty="0">
                <a:effectLst/>
                <a:latin typeface="Cambria" panose="02040503050406030204" pitchFamily="18" charset="0"/>
                <a:ea typeface="Calibri" panose="020F0502020204030204" pitchFamily="34" charset="0"/>
                <a:cs typeface="Gautami" panose="020B0502040204020203" pitchFamily="34" charset="0"/>
              </a:rPr>
              <a:t>Sample Output 1:</a:t>
            </a:r>
            <a:endParaRPr lang="en-IN" sz="36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400" dirty="0">
                <a:effectLst/>
                <a:latin typeface="Cambria" panose="02040503050406030204" pitchFamily="18" charset="0"/>
                <a:ea typeface="Calibri" panose="020F0502020204030204" pitchFamily="34" charset="0"/>
                <a:cs typeface="Gautami" panose="020B0502040204020203" pitchFamily="34" charset="0"/>
              </a:rPr>
              <a:t>2</a:t>
            </a:r>
            <a:endParaRPr lang="en-IN" sz="36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400" dirty="0">
                <a:effectLst/>
                <a:latin typeface="Cambria" panose="02040503050406030204" pitchFamily="18" charset="0"/>
                <a:ea typeface="Calibri" panose="020F0502020204030204" pitchFamily="34" charset="0"/>
                <a:cs typeface="Gautami" panose="020B0502040204020203" pitchFamily="34" charset="0"/>
              </a:rPr>
              <a:t>25468</a:t>
            </a:r>
            <a:endParaRPr lang="en-IN" sz="36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400" dirty="0">
                <a:effectLst/>
                <a:latin typeface="Cambria" panose="02040503050406030204" pitchFamily="18" charset="0"/>
                <a:ea typeface="Calibri" panose="020F0502020204030204" pitchFamily="34" charset="0"/>
                <a:cs typeface="Gautami" panose="020B0502040204020203" pitchFamily="34" charset="0"/>
              </a:rPr>
              <a:t>6</a:t>
            </a:r>
            <a:endParaRPr lang="en-IN" sz="2400" dirty="0"/>
          </a:p>
        </p:txBody>
      </p:sp>
    </p:spTree>
    <p:extLst>
      <p:ext uri="{BB962C8B-B14F-4D97-AF65-F5344CB8AC3E}">
        <p14:creationId xmlns:p14="http://schemas.microsoft.com/office/powerpoint/2010/main" val="3606729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556894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8FB822B-FFD3-46C3-918D-58A881DF5E3D}"/>
              </a:ext>
            </a:extLst>
          </p:cNvPr>
          <p:cNvSpPr txBox="1"/>
          <p:nvPr/>
        </p:nvSpPr>
        <p:spPr>
          <a:xfrm>
            <a:off x="0" y="731520"/>
            <a:ext cx="12192000" cy="4383892"/>
          </a:xfrm>
          <a:prstGeom prst="rect">
            <a:avLst/>
          </a:prstGeom>
          <a:noFill/>
        </p:spPr>
        <p:txBody>
          <a:bodyPr wrap="square">
            <a:spAutoFit/>
          </a:bodyPr>
          <a:lstStyle/>
          <a:p>
            <a:pPr>
              <a:lnSpc>
                <a:spcPct val="107000"/>
              </a:lnSpc>
              <a:spcAft>
                <a:spcPts val="800"/>
              </a:spcAft>
            </a:pPr>
            <a:r>
              <a:rPr lang="en-IN" sz="3200" dirty="0" err="1">
                <a:effectLst/>
                <a:latin typeface="Cambria" panose="02040503050406030204" pitchFamily="18" charset="0"/>
                <a:ea typeface="Calibri" panose="020F0502020204030204" pitchFamily="34" charset="0"/>
                <a:cs typeface="Gautami" panose="020B0502040204020203" pitchFamily="34" charset="0"/>
              </a:rPr>
              <a:t>Collatz</a:t>
            </a:r>
            <a:r>
              <a:rPr lang="en-IN" sz="3200" dirty="0">
                <a:effectLst/>
                <a:latin typeface="Cambria" panose="02040503050406030204" pitchFamily="18" charset="0"/>
                <a:ea typeface="Calibri" panose="020F0502020204030204" pitchFamily="34" charset="0"/>
                <a:cs typeface="Gautami" panose="020B0502040204020203" pitchFamily="34" charset="0"/>
              </a:rPr>
              <a:t> problem</a:t>
            </a:r>
            <a:endParaRPr lang="en-IN" sz="44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3200" dirty="0">
                <a:effectLst/>
                <a:latin typeface="Cambria" panose="02040503050406030204" pitchFamily="18" charset="0"/>
                <a:ea typeface="Calibri" panose="020F0502020204030204" pitchFamily="34" charset="0"/>
                <a:cs typeface="Gautami" panose="020B0502040204020203" pitchFamily="34" charset="0"/>
              </a:rPr>
              <a:t>Phoebe </a:t>
            </a:r>
            <a:r>
              <a:rPr lang="en-IN" sz="3200" dirty="0" err="1">
                <a:effectLst/>
                <a:latin typeface="Cambria" panose="02040503050406030204" pitchFamily="18" charset="0"/>
                <a:ea typeface="Calibri" panose="020F0502020204030204" pitchFamily="34" charset="0"/>
                <a:cs typeface="Gautami" panose="020B0502040204020203" pitchFamily="34" charset="0"/>
              </a:rPr>
              <a:t>Buffay</a:t>
            </a:r>
            <a:r>
              <a:rPr lang="en-IN" sz="3200" dirty="0">
                <a:effectLst/>
                <a:latin typeface="Cambria" panose="02040503050406030204" pitchFamily="18" charset="0"/>
                <a:ea typeface="Calibri" panose="020F0502020204030204" pitchFamily="34" charset="0"/>
                <a:cs typeface="Gautami" panose="020B0502040204020203" pitchFamily="34" charset="0"/>
              </a:rPr>
              <a:t> started working for Chandler Bing and he wanted her to write a C program to generate </a:t>
            </a:r>
            <a:r>
              <a:rPr lang="en-IN" sz="3200" dirty="0" err="1">
                <a:effectLst/>
                <a:latin typeface="Cambria" panose="02040503050406030204" pitchFamily="18" charset="0"/>
                <a:ea typeface="Calibri" panose="020F0502020204030204" pitchFamily="34" charset="0"/>
                <a:cs typeface="Gautami" panose="020B0502040204020203" pitchFamily="34" charset="0"/>
              </a:rPr>
              <a:t>Collatz</a:t>
            </a:r>
            <a:r>
              <a:rPr lang="en-IN" sz="3200" dirty="0">
                <a:effectLst/>
                <a:latin typeface="Cambria" panose="02040503050406030204" pitchFamily="18" charset="0"/>
                <a:ea typeface="Calibri" panose="020F0502020204030204" pitchFamily="34" charset="0"/>
                <a:cs typeface="Gautami" panose="020B0502040204020203" pitchFamily="34" charset="0"/>
              </a:rPr>
              <a:t> </a:t>
            </a:r>
            <a:r>
              <a:rPr lang="en-IN" sz="3200" dirty="0" err="1">
                <a:effectLst/>
                <a:latin typeface="Cambria" panose="02040503050406030204" pitchFamily="18" charset="0"/>
                <a:ea typeface="Calibri" panose="020F0502020204030204" pitchFamily="34" charset="0"/>
                <a:cs typeface="Gautami" panose="020B0502040204020203" pitchFamily="34" charset="0"/>
              </a:rPr>
              <a:t>Sequence.The</a:t>
            </a:r>
            <a:r>
              <a:rPr lang="en-IN" sz="3200" dirty="0">
                <a:effectLst/>
                <a:latin typeface="Cambria" panose="02040503050406030204" pitchFamily="18" charset="0"/>
                <a:ea typeface="Calibri" panose="020F0502020204030204" pitchFamily="34" charset="0"/>
                <a:cs typeface="Gautami" panose="020B0502040204020203" pitchFamily="34" charset="0"/>
              </a:rPr>
              <a:t> rules for generating </a:t>
            </a:r>
            <a:r>
              <a:rPr lang="en-IN" sz="3200" dirty="0" err="1">
                <a:effectLst/>
                <a:latin typeface="Cambria" panose="02040503050406030204" pitchFamily="18" charset="0"/>
                <a:ea typeface="Calibri" panose="020F0502020204030204" pitchFamily="34" charset="0"/>
                <a:cs typeface="Gautami" panose="020B0502040204020203" pitchFamily="34" charset="0"/>
              </a:rPr>
              <a:t>Collatz</a:t>
            </a:r>
            <a:r>
              <a:rPr lang="en-IN" sz="3200" dirty="0">
                <a:effectLst/>
                <a:latin typeface="Cambria" panose="02040503050406030204" pitchFamily="18" charset="0"/>
                <a:ea typeface="Calibri" panose="020F0502020204030204" pitchFamily="34" charset="0"/>
                <a:cs typeface="Gautami" panose="020B0502040204020203" pitchFamily="34" charset="0"/>
              </a:rPr>
              <a:t> sequence are: If n is even: n = n / 2 If n is odd: n = 3n + 1 For example, if the starting number is 5 the sequence is: 5 -&gt; 16 -&gt; 8 -&gt; 4 -&gt; 2 -&gt; 1 It has been proved for almost all integers, that the repeated application of the above rule will result in a sequence that ends in 1.</a:t>
            </a:r>
            <a:endParaRPr lang="en-IN" sz="4400" dirty="0">
              <a:effectLst/>
              <a:latin typeface="Calibri" panose="020F0502020204030204" pitchFamily="34" charset="0"/>
              <a:ea typeface="Calibri" panose="020F0502020204030204" pitchFamily="34" charset="0"/>
              <a:cs typeface="Gautami" panose="020B0502040204020203" pitchFamily="34" charset="0"/>
            </a:endParaRPr>
          </a:p>
        </p:txBody>
      </p:sp>
    </p:spTree>
    <p:extLst>
      <p:ext uri="{BB962C8B-B14F-4D97-AF65-F5344CB8AC3E}">
        <p14:creationId xmlns:p14="http://schemas.microsoft.com/office/powerpoint/2010/main" val="22848992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9E48005-CFDB-483D-AE48-51F297DA1656}"/>
              </a:ext>
            </a:extLst>
          </p:cNvPr>
          <p:cNvSpPr txBox="1"/>
          <p:nvPr/>
        </p:nvSpPr>
        <p:spPr>
          <a:xfrm>
            <a:off x="556591" y="606287"/>
            <a:ext cx="10704444" cy="5025478"/>
          </a:xfrm>
          <a:prstGeom prst="rect">
            <a:avLst/>
          </a:prstGeom>
          <a:noFill/>
        </p:spPr>
        <p:txBody>
          <a:bodyPr wrap="square">
            <a:spAutoFit/>
          </a:bodyPr>
          <a:lstStyle/>
          <a:p>
            <a:pPr>
              <a:lnSpc>
                <a:spcPct val="107000"/>
              </a:lnSpc>
              <a:spcAft>
                <a:spcPts val="800"/>
              </a:spcAft>
            </a:pPr>
            <a:r>
              <a:rPr lang="en-IN" sz="2800" dirty="0">
                <a:effectLst/>
                <a:latin typeface="Cambria" panose="02040503050406030204" pitchFamily="18" charset="0"/>
                <a:ea typeface="Calibri" panose="020F0502020204030204" pitchFamily="34" charset="0"/>
                <a:cs typeface="Gautami" panose="020B0502040204020203" pitchFamily="34" charset="0"/>
              </a:rPr>
              <a:t>INPUT &amp; OUTPUT FORMAT:</a:t>
            </a:r>
            <a:endParaRPr lang="en-IN" sz="40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800" dirty="0">
                <a:effectLst/>
                <a:latin typeface="Cambria" panose="02040503050406030204" pitchFamily="18" charset="0"/>
                <a:ea typeface="Calibri" panose="020F0502020204030204" pitchFamily="34" charset="0"/>
                <a:cs typeface="Gautami" panose="020B0502040204020203" pitchFamily="34" charset="0"/>
              </a:rPr>
              <a:t>The input is an integer 'n' which denotes the first term of the sequence.</a:t>
            </a:r>
            <a:endParaRPr lang="en-IN" sz="40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800" dirty="0">
                <a:effectLst/>
                <a:latin typeface="Cambria" panose="02040503050406030204" pitchFamily="18" charset="0"/>
                <a:ea typeface="Calibri" panose="020F0502020204030204" pitchFamily="34" charset="0"/>
                <a:cs typeface="Gautami" panose="020B0502040204020203" pitchFamily="34" charset="0"/>
              </a:rPr>
              <a:t>As output, print the numbers in the sequence and also print the number of times the rule has to be applied in order to reach 1.</a:t>
            </a:r>
            <a:endParaRPr lang="en-IN" sz="40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800" dirty="0">
                <a:effectLst/>
                <a:latin typeface="Cambria" panose="02040503050406030204" pitchFamily="18" charset="0"/>
                <a:ea typeface="Calibri" panose="020F0502020204030204" pitchFamily="34" charset="0"/>
                <a:cs typeface="Gautami" panose="020B0502040204020203" pitchFamily="34" charset="0"/>
              </a:rPr>
              <a:t>SAMPLE INPUT:</a:t>
            </a:r>
            <a:endParaRPr lang="en-IN" sz="40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800" dirty="0">
                <a:effectLst/>
                <a:latin typeface="Cambria" panose="02040503050406030204" pitchFamily="18" charset="0"/>
                <a:ea typeface="Calibri" panose="020F0502020204030204" pitchFamily="34" charset="0"/>
                <a:cs typeface="Gautami" panose="020B0502040204020203" pitchFamily="34" charset="0"/>
              </a:rPr>
              <a:t>5</a:t>
            </a:r>
            <a:endParaRPr lang="en-IN" sz="40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800" dirty="0">
                <a:effectLst/>
                <a:latin typeface="Cambria" panose="02040503050406030204" pitchFamily="18" charset="0"/>
                <a:ea typeface="Calibri" panose="020F0502020204030204" pitchFamily="34" charset="0"/>
                <a:cs typeface="Gautami" panose="020B0502040204020203" pitchFamily="34" charset="0"/>
              </a:rPr>
              <a:t>SAMPLE OUTPUT:</a:t>
            </a:r>
            <a:endParaRPr lang="en-IN" sz="40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IN" sz="2800" dirty="0">
                <a:effectLst/>
                <a:latin typeface="Cambria" panose="02040503050406030204" pitchFamily="18" charset="0"/>
                <a:ea typeface="Calibri" panose="020F0502020204030204" pitchFamily="34" charset="0"/>
                <a:cs typeface="Gautami" panose="020B0502040204020203" pitchFamily="34" charset="0"/>
              </a:rPr>
              <a:t>5</a:t>
            </a:r>
            <a:r>
              <a:rPr lang="en-IN" sz="4000" dirty="0">
                <a:latin typeface="Calibri" panose="020F0502020204030204" pitchFamily="34" charset="0"/>
                <a:ea typeface="Calibri" panose="020F0502020204030204" pitchFamily="34" charset="0"/>
                <a:cs typeface="Gautami" panose="020B0502040204020203" pitchFamily="34" charset="0"/>
              </a:rPr>
              <a:t> </a:t>
            </a:r>
            <a:r>
              <a:rPr lang="en-IN" sz="2800" dirty="0">
                <a:effectLst/>
                <a:latin typeface="Cambria" panose="02040503050406030204" pitchFamily="18" charset="0"/>
                <a:ea typeface="Calibri" panose="020F0502020204030204" pitchFamily="34" charset="0"/>
                <a:cs typeface="Gautami" panose="020B0502040204020203" pitchFamily="34" charset="0"/>
              </a:rPr>
              <a:t>16</a:t>
            </a:r>
            <a:r>
              <a:rPr lang="en-IN" sz="4000" dirty="0">
                <a:latin typeface="Calibri" panose="020F0502020204030204" pitchFamily="34" charset="0"/>
                <a:ea typeface="Calibri" panose="020F0502020204030204" pitchFamily="34" charset="0"/>
                <a:cs typeface="Gautami" panose="020B0502040204020203" pitchFamily="34" charset="0"/>
              </a:rPr>
              <a:t> </a:t>
            </a:r>
            <a:r>
              <a:rPr lang="en-IN" sz="2800" dirty="0">
                <a:effectLst/>
                <a:latin typeface="Cambria" panose="02040503050406030204" pitchFamily="18" charset="0"/>
                <a:ea typeface="Calibri" panose="020F0502020204030204" pitchFamily="34" charset="0"/>
                <a:cs typeface="Gautami" panose="020B0502040204020203" pitchFamily="34" charset="0"/>
              </a:rPr>
              <a:t>8</a:t>
            </a:r>
            <a:r>
              <a:rPr lang="en-IN" sz="4000" dirty="0">
                <a:latin typeface="Calibri" panose="020F0502020204030204" pitchFamily="34" charset="0"/>
                <a:ea typeface="Calibri" panose="020F0502020204030204" pitchFamily="34" charset="0"/>
                <a:cs typeface="Gautami" panose="020B0502040204020203" pitchFamily="34" charset="0"/>
              </a:rPr>
              <a:t> </a:t>
            </a:r>
            <a:r>
              <a:rPr lang="en-IN" sz="2800" dirty="0">
                <a:effectLst/>
                <a:latin typeface="Cambria" panose="02040503050406030204" pitchFamily="18" charset="0"/>
                <a:ea typeface="Calibri" panose="020F0502020204030204" pitchFamily="34" charset="0"/>
                <a:cs typeface="Gautami" panose="020B0502040204020203" pitchFamily="34" charset="0"/>
              </a:rPr>
              <a:t>4</a:t>
            </a:r>
            <a:r>
              <a:rPr lang="en-IN" sz="4000" dirty="0">
                <a:latin typeface="Calibri" panose="020F0502020204030204" pitchFamily="34" charset="0"/>
                <a:ea typeface="Calibri" panose="020F0502020204030204" pitchFamily="34" charset="0"/>
                <a:cs typeface="Gautami" panose="020B0502040204020203" pitchFamily="34" charset="0"/>
              </a:rPr>
              <a:t> </a:t>
            </a:r>
            <a:r>
              <a:rPr lang="en-IN" sz="2800" dirty="0">
                <a:effectLst/>
                <a:latin typeface="Cambria" panose="02040503050406030204" pitchFamily="18" charset="0"/>
                <a:ea typeface="Calibri" panose="020F0502020204030204" pitchFamily="34" charset="0"/>
                <a:cs typeface="Gautami" panose="020B0502040204020203" pitchFamily="34" charset="0"/>
              </a:rPr>
              <a:t>2</a:t>
            </a:r>
            <a:r>
              <a:rPr lang="en-IN" sz="4000" dirty="0">
                <a:latin typeface="Calibri" panose="020F0502020204030204" pitchFamily="34" charset="0"/>
                <a:ea typeface="Calibri" panose="020F0502020204030204" pitchFamily="34" charset="0"/>
                <a:cs typeface="Gautami" panose="020B0502040204020203" pitchFamily="34" charset="0"/>
              </a:rPr>
              <a:t> </a:t>
            </a:r>
            <a:r>
              <a:rPr lang="en-IN" sz="2800" dirty="0">
                <a:effectLst/>
                <a:latin typeface="Cambria" panose="02040503050406030204" pitchFamily="18" charset="0"/>
                <a:ea typeface="Calibri" panose="020F0502020204030204" pitchFamily="34" charset="0"/>
                <a:cs typeface="Gautami" panose="020B0502040204020203" pitchFamily="34" charset="0"/>
              </a:rPr>
              <a:t>1</a:t>
            </a:r>
            <a:r>
              <a:rPr lang="en-IN" sz="4000" dirty="0">
                <a:latin typeface="Calibri" panose="020F0502020204030204" pitchFamily="34" charset="0"/>
                <a:ea typeface="Calibri" panose="020F0502020204030204" pitchFamily="34" charset="0"/>
                <a:cs typeface="Gautami" panose="020B0502040204020203" pitchFamily="34" charset="0"/>
              </a:rPr>
              <a:t> </a:t>
            </a:r>
            <a:r>
              <a:rPr lang="en-IN" sz="2800" dirty="0">
                <a:effectLst/>
                <a:latin typeface="Cambria" panose="02040503050406030204" pitchFamily="18" charset="0"/>
                <a:ea typeface="Calibri" panose="020F0502020204030204" pitchFamily="34" charset="0"/>
                <a:cs typeface="Gautami" panose="020B0502040204020203" pitchFamily="34" charset="0"/>
              </a:rPr>
              <a:t>5</a:t>
            </a:r>
            <a:endParaRPr lang="en-IN" sz="4000" dirty="0">
              <a:effectLst/>
              <a:latin typeface="Calibri" panose="020F0502020204030204" pitchFamily="34" charset="0"/>
              <a:ea typeface="Calibri" panose="020F0502020204030204" pitchFamily="34" charset="0"/>
              <a:cs typeface="Gautami" panose="020B0502040204020203" pitchFamily="34" charset="0"/>
            </a:endParaRPr>
          </a:p>
        </p:txBody>
      </p:sp>
    </p:spTree>
    <p:extLst>
      <p:ext uri="{BB962C8B-B14F-4D97-AF65-F5344CB8AC3E}">
        <p14:creationId xmlns:p14="http://schemas.microsoft.com/office/powerpoint/2010/main" val="28417951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862056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5034601-C03F-4DB1-A977-D2234E7E122D}"/>
              </a:ext>
            </a:extLst>
          </p:cNvPr>
          <p:cNvSpPr txBox="1"/>
          <p:nvPr/>
        </p:nvSpPr>
        <p:spPr>
          <a:xfrm>
            <a:off x="278295" y="248478"/>
            <a:ext cx="10893287" cy="6235553"/>
          </a:xfrm>
          <a:prstGeom prst="rect">
            <a:avLst/>
          </a:prstGeom>
          <a:noFill/>
        </p:spPr>
        <p:txBody>
          <a:bodyPr wrap="square">
            <a:spAutoFit/>
          </a:bodyPr>
          <a:lstStyle/>
          <a:p>
            <a:pPr>
              <a:lnSpc>
                <a:spcPct val="107000"/>
              </a:lnSpc>
              <a:spcAft>
                <a:spcPts val="800"/>
              </a:spcAft>
            </a:pPr>
            <a:r>
              <a:rPr lang="en-US" sz="2400" dirty="0">
                <a:effectLst/>
                <a:latin typeface="Cambria" panose="02040503050406030204" pitchFamily="18" charset="0"/>
                <a:ea typeface="Calibri" panose="020F0502020204030204" pitchFamily="34" charset="0"/>
                <a:cs typeface="Gautami" panose="020B0502040204020203" pitchFamily="34" charset="0"/>
              </a:rPr>
              <a:t>Ugly numbers are numbers whose only prime factors are 2, 3 or 5. The sequence 1, 2, 3, 4, 5, 6, 8, 9, 10, 12, 14, 15, … shows the first 12 ugly numbers. By convention, 1 is included.</a:t>
            </a:r>
            <a:endParaRPr lang="en-IN" sz="20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US" sz="2400" dirty="0">
                <a:effectLst/>
                <a:latin typeface="Cambria" panose="02040503050406030204" pitchFamily="18" charset="0"/>
                <a:ea typeface="Calibri" panose="020F0502020204030204" pitchFamily="34" charset="0"/>
                <a:cs typeface="Gautami" panose="020B0502040204020203" pitchFamily="34" charset="0"/>
              </a:rPr>
              <a:t>Given a number n, the task is to find </a:t>
            </a:r>
            <a:r>
              <a:rPr lang="en-US" sz="2400" dirty="0" err="1">
                <a:effectLst/>
                <a:latin typeface="Cambria" panose="02040503050406030204" pitchFamily="18" charset="0"/>
                <a:ea typeface="Calibri" panose="020F0502020204030204" pitchFamily="34" charset="0"/>
                <a:cs typeface="Gautami" panose="020B0502040204020203" pitchFamily="34" charset="0"/>
              </a:rPr>
              <a:t>n’th</a:t>
            </a:r>
            <a:r>
              <a:rPr lang="en-US" sz="2400" dirty="0">
                <a:effectLst/>
                <a:latin typeface="Cambria" panose="02040503050406030204" pitchFamily="18" charset="0"/>
                <a:ea typeface="Calibri" panose="020F0502020204030204" pitchFamily="34" charset="0"/>
                <a:cs typeface="Gautami" panose="020B0502040204020203" pitchFamily="34" charset="0"/>
              </a:rPr>
              <a:t> Ugly number.</a:t>
            </a:r>
            <a:endParaRPr lang="en-IN" sz="20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US" sz="2400" b="1" dirty="0">
                <a:effectLst/>
                <a:latin typeface="Cambria" panose="02040503050406030204" pitchFamily="18" charset="0"/>
                <a:ea typeface="Calibri" panose="020F0502020204030204" pitchFamily="34" charset="0"/>
                <a:cs typeface="Gautami" panose="020B0502040204020203" pitchFamily="34" charset="0"/>
              </a:rPr>
              <a:t>Examples</a:t>
            </a:r>
            <a:r>
              <a:rPr lang="en-US" sz="2400" dirty="0">
                <a:effectLst/>
                <a:latin typeface="Cambria" panose="02040503050406030204" pitchFamily="18" charset="0"/>
                <a:ea typeface="Calibri" panose="020F0502020204030204" pitchFamily="34" charset="0"/>
                <a:cs typeface="Gautami" panose="020B0502040204020203" pitchFamily="34" charset="0"/>
              </a:rPr>
              <a:t>:</a:t>
            </a:r>
            <a:endParaRPr lang="en-IN" sz="20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US" sz="2400" dirty="0">
                <a:effectLst/>
                <a:latin typeface="Cambria" panose="02040503050406030204" pitchFamily="18" charset="0"/>
                <a:ea typeface="Calibri" panose="020F0502020204030204" pitchFamily="34" charset="0"/>
                <a:cs typeface="Gautami" panose="020B0502040204020203" pitchFamily="34" charset="0"/>
              </a:rPr>
              <a:t>Input  : n = 7</a:t>
            </a:r>
            <a:endParaRPr lang="en-IN" sz="20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US" sz="2400" dirty="0">
                <a:effectLst/>
                <a:latin typeface="Cambria" panose="02040503050406030204" pitchFamily="18" charset="0"/>
                <a:ea typeface="Calibri" panose="020F0502020204030204" pitchFamily="34" charset="0"/>
                <a:cs typeface="Gautami" panose="020B0502040204020203" pitchFamily="34" charset="0"/>
              </a:rPr>
              <a:t>Output : 8</a:t>
            </a:r>
            <a:endParaRPr lang="en-IN" sz="20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US" sz="2400" dirty="0">
                <a:effectLst/>
                <a:latin typeface="Cambria" panose="02040503050406030204" pitchFamily="18" charset="0"/>
                <a:ea typeface="Calibri" panose="020F0502020204030204" pitchFamily="34" charset="0"/>
                <a:cs typeface="Gautami" panose="020B0502040204020203" pitchFamily="34" charset="0"/>
              </a:rPr>
              <a:t>Input  : n = 10</a:t>
            </a:r>
            <a:endParaRPr lang="en-IN" sz="20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US" sz="2400" dirty="0">
                <a:effectLst/>
                <a:latin typeface="Cambria" panose="02040503050406030204" pitchFamily="18" charset="0"/>
                <a:ea typeface="Calibri" panose="020F0502020204030204" pitchFamily="34" charset="0"/>
                <a:cs typeface="Gautami" panose="020B0502040204020203" pitchFamily="34" charset="0"/>
              </a:rPr>
              <a:t>Output : 12</a:t>
            </a:r>
            <a:endParaRPr lang="en-IN" sz="20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US" sz="2400" b="1" dirty="0">
                <a:effectLst/>
                <a:latin typeface="Cambria" panose="02040503050406030204" pitchFamily="18" charset="0"/>
                <a:ea typeface="Calibri" panose="020F0502020204030204" pitchFamily="34" charset="0"/>
                <a:cs typeface="Gautami" panose="020B0502040204020203" pitchFamily="34" charset="0"/>
              </a:rPr>
              <a:t>Input format:</a:t>
            </a:r>
            <a:endParaRPr lang="en-IN" sz="20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US" sz="2400" dirty="0">
                <a:effectLst/>
                <a:latin typeface="Cambria" panose="02040503050406030204" pitchFamily="18" charset="0"/>
                <a:ea typeface="Calibri" panose="020F0502020204030204" pitchFamily="34" charset="0"/>
                <a:cs typeface="Gautami" panose="020B0502040204020203" pitchFamily="34" charset="0"/>
              </a:rPr>
              <a:t>Single line integer</a:t>
            </a:r>
            <a:endParaRPr lang="en-IN" sz="20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US" sz="2400" b="1" dirty="0">
                <a:effectLst/>
                <a:latin typeface="Cambria" panose="02040503050406030204" pitchFamily="18" charset="0"/>
                <a:ea typeface="Calibri" panose="020F0502020204030204" pitchFamily="34" charset="0"/>
                <a:cs typeface="Gautami" panose="020B0502040204020203" pitchFamily="34" charset="0"/>
              </a:rPr>
              <a:t>Output format:</a:t>
            </a:r>
            <a:endParaRPr lang="en-IN" sz="2000"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US" sz="2400" dirty="0">
                <a:effectLst/>
                <a:latin typeface="Cambria" panose="02040503050406030204" pitchFamily="18" charset="0"/>
                <a:ea typeface="Calibri" panose="020F0502020204030204" pitchFamily="34" charset="0"/>
                <a:cs typeface="Gautami" panose="020B0502040204020203" pitchFamily="34" charset="0"/>
              </a:rPr>
              <a:t>Single line integer</a:t>
            </a:r>
            <a:endParaRPr lang="en-IN" sz="2000" dirty="0">
              <a:effectLst/>
              <a:latin typeface="Calibri" panose="020F0502020204030204" pitchFamily="34" charset="0"/>
              <a:ea typeface="Calibri" panose="020F0502020204030204" pitchFamily="34" charset="0"/>
              <a:cs typeface="Gautami" panose="020B0502040204020203" pitchFamily="34" charset="0"/>
            </a:endParaRPr>
          </a:p>
        </p:txBody>
      </p:sp>
      <p:sp>
        <p:nvSpPr>
          <p:cNvPr id="7" name="TextBox 6">
            <a:extLst>
              <a:ext uri="{FF2B5EF4-FFF2-40B4-BE49-F238E27FC236}">
                <a16:creationId xmlns:a16="http://schemas.microsoft.com/office/drawing/2014/main" id="{090C2A0D-0F0A-4DBC-B278-5C1A41E1959E}"/>
              </a:ext>
            </a:extLst>
          </p:cNvPr>
          <p:cNvSpPr txBox="1"/>
          <p:nvPr/>
        </p:nvSpPr>
        <p:spPr>
          <a:xfrm>
            <a:off x="5215558" y="2340650"/>
            <a:ext cx="6097656" cy="3827394"/>
          </a:xfrm>
          <a:prstGeom prst="rect">
            <a:avLst/>
          </a:prstGeom>
          <a:noFill/>
        </p:spPr>
        <p:txBody>
          <a:bodyPr wrap="square">
            <a:spAutoFit/>
          </a:bodyPr>
          <a:lstStyle/>
          <a:p>
            <a:pPr>
              <a:lnSpc>
                <a:spcPct val="107000"/>
              </a:lnSpc>
              <a:spcAft>
                <a:spcPts val="800"/>
              </a:spcAft>
            </a:pPr>
            <a:r>
              <a:rPr lang="en-US" sz="2000" b="1" dirty="0">
                <a:effectLst/>
                <a:latin typeface="Cambria" panose="02040503050406030204" pitchFamily="18" charset="0"/>
                <a:ea typeface="Calibri" panose="020F0502020204030204" pitchFamily="34" charset="0"/>
                <a:cs typeface="Gautami" panose="020B0502040204020203" pitchFamily="34" charset="0"/>
              </a:rPr>
              <a:t>Test cases:</a:t>
            </a:r>
            <a:r>
              <a:rPr lang="en-US" sz="2000" dirty="0">
                <a:effectLst/>
                <a:latin typeface="Cambria" panose="02040503050406030204" pitchFamily="18" charset="0"/>
                <a:ea typeface="Calibri" panose="020F0502020204030204" pitchFamily="34" charset="0"/>
                <a:cs typeface="Gautami" panose="020B0502040204020203" pitchFamily="34" charset="0"/>
              </a:rPr>
              <a:t> </a:t>
            </a:r>
            <a:endParaRPr lang="en-IN"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US" sz="2000" dirty="0">
                <a:effectLst/>
                <a:latin typeface="Cambria" panose="02040503050406030204" pitchFamily="18" charset="0"/>
                <a:ea typeface="Calibri" panose="020F0502020204030204" pitchFamily="34" charset="0"/>
                <a:cs typeface="Gautami" panose="020B0502040204020203" pitchFamily="34" charset="0"/>
              </a:rPr>
              <a:t>10</a:t>
            </a:r>
            <a:endParaRPr lang="en-IN"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US" sz="2000" dirty="0">
                <a:effectLst/>
                <a:latin typeface="Cambria" panose="02040503050406030204" pitchFamily="18" charset="0"/>
                <a:ea typeface="Calibri" panose="020F0502020204030204" pitchFamily="34" charset="0"/>
                <a:cs typeface="Gautami" panose="020B0502040204020203" pitchFamily="34" charset="0"/>
              </a:rPr>
              <a:t>12</a:t>
            </a:r>
            <a:endParaRPr lang="en-IN"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endParaRPr lang="en-IN"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US" sz="2000" dirty="0">
                <a:effectLst/>
                <a:latin typeface="Cambria" panose="02040503050406030204" pitchFamily="18" charset="0"/>
                <a:ea typeface="Calibri" panose="020F0502020204030204" pitchFamily="34" charset="0"/>
                <a:cs typeface="Gautami" panose="020B0502040204020203" pitchFamily="34" charset="0"/>
              </a:rPr>
              <a:t>20</a:t>
            </a:r>
            <a:endParaRPr lang="en-IN"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US" sz="2000" dirty="0">
                <a:effectLst/>
                <a:latin typeface="Cambria" panose="02040503050406030204" pitchFamily="18" charset="0"/>
                <a:ea typeface="Calibri" panose="020F0502020204030204" pitchFamily="34" charset="0"/>
                <a:cs typeface="Gautami" panose="020B0502040204020203" pitchFamily="34" charset="0"/>
              </a:rPr>
              <a:t>36</a:t>
            </a:r>
            <a:endParaRPr lang="en-IN"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US" sz="2000" dirty="0">
                <a:effectLst/>
                <a:latin typeface="Cambria" panose="02040503050406030204" pitchFamily="18" charset="0"/>
                <a:ea typeface="Calibri" panose="020F0502020204030204" pitchFamily="34" charset="0"/>
                <a:cs typeface="Gautami" panose="020B0502040204020203" pitchFamily="34" charset="0"/>
              </a:rPr>
              <a:t> </a:t>
            </a:r>
            <a:endParaRPr lang="en-IN"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US" sz="2000" dirty="0">
                <a:effectLst/>
                <a:latin typeface="Cambria" panose="02040503050406030204" pitchFamily="18" charset="0"/>
                <a:ea typeface="Calibri" panose="020F0502020204030204" pitchFamily="34" charset="0"/>
                <a:cs typeface="Gautami" panose="020B0502040204020203" pitchFamily="34" charset="0"/>
              </a:rPr>
              <a:t>30</a:t>
            </a:r>
            <a:endParaRPr lang="en-IN" dirty="0">
              <a:effectLst/>
              <a:latin typeface="Calibri" panose="020F0502020204030204" pitchFamily="34" charset="0"/>
              <a:ea typeface="Calibri" panose="020F0502020204030204" pitchFamily="34" charset="0"/>
              <a:cs typeface="Gautami" panose="020B0502040204020203" pitchFamily="34" charset="0"/>
            </a:endParaRPr>
          </a:p>
          <a:p>
            <a:pPr>
              <a:lnSpc>
                <a:spcPct val="107000"/>
              </a:lnSpc>
              <a:spcAft>
                <a:spcPts val="800"/>
              </a:spcAft>
            </a:pPr>
            <a:r>
              <a:rPr lang="en-US" sz="2000" dirty="0">
                <a:effectLst/>
                <a:latin typeface="Cambria" panose="02040503050406030204" pitchFamily="18" charset="0"/>
                <a:ea typeface="Calibri" panose="020F0502020204030204" pitchFamily="34" charset="0"/>
                <a:cs typeface="Gautami" panose="020B0502040204020203" pitchFamily="34" charset="0"/>
              </a:rPr>
              <a:t>80</a:t>
            </a:r>
            <a:endParaRPr lang="en-IN" dirty="0">
              <a:effectLst/>
              <a:latin typeface="Calibri" panose="020F0502020204030204" pitchFamily="34" charset="0"/>
              <a:ea typeface="Calibri" panose="020F0502020204030204" pitchFamily="34" charset="0"/>
              <a:cs typeface="Gautami" panose="020B0502040204020203" pitchFamily="34" charset="0"/>
            </a:endParaRPr>
          </a:p>
        </p:txBody>
      </p:sp>
    </p:spTree>
    <p:extLst>
      <p:ext uri="{BB962C8B-B14F-4D97-AF65-F5344CB8AC3E}">
        <p14:creationId xmlns:p14="http://schemas.microsoft.com/office/powerpoint/2010/main" val="21355665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580877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A6504D3-3721-4EDE-90A3-693E89FC774D}"/>
              </a:ext>
            </a:extLst>
          </p:cNvPr>
          <p:cNvSpPr txBox="1"/>
          <p:nvPr/>
        </p:nvSpPr>
        <p:spPr>
          <a:xfrm>
            <a:off x="0" y="207677"/>
            <a:ext cx="12192000" cy="6145272"/>
          </a:xfrm>
          <a:prstGeom prst="rect">
            <a:avLst/>
          </a:prstGeom>
          <a:noFill/>
        </p:spPr>
        <p:txBody>
          <a:bodyPr wrap="square">
            <a:spAutoFit/>
          </a:bodyPr>
          <a:lstStyle/>
          <a:p>
            <a:pPr>
              <a:spcAft>
                <a:spcPts val="800"/>
              </a:spcAft>
            </a:pPr>
            <a:r>
              <a:rPr lang="en-IN" sz="2000" dirty="0">
                <a:effectLst/>
                <a:latin typeface="Calibri" panose="020F0502020204030204" pitchFamily="34" charset="0"/>
                <a:ea typeface="Calibri" panose="020F0502020204030204" pitchFamily="34" charset="0"/>
                <a:cs typeface="Gautami" panose="020B0502040204020203" pitchFamily="34" charset="0"/>
              </a:rPr>
              <a:t>Data mining</a:t>
            </a:r>
          </a:p>
          <a:p>
            <a:pPr>
              <a:spcAft>
                <a:spcPts val="800"/>
              </a:spcAft>
            </a:pPr>
            <a:r>
              <a:rPr lang="en-IN" sz="2000" dirty="0">
                <a:effectLst/>
                <a:latin typeface="Calibri" panose="020F0502020204030204" pitchFamily="34" charset="0"/>
                <a:ea typeface="Calibri" panose="020F0502020204030204" pitchFamily="34" charset="0"/>
                <a:cs typeface="Gautami" panose="020B0502040204020203" pitchFamily="34" charset="0"/>
              </a:rPr>
              <a:t>In the University examinations conducted during the past 5 years, the toppers registration numbers were 7126, 82417914, 7687 and 6657. Your father is an expert in data mining and he could easily infer a pattern in the toppers registration numbers. In all the registration numbers listed here, the sum of the odd digits is equal to the sum of the even digits in the number. He termed the numbers that satisfy this property as Probable Topper Numbers. Now, </a:t>
            </a:r>
            <a:r>
              <a:rPr lang="en-IN" sz="2000" dirty="0">
                <a:latin typeface="Calibri" panose="020F0502020204030204" pitchFamily="34" charset="0"/>
                <a:ea typeface="Calibri" panose="020F0502020204030204" pitchFamily="34" charset="0"/>
                <a:cs typeface="Gautami" panose="020B0502040204020203" pitchFamily="34" charset="0"/>
              </a:rPr>
              <a:t>Draw</a:t>
            </a:r>
            <a:r>
              <a:rPr lang="en-IN" sz="2000" dirty="0">
                <a:effectLst/>
                <a:latin typeface="Calibri" panose="020F0502020204030204" pitchFamily="34" charset="0"/>
                <a:ea typeface="Calibri" panose="020F0502020204030204" pitchFamily="34" charset="0"/>
                <a:cs typeface="Gautami" panose="020B0502040204020203" pitchFamily="34" charset="0"/>
              </a:rPr>
              <a:t> an algorithm to find whether a given number is a probable topper number or not.</a:t>
            </a:r>
          </a:p>
          <a:p>
            <a:pPr>
              <a:spcAft>
                <a:spcPts val="800"/>
              </a:spcAft>
            </a:pPr>
            <a:r>
              <a:rPr lang="en-IN" sz="2000" dirty="0">
                <a:effectLst/>
                <a:latin typeface="Calibri" panose="020F0502020204030204" pitchFamily="34" charset="0"/>
                <a:ea typeface="Calibri" panose="020F0502020204030204" pitchFamily="34" charset="0"/>
                <a:cs typeface="Gautami" panose="020B0502040204020203" pitchFamily="34" charset="0"/>
              </a:rPr>
              <a:t>INPUT &amp; OUTPUT FORMAT:</a:t>
            </a:r>
          </a:p>
          <a:p>
            <a:pPr>
              <a:spcAft>
                <a:spcPts val="800"/>
              </a:spcAft>
            </a:pPr>
            <a:r>
              <a:rPr lang="en-IN" sz="2000" dirty="0">
                <a:effectLst/>
                <a:latin typeface="Calibri" panose="020F0502020204030204" pitchFamily="34" charset="0"/>
                <a:ea typeface="Calibri" panose="020F0502020204030204" pitchFamily="34" charset="0"/>
                <a:cs typeface="Gautami" panose="020B0502040204020203" pitchFamily="34" charset="0"/>
              </a:rPr>
              <a:t>Input consists of a single integer.</a:t>
            </a:r>
          </a:p>
          <a:p>
            <a:pPr>
              <a:spcAft>
                <a:spcPts val="800"/>
              </a:spcAft>
            </a:pPr>
            <a:r>
              <a:rPr lang="en-IN" sz="2000" dirty="0">
                <a:effectLst/>
                <a:latin typeface="Calibri" panose="020F0502020204030204" pitchFamily="34" charset="0"/>
                <a:ea typeface="Calibri" panose="020F0502020204030204" pitchFamily="34" charset="0"/>
                <a:cs typeface="Gautami" panose="020B0502040204020203" pitchFamily="34" charset="0"/>
              </a:rPr>
              <a:t>The output consists of a single line. Refer the sample output for details.</a:t>
            </a:r>
          </a:p>
          <a:p>
            <a:pPr>
              <a:spcAft>
                <a:spcPts val="800"/>
              </a:spcAft>
            </a:pPr>
            <a:r>
              <a:rPr lang="en-IN" sz="2000" dirty="0">
                <a:effectLst/>
                <a:latin typeface="Calibri" panose="020F0502020204030204" pitchFamily="34" charset="0"/>
                <a:ea typeface="Calibri" panose="020F0502020204030204" pitchFamily="34" charset="0"/>
                <a:cs typeface="Gautami" panose="020B0502040204020203" pitchFamily="34" charset="0"/>
              </a:rPr>
              <a:t>SAMPLE INPUT &amp; OUTPUT:</a:t>
            </a:r>
          </a:p>
          <a:p>
            <a:pPr>
              <a:spcAft>
                <a:spcPts val="800"/>
              </a:spcAft>
            </a:pPr>
            <a:r>
              <a:rPr lang="en-IN" sz="2000" dirty="0">
                <a:effectLst/>
                <a:latin typeface="Calibri" panose="020F0502020204030204" pitchFamily="34" charset="0"/>
                <a:ea typeface="Calibri" panose="020F0502020204030204" pitchFamily="34" charset="0"/>
                <a:cs typeface="Gautami" panose="020B0502040204020203" pitchFamily="34" charset="0"/>
              </a:rPr>
              <a:t>143</a:t>
            </a:r>
          </a:p>
          <a:p>
            <a:pPr>
              <a:spcAft>
                <a:spcPts val="800"/>
              </a:spcAft>
            </a:pPr>
            <a:r>
              <a:rPr lang="en-IN" sz="2000" dirty="0">
                <a:effectLst/>
                <a:latin typeface="Calibri" panose="020F0502020204030204" pitchFamily="34" charset="0"/>
                <a:ea typeface="Calibri" panose="020F0502020204030204" pitchFamily="34" charset="0"/>
                <a:cs typeface="Gautami" panose="020B0502040204020203" pitchFamily="34" charset="0"/>
              </a:rPr>
              <a:t>Yes</a:t>
            </a:r>
          </a:p>
          <a:p>
            <a:pPr>
              <a:spcAft>
                <a:spcPts val="800"/>
              </a:spcAft>
            </a:pPr>
            <a:r>
              <a:rPr lang="en-IN" sz="2000" dirty="0">
                <a:effectLst/>
                <a:latin typeface="Calibri" panose="020F0502020204030204" pitchFamily="34" charset="0"/>
                <a:ea typeface="Calibri" panose="020F0502020204030204" pitchFamily="34" charset="0"/>
                <a:cs typeface="Gautami" panose="020B0502040204020203" pitchFamily="34" charset="0"/>
              </a:rPr>
              <a:t>Input (stdin)</a:t>
            </a:r>
          </a:p>
          <a:p>
            <a:pPr>
              <a:spcAft>
                <a:spcPts val="800"/>
              </a:spcAft>
            </a:pPr>
            <a:r>
              <a:rPr lang="en-IN" sz="2000" dirty="0">
                <a:effectLst/>
                <a:latin typeface="Calibri" panose="020F0502020204030204" pitchFamily="34" charset="0"/>
                <a:ea typeface="Calibri" panose="020F0502020204030204" pitchFamily="34" charset="0"/>
                <a:cs typeface="Gautami" panose="020B0502040204020203" pitchFamily="34" charset="0"/>
              </a:rPr>
              <a:t>127</a:t>
            </a:r>
          </a:p>
          <a:p>
            <a:pPr>
              <a:spcAft>
                <a:spcPts val="800"/>
              </a:spcAft>
            </a:pPr>
            <a:r>
              <a:rPr lang="en-IN" sz="2000" dirty="0">
                <a:effectLst/>
                <a:latin typeface="Calibri" panose="020F0502020204030204" pitchFamily="34" charset="0"/>
                <a:ea typeface="Calibri" panose="020F0502020204030204" pitchFamily="34" charset="0"/>
                <a:cs typeface="Gautami" panose="020B0502040204020203" pitchFamily="34" charset="0"/>
              </a:rPr>
              <a:t>Output (</a:t>
            </a:r>
            <a:r>
              <a:rPr lang="en-IN" sz="2000" dirty="0" err="1">
                <a:effectLst/>
                <a:latin typeface="Calibri" panose="020F0502020204030204" pitchFamily="34" charset="0"/>
                <a:ea typeface="Calibri" panose="020F0502020204030204" pitchFamily="34" charset="0"/>
                <a:cs typeface="Gautami" panose="020B0502040204020203" pitchFamily="34" charset="0"/>
              </a:rPr>
              <a:t>stdout</a:t>
            </a:r>
            <a:r>
              <a:rPr lang="en-IN" sz="2000" dirty="0">
                <a:effectLst/>
                <a:latin typeface="Calibri" panose="020F0502020204030204" pitchFamily="34" charset="0"/>
                <a:ea typeface="Calibri" panose="020F0502020204030204" pitchFamily="34" charset="0"/>
                <a:cs typeface="Gautami" panose="020B0502040204020203" pitchFamily="34" charset="0"/>
              </a:rPr>
              <a:t>)</a:t>
            </a:r>
          </a:p>
          <a:p>
            <a:pPr>
              <a:spcAft>
                <a:spcPts val="800"/>
              </a:spcAft>
            </a:pPr>
            <a:r>
              <a:rPr lang="en-IN" sz="2000" dirty="0">
                <a:effectLst/>
                <a:latin typeface="Calibri" panose="020F0502020204030204" pitchFamily="34" charset="0"/>
                <a:ea typeface="Calibri" panose="020F0502020204030204" pitchFamily="34" charset="0"/>
                <a:cs typeface="Gautami" panose="020B0502040204020203" pitchFamily="34" charset="0"/>
              </a:rPr>
              <a:t>No</a:t>
            </a:r>
          </a:p>
        </p:txBody>
      </p:sp>
    </p:spTree>
    <p:extLst>
      <p:ext uri="{BB962C8B-B14F-4D97-AF65-F5344CB8AC3E}">
        <p14:creationId xmlns:p14="http://schemas.microsoft.com/office/powerpoint/2010/main" val="19713034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907802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CA17A15-F588-468E-89AD-EBF84EAC48CE}"/>
              </a:ext>
            </a:extLst>
          </p:cNvPr>
          <p:cNvSpPr txBox="1"/>
          <p:nvPr/>
        </p:nvSpPr>
        <p:spPr>
          <a:xfrm>
            <a:off x="298174" y="168965"/>
            <a:ext cx="11350487" cy="5632311"/>
          </a:xfrm>
          <a:prstGeom prst="rect">
            <a:avLst/>
          </a:prstGeom>
          <a:noFill/>
        </p:spPr>
        <p:txBody>
          <a:bodyPr wrap="square" rtlCol="0">
            <a:spAutoFit/>
          </a:bodyPr>
          <a:lstStyle/>
          <a:p>
            <a:r>
              <a:rPr lang="en-IN" sz="2400" dirty="0"/>
              <a:t>A and B plays a game called BOOMER7,9. A will be say B some value, and B with </a:t>
            </a:r>
            <a:r>
              <a:rPr lang="en-IN" sz="2400" dirty="0" err="1"/>
              <a:t>wether</a:t>
            </a:r>
            <a:r>
              <a:rPr lang="en-IN" sz="2400" dirty="0"/>
              <a:t> is consists of 7 or 9</a:t>
            </a:r>
          </a:p>
          <a:p>
            <a:r>
              <a:rPr lang="en-IN" sz="2400" dirty="0"/>
              <a:t>Draw an flow chart to say </a:t>
            </a:r>
            <a:r>
              <a:rPr lang="en-IN" sz="2400" b="1" dirty="0"/>
              <a:t>Super boom </a:t>
            </a:r>
            <a:r>
              <a:rPr lang="en-IN" sz="2400" dirty="0"/>
              <a:t>if your number consists of both 7 and 9, </a:t>
            </a:r>
            <a:r>
              <a:rPr lang="en-IN" sz="2400" b="1" dirty="0"/>
              <a:t>BOOM!</a:t>
            </a:r>
            <a:r>
              <a:rPr lang="en-IN" sz="2400" dirty="0"/>
              <a:t> If your number consists of 7 or 9. if none of the value of present, say </a:t>
            </a:r>
            <a:r>
              <a:rPr lang="en-IN" sz="2400" b="1" dirty="0"/>
              <a:t>NO BOOM!</a:t>
            </a:r>
          </a:p>
          <a:p>
            <a:endParaRPr lang="en-IN" sz="2400" b="1" dirty="0"/>
          </a:p>
          <a:p>
            <a:r>
              <a:rPr lang="en-IN" sz="2400" dirty="0"/>
              <a:t>Sample input &amp; Output:</a:t>
            </a:r>
          </a:p>
          <a:p>
            <a:endParaRPr lang="en-IN" sz="2400" dirty="0"/>
          </a:p>
          <a:p>
            <a:r>
              <a:rPr lang="en-IN" sz="2400" dirty="0"/>
              <a:t>1234567</a:t>
            </a:r>
          </a:p>
          <a:p>
            <a:r>
              <a:rPr lang="en-IN" sz="2400" dirty="0"/>
              <a:t>BOOM!</a:t>
            </a:r>
          </a:p>
          <a:p>
            <a:endParaRPr lang="en-IN" sz="2400" dirty="0"/>
          </a:p>
          <a:p>
            <a:r>
              <a:rPr lang="en-IN" sz="2400" dirty="0"/>
              <a:t>9744398</a:t>
            </a:r>
          </a:p>
          <a:p>
            <a:r>
              <a:rPr lang="en-IN" sz="2400" dirty="0"/>
              <a:t>SUPER BOOM!</a:t>
            </a:r>
          </a:p>
          <a:p>
            <a:endParaRPr lang="en-IN" sz="2400" dirty="0"/>
          </a:p>
          <a:p>
            <a:r>
              <a:rPr lang="en-IN" sz="2400" dirty="0"/>
              <a:t>23242</a:t>
            </a:r>
          </a:p>
          <a:p>
            <a:r>
              <a:rPr lang="en-IN" sz="2400" dirty="0"/>
              <a:t>NO BOOM</a:t>
            </a:r>
          </a:p>
        </p:txBody>
      </p:sp>
    </p:spTree>
    <p:extLst>
      <p:ext uri="{BB962C8B-B14F-4D97-AF65-F5344CB8AC3E}">
        <p14:creationId xmlns:p14="http://schemas.microsoft.com/office/powerpoint/2010/main" val="13016219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20083500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1234C8-A992-4941-A37D-A1EC22EBED99}"/>
              </a:ext>
            </a:extLst>
          </p:cNvPr>
          <p:cNvSpPr txBox="1"/>
          <p:nvPr/>
        </p:nvSpPr>
        <p:spPr>
          <a:xfrm>
            <a:off x="745435" y="337930"/>
            <a:ext cx="9998765" cy="5324535"/>
          </a:xfrm>
          <a:prstGeom prst="rect">
            <a:avLst/>
          </a:prstGeom>
          <a:noFill/>
        </p:spPr>
        <p:txBody>
          <a:bodyPr wrap="square" rtlCol="0">
            <a:spAutoFit/>
          </a:bodyPr>
          <a:lstStyle/>
          <a:p>
            <a:r>
              <a:rPr lang="en-IN" sz="2000" dirty="0"/>
              <a:t>Write an algorithm to check whether the given number is Armstrong number or not</a:t>
            </a:r>
          </a:p>
          <a:p>
            <a:endParaRPr lang="en-IN" sz="2000" dirty="0"/>
          </a:p>
          <a:p>
            <a:endParaRPr lang="en-IN" sz="2000" dirty="0"/>
          </a:p>
          <a:p>
            <a:r>
              <a:rPr lang="en-IN" sz="2000" dirty="0"/>
              <a:t>Armstrong Number :</a:t>
            </a:r>
          </a:p>
          <a:p>
            <a:r>
              <a:rPr lang="en-IN" sz="2000" dirty="0"/>
              <a:t>153 </a:t>
            </a:r>
          </a:p>
          <a:p>
            <a:endParaRPr lang="en-IN" sz="2000" dirty="0"/>
          </a:p>
          <a:p>
            <a:r>
              <a:rPr lang="en-IN" sz="2000" dirty="0"/>
              <a:t>1^3 + 5^3 +3^3 = 153</a:t>
            </a:r>
          </a:p>
          <a:p>
            <a:endParaRPr lang="en-IN" sz="2000" dirty="0"/>
          </a:p>
          <a:p>
            <a:r>
              <a:rPr lang="en-IN" sz="2000" dirty="0"/>
              <a:t>Input format : </a:t>
            </a:r>
          </a:p>
          <a:p>
            <a:r>
              <a:rPr lang="en-IN" sz="2000" dirty="0"/>
              <a:t>Single input </a:t>
            </a:r>
          </a:p>
          <a:p>
            <a:r>
              <a:rPr lang="en-IN" sz="2000" dirty="0"/>
              <a:t>Output format :</a:t>
            </a:r>
          </a:p>
          <a:p>
            <a:r>
              <a:rPr lang="en-IN" sz="2000" dirty="0"/>
              <a:t>Single line output  consist of YES OR NO</a:t>
            </a:r>
          </a:p>
          <a:p>
            <a:endParaRPr lang="en-IN" sz="2000" dirty="0"/>
          </a:p>
          <a:p>
            <a:r>
              <a:rPr lang="en-IN" sz="2000" dirty="0"/>
              <a:t>Sample input:</a:t>
            </a:r>
          </a:p>
          <a:p>
            <a:r>
              <a:rPr lang="en-IN" sz="2000" dirty="0"/>
              <a:t>153</a:t>
            </a:r>
          </a:p>
          <a:p>
            <a:r>
              <a:rPr lang="en-IN" sz="2000" dirty="0"/>
              <a:t>Sample Output :</a:t>
            </a:r>
          </a:p>
          <a:p>
            <a:r>
              <a:rPr lang="en-IN" sz="2000" dirty="0"/>
              <a:t>YES </a:t>
            </a:r>
          </a:p>
        </p:txBody>
      </p:sp>
    </p:spTree>
    <p:extLst>
      <p:ext uri="{BB962C8B-B14F-4D97-AF65-F5344CB8AC3E}">
        <p14:creationId xmlns:p14="http://schemas.microsoft.com/office/powerpoint/2010/main" val="37645616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491509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F10CF41-C0A5-4691-B801-4CE9C2EEA3C0}"/>
              </a:ext>
            </a:extLst>
          </p:cNvPr>
          <p:cNvSpPr txBox="1"/>
          <p:nvPr/>
        </p:nvSpPr>
        <p:spPr>
          <a:xfrm>
            <a:off x="695739" y="407504"/>
            <a:ext cx="10127974" cy="3139321"/>
          </a:xfrm>
          <a:prstGeom prst="rect">
            <a:avLst/>
          </a:prstGeom>
          <a:noFill/>
        </p:spPr>
        <p:txBody>
          <a:bodyPr wrap="square" rtlCol="0">
            <a:spAutoFit/>
          </a:bodyPr>
          <a:lstStyle/>
          <a:p>
            <a:r>
              <a:rPr lang="en-IN" dirty="0"/>
              <a:t>Draw an flow chart to reverse the given number</a:t>
            </a:r>
            <a:br>
              <a:rPr lang="en-IN" dirty="0"/>
            </a:br>
            <a:br>
              <a:rPr lang="en-IN" dirty="0"/>
            </a:br>
            <a:endParaRPr lang="en-IN" dirty="0"/>
          </a:p>
          <a:p>
            <a:r>
              <a:rPr lang="en-IN" sz="1800" dirty="0"/>
              <a:t>Input format : </a:t>
            </a:r>
          </a:p>
          <a:p>
            <a:r>
              <a:rPr lang="en-IN" sz="1800" dirty="0"/>
              <a:t>Single input </a:t>
            </a:r>
          </a:p>
          <a:p>
            <a:r>
              <a:rPr lang="en-IN" sz="1800" dirty="0"/>
              <a:t>Output format :</a:t>
            </a:r>
          </a:p>
          <a:p>
            <a:r>
              <a:rPr lang="en-IN" sz="1800" dirty="0"/>
              <a:t>Single line output  consist of reversed number</a:t>
            </a:r>
          </a:p>
          <a:p>
            <a:endParaRPr lang="en-IN" dirty="0"/>
          </a:p>
          <a:p>
            <a:br>
              <a:rPr lang="en-IN" dirty="0"/>
            </a:br>
            <a:r>
              <a:rPr lang="en-IN" dirty="0" err="1"/>
              <a:t>i</a:t>
            </a:r>
            <a:r>
              <a:rPr lang="en-IN" dirty="0"/>
              <a:t>/p : 1234</a:t>
            </a:r>
          </a:p>
          <a:p>
            <a:r>
              <a:rPr lang="en-IN" dirty="0"/>
              <a:t>o/p: 4321</a:t>
            </a:r>
          </a:p>
        </p:txBody>
      </p:sp>
    </p:spTree>
    <p:extLst>
      <p:ext uri="{BB962C8B-B14F-4D97-AF65-F5344CB8AC3E}">
        <p14:creationId xmlns:p14="http://schemas.microsoft.com/office/powerpoint/2010/main" val="31806270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738108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746DFD0-10DA-4671-963F-20D13E11032C}"/>
              </a:ext>
            </a:extLst>
          </p:cNvPr>
          <p:cNvSpPr txBox="1"/>
          <p:nvPr/>
        </p:nvSpPr>
        <p:spPr>
          <a:xfrm>
            <a:off x="0" y="391637"/>
            <a:ext cx="12192000" cy="5124673"/>
          </a:xfrm>
          <a:prstGeom prst="rect">
            <a:avLst/>
          </a:prstGeom>
          <a:noFill/>
        </p:spPr>
        <p:txBody>
          <a:bodyPr wrap="square">
            <a:spAutoFit/>
          </a:bodyPr>
          <a:lstStyle/>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Tom is crazy about cricket. He was watching India vs. Australia World cup final match. Australia won the toss and elected to bat first. They finished batting with a score of X. Next, India started to bat and scored Y runs in N number of balls. As Tom is very crazy, he wants to calculate the run rate and check whether there is a probability for India to win or not. Help him calculate the run-rate and check the probability.</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INPUT FORMAT &amp; OUTPUT FORMAT:</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Input consists of 4 integers. First input corresponds to the total number of balls. Second input corresponds to the total number of runs. Third input corresponds to the number of runs scored. Fourth input corresponds to the number of balls bowled. First output corresponds to the total number of overs. Second output corresponds to the total number of overs finished. Third output corresponds to the current run rate. Fourth output corresponds to total run rate.</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Overs: 50 Overs finished: 7.3 Current Run rate: 10.7 Total Run rate: 7.5 Eligible to Win</a:t>
            </a:r>
          </a:p>
        </p:txBody>
      </p:sp>
    </p:spTree>
    <p:extLst>
      <p:ext uri="{BB962C8B-B14F-4D97-AF65-F5344CB8AC3E}">
        <p14:creationId xmlns:p14="http://schemas.microsoft.com/office/powerpoint/2010/main" val="21593925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70918EB-D5BD-433F-9064-E72B87407812}"/>
              </a:ext>
            </a:extLst>
          </p:cNvPr>
          <p:cNvSpPr txBox="1"/>
          <p:nvPr/>
        </p:nvSpPr>
        <p:spPr>
          <a:xfrm>
            <a:off x="1657350" y="461256"/>
            <a:ext cx="6097656" cy="5447645"/>
          </a:xfrm>
          <a:prstGeom prst="rect">
            <a:avLst/>
          </a:prstGeom>
          <a:noFill/>
        </p:spPr>
        <p:txBody>
          <a:bodyPr wrap="square">
            <a:spAutoFit/>
          </a:bodyPr>
          <a:lstStyle/>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SAMPLE INPUT:</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300</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375</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78</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45</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SAMPLE OUTPUT:</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50</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7.3</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10.7</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7.5</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Eligible to Win</a:t>
            </a:r>
          </a:p>
        </p:txBody>
      </p:sp>
    </p:spTree>
    <p:extLst>
      <p:ext uri="{BB962C8B-B14F-4D97-AF65-F5344CB8AC3E}">
        <p14:creationId xmlns:p14="http://schemas.microsoft.com/office/powerpoint/2010/main" val="80828898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B270BA-F341-4065-95A7-A70259FD9DA1}"/>
              </a:ext>
            </a:extLst>
          </p:cNvPr>
          <p:cNvSpPr txBox="1"/>
          <p:nvPr/>
        </p:nvSpPr>
        <p:spPr>
          <a:xfrm>
            <a:off x="457200" y="129209"/>
            <a:ext cx="9432235" cy="6001643"/>
          </a:xfrm>
          <a:prstGeom prst="rect">
            <a:avLst/>
          </a:prstGeom>
          <a:noFill/>
        </p:spPr>
        <p:txBody>
          <a:bodyPr wrap="square" rtlCol="0">
            <a:spAutoFit/>
          </a:bodyPr>
          <a:lstStyle/>
          <a:p>
            <a:r>
              <a:rPr lang="en-IN" sz="2400" dirty="0"/>
              <a:t>{</a:t>
            </a:r>
          </a:p>
          <a:p>
            <a:r>
              <a:rPr lang="en-IN" sz="2400" dirty="0"/>
              <a:t>int </a:t>
            </a:r>
            <a:r>
              <a:rPr lang="en-IN" sz="2400" dirty="0" err="1"/>
              <a:t>t_b</a:t>
            </a:r>
            <a:r>
              <a:rPr lang="en-IN" sz="2400" dirty="0"/>
              <a:t>, </a:t>
            </a:r>
            <a:r>
              <a:rPr lang="en-IN" sz="2400" dirty="0" err="1"/>
              <a:t>t_r</a:t>
            </a:r>
            <a:r>
              <a:rPr lang="en-IN" sz="2400" dirty="0"/>
              <a:t>, </a:t>
            </a:r>
            <a:r>
              <a:rPr lang="en-IN" sz="2400" dirty="0" err="1"/>
              <a:t>c_r,c_b</a:t>
            </a:r>
            <a:r>
              <a:rPr lang="en-IN" sz="2400" dirty="0"/>
              <a:t>;</a:t>
            </a:r>
          </a:p>
          <a:p>
            <a:r>
              <a:rPr lang="en-IN" sz="2400" dirty="0"/>
              <a:t>float </a:t>
            </a:r>
            <a:r>
              <a:rPr lang="en-IN" sz="2400" dirty="0" err="1"/>
              <a:t>ov,c_ov,c_rr,n_rr</a:t>
            </a:r>
            <a:r>
              <a:rPr lang="en-IN" sz="2400" dirty="0"/>
              <a:t>;</a:t>
            </a:r>
          </a:p>
          <a:p>
            <a:r>
              <a:rPr lang="en-IN" sz="2400" dirty="0" err="1"/>
              <a:t>scanf</a:t>
            </a:r>
            <a:r>
              <a:rPr lang="en-IN" sz="2400" dirty="0"/>
              <a:t>(“%</a:t>
            </a:r>
            <a:r>
              <a:rPr lang="en-IN" sz="2400" dirty="0" err="1"/>
              <a:t>d%d%d%d</a:t>
            </a:r>
            <a:r>
              <a:rPr lang="en-IN" sz="2400" dirty="0"/>
              <a:t>”,&amp;t_b,&amp;t_r,&amp;c_r,&amp;</a:t>
            </a:r>
            <a:r>
              <a:rPr lang="en-IN" sz="2400" dirty="0" err="1"/>
              <a:t>c_b</a:t>
            </a:r>
            <a:r>
              <a:rPr lang="en-IN" sz="2400" dirty="0"/>
              <a:t>);</a:t>
            </a:r>
          </a:p>
          <a:p>
            <a:r>
              <a:rPr lang="en-IN" sz="2400" dirty="0" err="1"/>
              <a:t>ov</a:t>
            </a:r>
            <a:r>
              <a:rPr lang="en-IN" sz="2400" dirty="0"/>
              <a:t> = (</a:t>
            </a:r>
            <a:r>
              <a:rPr lang="en-IN" sz="2400" dirty="0" err="1"/>
              <a:t>t_b</a:t>
            </a:r>
            <a:r>
              <a:rPr lang="en-IN" sz="2400" dirty="0"/>
              <a:t>/6) + ((t_b%6)* 0.1);</a:t>
            </a:r>
          </a:p>
          <a:p>
            <a:r>
              <a:rPr lang="en-IN" sz="2400" dirty="0" err="1"/>
              <a:t>c_ov</a:t>
            </a:r>
            <a:r>
              <a:rPr lang="en-IN" sz="2400" dirty="0"/>
              <a:t> = (</a:t>
            </a:r>
            <a:r>
              <a:rPr lang="en-IN" sz="2400" dirty="0" err="1"/>
              <a:t>c_b</a:t>
            </a:r>
            <a:r>
              <a:rPr lang="en-IN" sz="2400" dirty="0"/>
              <a:t>/6) + ((c_b%6)* 0.1);</a:t>
            </a:r>
          </a:p>
          <a:p>
            <a:r>
              <a:rPr lang="en-IN" sz="2400" dirty="0" err="1"/>
              <a:t>c_rr</a:t>
            </a:r>
            <a:r>
              <a:rPr lang="en-IN" sz="2400" dirty="0"/>
              <a:t> = (float)</a:t>
            </a:r>
            <a:r>
              <a:rPr lang="en-IN" sz="2400" dirty="0" err="1"/>
              <a:t>c_r</a:t>
            </a:r>
            <a:r>
              <a:rPr lang="en-IN" sz="2400" dirty="0"/>
              <a:t> / </a:t>
            </a:r>
            <a:r>
              <a:rPr lang="en-IN" sz="2400" dirty="0" err="1"/>
              <a:t>c_ov</a:t>
            </a:r>
            <a:r>
              <a:rPr lang="en-IN" sz="2400" dirty="0"/>
              <a:t>;</a:t>
            </a:r>
          </a:p>
          <a:p>
            <a:r>
              <a:rPr lang="en-IN" sz="2400" dirty="0" err="1"/>
              <a:t>n_rr</a:t>
            </a:r>
            <a:r>
              <a:rPr lang="en-IN" sz="2400" dirty="0"/>
              <a:t> = (float)</a:t>
            </a:r>
            <a:r>
              <a:rPr lang="en-IN" sz="2400" dirty="0" err="1"/>
              <a:t>t_r</a:t>
            </a:r>
            <a:r>
              <a:rPr lang="en-IN" sz="2400" dirty="0"/>
              <a:t> / </a:t>
            </a:r>
            <a:r>
              <a:rPr lang="en-IN" sz="2400" dirty="0" err="1"/>
              <a:t>ov</a:t>
            </a:r>
            <a:r>
              <a:rPr lang="en-IN" sz="2400" dirty="0"/>
              <a:t> ;</a:t>
            </a:r>
          </a:p>
          <a:p>
            <a:r>
              <a:rPr lang="en-IN" sz="2400" dirty="0" err="1"/>
              <a:t>printf</a:t>
            </a:r>
            <a:r>
              <a:rPr lang="en-IN" sz="2400" dirty="0"/>
              <a:t>(“</a:t>
            </a:r>
            <a:r>
              <a:rPr lang="en-IN" sz="2400" dirty="0" err="1"/>
              <a:t>ov</a:t>
            </a:r>
            <a:r>
              <a:rPr lang="en-IN" sz="2400" dirty="0"/>
              <a:t>:%.1f , </a:t>
            </a:r>
            <a:r>
              <a:rPr lang="en-IN" sz="2400" dirty="0" err="1"/>
              <a:t>c_ov</a:t>
            </a:r>
            <a:r>
              <a:rPr lang="en-IN" sz="2400" dirty="0"/>
              <a:t>: %.1f , </a:t>
            </a:r>
            <a:r>
              <a:rPr lang="en-IN" sz="2400" dirty="0" err="1"/>
              <a:t>c_rr</a:t>
            </a:r>
            <a:r>
              <a:rPr lang="en-IN" sz="2400" dirty="0"/>
              <a:t> : %.1f, </a:t>
            </a:r>
            <a:r>
              <a:rPr lang="en-IN" sz="2400" dirty="0" err="1"/>
              <a:t>n_rr</a:t>
            </a:r>
            <a:r>
              <a:rPr lang="en-IN" sz="2400" dirty="0"/>
              <a:t> : %.1f”, </a:t>
            </a:r>
            <a:r>
              <a:rPr lang="en-IN" sz="2400" dirty="0" err="1"/>
              <a:t>ov</a:t>
            </a:r>
            <a:r>
              <a:rPr lang="en-IN" sz="2400" dirty="0"/>
              <a:t>, </a:t>
            </a:r>
            <a:r>
              <a:rPr lang="en-IN" sz="2400" dirty="0" err="1"/>
              <a:t>c_ov</a:t>
            </a:r>
            <a:r>
              <a:rPr lang="en-IN" sz="2400" dirty="0"/>
              <a:t>, </a:t>
            </a:r>
            <a:r>
              <a:rPr lang="en-IN" sz="2400" dirty="0" err="1"/>
              <a:t>c_rr</a:t>
            </a:r>
            <a:r>
              <a:rPr lang="en-IN" sz="2400" dirty="0"/>
              <a:t>, </a:t>
            </a:r>
            <a:r>
              <a:rPr lang="en-IN" sz="2400" dirty="0" err="1"/>
              <a:t>n_rr</a:t>
            </a:r>
            <a:r>
              <a:rPr lang="en-IN" sz="2400" dirty="0"/>
              <a:t>);</a:t>
            </a:r>
          </a:p>
          <a:p>
            <a:r>
              <a:rPr lang="en-IN" sz="2400" dirty="0"/>
              <a:t>If(</a:t>
            </a:r>
            <a:r>
              <a:rPr lang="en-IN" sz="2400" dirty="0" err="1"/>
              <a:t>c_rr</a:t>
            </a:r>
            <a:r>
              <a:rPr lang="en-IN" sz="2400" dirty="0"/>
              <a:t>&gt;=</a:t>
            </a:r>
            <a:r>
              <a:rPr lang="en-IN" sz="2400" dirty="0" err="1"/>
              <a:t>n_rr</a:t>
            </a:r>
            <a:r>
              <a:rPr lang="en-IN" sz="2400" dirty="0"/>
              <a:t>)</a:t>
            </a:r>
          </a:p>
          <a:p>
            <a:r>
              <a:rPr lang="en-IN" sz="2400" dirty="0"/>
              <a:t>{ </a:t>
            </a:r>
            <a:r>
              <a:rPr lang="en-IN" sz="2400" dirty="0" err="1"/>
              <a:t>printf</a:t>
            </a:r>
            <a:r>
              <a:rPr lang="en-IN" sz="2400" dirty="0"/>
              <a:t>(“</a:t>
            </a:r>
            <a:r>
              <a:rPr lang="en-IN" sz="2400" dirty="0" err="1"/>
              <a:t>elgible</a:t>
            </a:r>
            <a:r>
              <a:rPr lang="en-IN" sz="2400" dirty="0"/>
              <a:t> to win”);</a:t>
            </a:r>
          </a:p>
          <a:p>
            <a:r>
              <a:rPr lang="en-IN" sz="2400" dirty="0"/>
              <a:t>}</a:t>
            </a:r>
          </a:p>
          <a:p>
            <a:r>
              <a:rPr lang="en-IN" sz="2400" dirty="0"/>
              <a:t>else</a:t>
            </a:r>
          </a:p>
          <a:p>
            <a:r>
              <a:rPr lang="en-IN" sz="2400" dirty="0"/>
              <a:t>{</a:t>
            </a:r>
            <a:r>
              <a:rPr lang="en-IN" sz="2400" dirty="0" err="1"/>
              <a:t>printf</a:t>
            </a:r>
            <a:r>
              <a:rPr lang="en-IN" sz="2400" dirty="0"/>
              <a:t>(“ not </a:t>
            </a:r>
            <a:r>
              <a:rPr lang="en-IN" sz="2400" dirty="0" err="1"/>
              <a:t>elgible</a:t>
            </a:r>
            <a:r>
              <a:rPr lang="en-IN" sz="2400" dirty="0"/>
              <a:t> to win”);</a:t>
            </a:r>
          </a:p>
          <a:p>
            <a:r>
              <a:rPr lang="en-IN" sz="2400" dirty="0"/>
              <a:t>}</a:t>
            </a:r>
          </a:p>
          <a:p>
            <a:endParaRPr lang="en-IN" sz="2400" dirty="0"/>
          </a:p>
        </p:txBody>
      </p:sp>
    </p:spTree>
    <p:extLst>
      <p:ext uri="{BB962C8B-B14F-4D97-AF65-F5344CB8AC3E}">
        <p14:creationId xmlns:p14="http://schemas.microsoft.com/office/powerpoint/2010/main" val="7353033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4CFEF444-288C-46D1-9DA5-C3D9A63F1662}"/>
              </a:ext>
            </a:extLst>
          </p:cNvPr>
          <p:cNvSpPr txBox="1"/>
          <p:nvPr/>
        </p:nvSpPr>
        <p:spPr>
          <a:xfrm>
            <a:off x="546651" y="675861"/>
            <a:ext cx="11102009" cy="830997"/>
          </a:xfrm>
          <a:prstGeom prst="rect">
            <a:avLst/>
          </a:prstGeom>
          <a:noFill/>
        </p:spPr>
        <p:txBody>
          <a:bodyPr wrap="square">
            <a:spAutoFit/>
          </a:bodyPr>
          <a:lstStyle/>
          <a:p>
            <a:endParaRPr lang="en-US" sz="2400" dirty="0"/>
          </a:p>
          <a:p>
            <a:endParaRPr lang="en-IN" sz="2400" dirty="0"/>
          </a:p>
        </p:txBody>
      </p:sp>
      <p:sp>
        <p:nvSpPr>
          <p:cNvPr id="6" name="TextBox 5">
            <a:extLst>
              <a:ext uri="{FF2B5EF4-FFF2-40B4-BE49-F238E27FC236}">
                <a16:creationId xmlns:a16="http://schemas.microsoft.com/office/drawing/2014/main" id="{BC25BD8F-5892-4B8D-A2C1-1E9FA3A7213E}"/>
              </a:ext>
            </a:extLst>
          </p:cNvPr>
          <p:cNvSpPr txBox="1"/>
          <p:nvPr/>
        </p:nvSpPr>
        <p:spPr>
          <a:xfrm>
            <a:off x="705679" y="274290"/>
            <a:ext cx="7841973" cy="5940088"/>
          </a:xfrm>
          <a:prstGeom prst="rect">
            <a:avLst/>
          </a:prstGeom>
          <a:noFill/>
        </p:spPr>
        <p:txBody>
          <a:bodyPr wrap="square" rtlCol="0">
            <a:spAutoFit/>
          </a:bodyPr>
          <a:lstStyle/>
          <a:p>
            <a:r>
              <a:rPr lang="en-IN" sz="4400" dirty="0"/>
              <a:t>N=5</a:t>
            </a:r>
          </a:p>
          <a:p>
            <a:endParaRPr lang="en-IN" sz="4400" dirty="0"/>
          </a:p>
          <a:p>
            <a:r>
              <a:rPr lang="en-IN" sz="2800" dirty="0"/>
              <a:t>*****</a:t>
            </a:r>
          </a:p>
          <a:p>
            <a:r>
              <a:rPr lang="en-IN" sz="2800" dirty="0"/>
              <a:t>*       *</a:t>
            </a:r>
          </a:p>
          <a:p>
            <a:r>
              <a:rPr lang="en-IN" sz="2800" dirty="0"/>
              <a:t>*       *</a:t>
            </a:r>
            <a:br>
              <a:rPr lang="en-IN" sz="2800" dirty="0"/>
            </a:br>
            <a:r>
              <a:rPr lang="en-IN" sz="2800" dirty="0"/>
              <a:t>*       *</a:t>
            </a:r>
          </a:p>
          <a:p>
            <a:r>
              <a:rPr lang="en-IN" sz="2800" dirty="0"/>
              <a:t>*****</a:t>
            </a:r>
          </a:p>
          <a:p>
            <a:r>
              <a:rPr lang="en-IN" sz="4400" dirty="0"/>
              <a:t>N=3</a:t>
            </a:r>
          </a:p>
          <a:p>
            <a:r>
              <a:rPr lang="en-IN" sz="3600" dirty="0"/>
              <a:t>***</a:t>
            </a:r>
          </a:p>
          <a:p>
            <a:r>
              <a:rPr lang="en-IN" sz="3600" dirty="0"/>
              <a:t>*  *</a:t>
            </a:r>
          </a:p>
          <a:p>
            <a:r>
              <a:rPr lang="en-IN" sz="3600" dirty="0"/>
              <a:t>***</a:t>
            </a:r>
          </a:p>
        </p:txBody>
      </p:sp>
    </p:spTree>
    <p:extLst>
      <p:ext uri="{BB962C8B-B14F-4D97-AF65-F5344CB8AC3E}">
        <p14:creationId xmlns:p14="http://schemas.microsoft.com/office/powerpoint/2010/main" val="13618608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95F588E-46B5-41D3-A4F5-ED37540023B9}"/>
              </a:ext>
            </a:extLst>
          </p:cNvPr>
          <p:cNvSpPr txBox="1"/>
          <p:nvPr/>
        </p:nvSpPr>
        <p:spPr>
          <a:xfrm>
            <a:off x="347869" y="337931"/>
            <a:ext cx="6589643" cy="6001643"/>
          </a:xfrm>
          <a:prstGeom prst="rect">
            <a:avLst/>
          </a:prstGeom>
          <a:noFill/>
        </p:spPr>
        <p:txBody>
          <a:bodyPr wrap="square" rtlCol="0">
            <a:spAutoFit/>
          </a:bodyPr>
          <a:lstStyle/>
          <a:p>
            <a:r>
              <a:rPr lang="en-IN" sz="2400" dirty="0"/>
              <a:t>char </a:t>
            </a:r>
            <a:r>
              <a:rPr lang="en-IN" sz="2400" dirty="0" err="1"/>
              <a:t>ch</a:t>
            </a:r>
            <a:r>
              <a:rPr lang="en-IN" sz="2400" dirty="0"/>
              <a:t>;</a:t>
            </a:r>
          </a:p>
          <a:p>
            <a:r>
              <a:rPr lang="en-IN" sz="2400" dirty="0" err="1"/>
              <a:t>scanf</a:t>
            </a:r>
            <a:r>
              <a:rPr lang="en-IN" sz="2400" dirty="0"/>
              <a:t>(“%c”,&amp;</a:t>
            </a:r>
            <a:r>
              <a:rPr lang="en-IN" sz="2400" dirty="0" err="1"/>
              <a:t>ch</a:t>
            </a:r>
            <a:r>
              <a:rPr lang="en-IN" sz="2400" dirty="0"/>
              <a:t>);</a:t>
            </a:r>
          </a:p>
          <a:p>
            <a:r>
              <a:rPr lang="en-IN" sz="2400" dirty="0"/>
              <a:t> if((int)</a:t>
            </a:r>
            <a:r>
              <a:rPr lang="en-IN" sz="2400" dirty="0" err="1"/>
              <a:t>ch</a:t>
            </a:r>
            <a:r>
              <a:rPr lang="en-IN" sz="2400" dirty="0"/>
              <a:t>&gt;=65 &amp;&amp; (int)</a:t>
            </a:r>
            <a:r>
              <a:rPr lang="en-IN" sz="2400" dirty="0" err="1"/>
              <a:t>ch</a:t>
            </a:r>
            <a:r>
              <a:rPr lang="en-IN" sz="2400" dirty="0"/>
              <a:t>&lt;=90)</a:t>
            </a:r>
          </a:p>
          <a:p>
            <a:r>
              <a:rPr lang="en-IN" sz="2400" dirty="0"/>
              <a:t>{</a:t>
            </a:r>
          </a:p>
          <a:p>
            <a:r>
              <a:rPr lang="en-IN" sz="2400" dirty="0"/>
              <a:t>for( int </a:t>
            </a:r>
            <a:r>
              <a:rPr lang="en-IN" sz="2400" dirty="0" err="1"/>
              <a:t>i</a:t>
            </a:r>
            <a:r>
              <a:rPr lang="en-IN" sz="2400" dirty="0"/>
              <a:t> = (int)</a:t>
            </a:r>
            <a:r>
              <a:rPr lang="en-IN" sz="2400" dirty="0" err="1"/>
              <a:t>ch</a:t>
            </a:r>
            <a:r>
              <a:rPr lang="en-IN" sz="2400" dirty="0"/>
              <a:t>; </a:t>
            </a:r>
            <a:r>
              <a:rPr lang="en-IN" sz="2400" dirty="0" err="1"/>
              <a:t>i</a:t>
            </a:r>
            <a:r>
              <a:rPr lang="en-IN" sz="2400" dirty="0"/>
              <a:t>&lt;= 90;i++)</a:t>
            </a:r>
          </a:p>
          <a:p>
            <a:r>
              <a:rPr lang="en-IN" sz="2400" dirty="0"/>
              <a:t>	{</a:t>
            </a:r>
          </a:p>
          <a:p>
            <a:r>
              <a:rPr lang="en-IN" sz="2400" dirty="0"/>
              <a:t>		</a:t>
            </a:r>
            <a:r>
              <a:rPr lang="en-IN" sz="2400" dirty="0" err="1"/>
              <a:t>printf</a:t>
            </a:r>
            <a:r>
              <a:rPr lang="en-IN" sz="2400" dirty="0"/>
              <a:t>(“%c”,(char)</a:t>
            </a:r>
            <a:r>
              <a:rPr lang="en-IN" sz="2400" dirty="0" err="1"/>
              <a:t>i</a:t>
            </a:r>
            <a:r>
              <a:rPr lang="en-IN" sz="2400" dirty="0"/>
              <a:t>);</a:t>
            </a:r>
          </a:p>
          <a:p>
            <a:r>
              <a:rPr lang="en-IN" sz="2400" dirty="0"/>
              <a:t>	}</a:t>
            </a:r>
          </a:p>
          <a:p>
            <a:r>
              <a:rPr lang="en-IN" sz="2400" dirty="0"/>
              <a:t>}</a:t>
            </a:r>
          </a:p>
          <a:p>
            <a:r>
              <a:rPr lang="en-IN" sz="2400" dirty="0"/>
              <a:t>else if((int)</a:t>
            </a:r>
            <a:r>
              <a:rPr lang="en-IN" sz="2400" dirty="0" err="1"/>
              <a:t>ch</a:t>
            </a:r>
            <a:r>
              <a:rPr lang="en-IN" sz="2400" dirty="0"/>
              <a:t>&gt;=97 &amp;&amp; (int)</a:t>
            </a:r>
            <a:r>
              <a:rPr lang="en-IN" sz="2400" dirty="0" err="1"/>
              <a:t>ch</a:t>
            </a:r>
            <a:r>
              <a:rPr lang="en-IN" sz="2400" dirty="0"/>
              <a:t>&lt;=122)</a:t>
            </a:r>
          </a:p>
          <a:p>
            <a:r>
              <a:rPr lang="en-IN" sz="2400" dirty="0"/>
              <a:t>{</a:t>
            </a:r>
          </a:p>
          <a:p>
            <a:r>
              <a:rPr lang="en-IN" sz="2400" dirty="0"/>
              <a:t>	for( int </a:t>
            </a:r>
            <a:r>
              <a:rPr lang="en-IN" sz="2400" dirty="0" err="1"/>
              <a:t>i</a:t>
            </a:r>
            <a:r>
              <a:rPr lang="en-IN" sz="2400" dirty="0"/>
              <a:t> = (int)</a:t>
            </a:r>
            <a:r>
              <a:rPr lang="en-IN" sz="2400" dirty="0" err="1"/>
              <a:t>ch</a:t>
            </a:r>
            <a:r>
              <a:rPr lang="en-IN" sz="2400" dirty="0"/>
              <a:t>; </a:t>
            </a:r>
            <a:r>
              <a:rPr lang="en-IN" sz="2400" dirty="0" err="1"/>
              <a:t>i</a:t>
            </a:r>
            <a:r>
              <a:rPr lang="en-IN" sz="2400" dirty="0"/>
              <a:t>&lt;= 122;i++)</a:t>
            </a:r>
          </a:p>
          <a:p>
            <a:r>
              <a:rPr lang="en-IN" sz="2400" dirty="0"/>
              <a:t>	{</a:t>
            </a:r>
          </a:p>
          <a:p>
            <a:r>
              <a:rPr lang="en-IN" sz="2400" dirty="0"/>
              <a:t>		</a:t>
            </a:r>
            <a:r>
              <a:rPr lang="en-IN" sz="2400" dirty="0" err="1"/>
              <a:t>printf</a:t>
            </a:r>
            <a:r>
              <a:rPr lang="en-IN" sz="2400" dirty="0"/>
              <a:t>(“%c”,(char)</a:t>
            </a:r>
            <a:r>
              <a:rPr lang="en-IN" sz="2400" dirty="0" err="1"/>
              <a:t>i</a:t>
            </a:r>
            <a:r>
              <a:rPr lang="en-IN" sz="2400" dirty="0"/>
              <a:t>);</a:t>
            </a:r>
          </a:p>
          <a:p>
            <a:r>
              <a:rPr lang="en-IN" sz="2400" dirty="0"/>
              <a:t>	}</a:t>
            </a:r>
          </a:p>
          <a:p>
            <a:r>
              <a:rPr lang="en-IN" sz="2400" dirty="0"/>
              <a:t>}</a:t>
            </a:r>
          </a:p>
        </p:txBody>
      </p:sp>
    </p:spTree>
    <p:extLst>
      <p:ext uri="{BB962C8B-B14F-4D97-AF65-F5344CB8AC3E}">
        <p14:creationId xmlns:p14="http://schemas.microsoft.com/office/powerpoint/2010/main" val="180159000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0CF0E35-5E53-4421-BDCC-986F96F41FB8}"/>
              </a:ext>
            </a:extLst>
          </p:cNvPr>
          <p:cNvSpPr txBox="1"/>
          <p:nvPr/>
        </p:nvSpPr>
        <p:spPr>
          <a:xfrm>
            <a:off x="417444" y="0"/>
            <a:ext cx="7752522" cy="6370975"/>
          </a:xfrm>
          <a:prstGeom prst="rect">
            <a:avLst/>
          </a:prstGeom>
          <a:noFill/>
        </p:spPr>
        <p:txBody>
          <a:bodyPr wrap="square" rtlCol="0">
            <a:spAutoFit/>
          </a:bodyPr>
          <a:lstStyle/>
          <a:p>
            <a:r>
              <a:rPr lang="en-IN" sz="2400" dirty="0"/>
              <a:t>Char </a:t>
            </a:r>
            <a:r>
              <a:rPr lang="en-IN" sz="2400" dirty="0" err="1"/>
              <a:t>ch</a:t>
            </a:r>
            <a:r>
              <a:rPr lang="en-IN" sz="2400" dirty="0"/>
              <a:t>;</a:t>
            </a:r>
          </a:p>
          <a:p>
            <a:r>
              <a:rPr lang="en-IN" sz="2400" dirty="0" err="1"/>
              <a:t>scanf</a:t>
            </a:r>
            <a:r>
              <a:rPr lang="en-IN" sz="2400" dirty="0"/>
              <a:t>(“%c”,&amp;</a:t>
            </a:r>
            <a:r>
              <a:rPr lang="en-IN" sz="2400" dirty="0" err="1"/>
              <a:t>ch</a:t>
            </a:r>
            <a:r>
              <a:rPr lang="en-IN" sz="2400" dirty="0"/>
              <a:t>);</a:t>
            </a:r>
          </a:p>
          <a:p>
            <a:endParaRPr lang="en-IN" sz="2400" dirty="0"/>
          </a:p>
          <a:p>
            <a:r>
              <a:rPr lang="en-IN" sz="2400" dirty="0"/>
              <a:t>If(</a:t>
            </a:r>
            <a:r>
              <a:rPr lang="en-IN" sz="2400" dirty="0" err="1"/>
              <a:t>ch</a:t>
            </a:r>
            <a:r>
              <a:rPr lang="en-IN" sz="2400" dirty="0"/>
              <a:t>&gt;=‘a’ &amp;&amp; </a:t>
            </a:r>
            <a:r>
              <a:rPr lang="en-IN" sz="2400" dirty="0" err="1"/>
              <a:t>ch</a:t>
            </a:r>
            <a:r>
              <a:rPr lang="en-IN" sz="2400" dirty="0"/>
              <a:t>&lt;=‘z’)</a:t>
            </a:r>
          </a:p>
          <a:p>
            <a:r>
              <a:rPr lang="en-IN" sz="2400" dirty="0"/>
              <a:t>{</a:t>
            </a:r>
          </a:p>
          <a:p>
            <a:r>
              <a:rPr lang="en-IN" sz="2400" dirty="0"/>
              <a:t>	for( char I = </a:t>
            </a:r>
            <a:r>
              <a:rPr lang="en-IN" sz="2400" dirty="0" err="1"/>
              <a:t>ch</a:t>
            </a:r>
            <a:r>
              <a:rPr lang="en-IN" sz="2400" dirty="0"/>
              <a:t>; </a:t>
            </a:r>
            <a:r>
              <a:rPr lang="en-IN" sz="2400" dirty="0" err="1"/>
              <a:t>i</a:t>
            </a:r>
            <a:r>
              <a:rPr lang="en-IN" sz="2400" dirty="0"/>
              <a:t>&lt;=‘z’;i++)</a:t>
            </a:r>
          </a:p>
          <a:p>
            <a:r>
              <a:rPr lang="en-IN" sz="2400" dirty="0"/>
              <a:t>	{</a:t>
            </a:r>
          </a:p>
          <a:p>
            <a:r>
              <a:rPr lang="en-IN" sz="2400" dirty="0"/>
              <a:t>		</a:t>
            </a:r>
            <a:r>
              <a:rPr lang="en-IN" sz="2400" dirty="0" err="1"/>
              <a:t>printf</a:t>
            </a:r>
            <a:r>
              <a:rPr lang="en-IN" sz="2400" dirty="0"/>
              <a:t>(“%c”, </a:t>
            </a:r>
            <a:r>
              <a:rPr lang="en-IN" sz="2400" dirty="0" err="1"/>
              <a:t>i</a:t>
            </a:r>
            <a:r>
              <a:rPr lang="en-IN" sz="2400" dirty="0"/>
              <a:t>);</a:t>
            </a:r>
          </a:p>
          <a:p>
            <a:r>
              <a:rPr lang="en-IN" sz="2400" dirty="0"/>
              <a:t>	} </a:t>
            </a:r>
          </a:p>
          <a:p>
            <a:r>
              <a:rPr lang="en-IN" sz="2400" dirty="0"/>
              <a:t>}</a:t>
            </a:r>
          </a:p>
          <a:p>
            <a:r>
              <a:rPr lang="en-IN" sz="2400" dirty="0"/>
              <a:t>else if ( </a:t>
            </a:r>
            <a:r>
              <a:rPr lang="en-IN" sz="2400" dirty="0" err="1"/>
              <a:t>ch</a:t>
            </a:r>
            <a:r>
              <a:rPr lang="en-IN" sz="2400" dirty="0"/>
              <a:t>&gt;=‘A’ &amp;&amp; </a:t>
            </a:r>
            <a:r>
              <a:rPr lang="en-IN" sz="2400" dirty="0" err="1"/>
              <a:t>ch</a:t>
            </a:r>
            <a:r>
              <a:rPr lang="en-IN" sz="2400" dirty="0"/>
              <a:t>&lt;=‘Z’)</a:t>
            </a:r>
          </a:p>
          <a:p>
            <a:r>
              <a:rPr lang="en-IN" sz="2400" dirty="0"/>
              <a:t>{</a:t>
            </a:r>
          </a:p>
          <a:p>
            <a:r>
              <a:rPr lang="en-IN" sz="2400" dirty="0"/>
              <a:t>	for( char I = </a:t>
            </a:r>
            <a:r>
              <a:rPr lang="en-IN" sz="2400" dirty="0" err="1"/>
              <a:t>ch</a:t>
            </a:r>
            <a:r>
              <a:rPr lang="en-IN" sz="2400" dirty="0"/>
              <a:t>; </a:t>
            </a:r>
            <a:r>
              <a:rPr lang="en-IN" sz="2400" dirty="0" err="1"/>
              <a:t>i</a:t>
            </a:r>
            <a:r>
              <a:rPr lang="en-IN" sz="2400" dirty="0"/>
              <a:t>&lt;=‘Z’;</a:t>
            </a:r>
            <a:r>
              <a:rPr lang="en-IN" sz="2400" dirty="0" err="1"/>
              <a:t>i</a:t>
            </a:r>
            <a:r>
              <a:rPr lang="en-IN" sz="2400" dirty="0"/>
              <a:t>++)</a:t>
            </a:r>
          </a:p>
          <a:p>
            <a:r>
              <a:rPr lang="en-IN" sz="2400" dirty="0"/>
              <a:t>	{</a:t>
            </a:r>
          </a:p>
          <a:p>
            <a:r>
              <a:rPr lang="en-IN" sz="2400" dirty="0"/>
              <a:t>		</a:t>
            </a:r>
            <a:r>
              <a:rPr lang="en-IN" sz="2400" dirty="0" err="1"/>
              <a:t>printf</a:t>
            </a:r>
            <a:r>
              <a:rPr lang="en-IN" sz="2400" dirty="0"/>
              <a:t>(“%c”, </a:t>
            </a:r>
            <a:r>
              <a:rPr lang="en-IN" sz="2400" dirty="0" err="1"/>
              <a:t>i</a:t>
            </a:r>
            <a:r>
              <a:rPr lang="en-IN" sz="2400" dirty="0"/>
              <a:t>);</a:t>
            </a:r>
          </a:p>
          <a:p>
            <a:r>
              <a:rPr lang="en-IN" sz="2400" dirty="0"/>
              <a:t>	} </a:t>
            </a:r>
          </a:p>
          <a:p>
            <a:r>
              <a:rPr lang="en-IN" sz="2400" dirty="0"/>
              <a:t>}</a:t>
            </a:r>
          </a:p>
        </p:txBody>
      </p:sp>
    </p:spTree>
    <p:extLst>
      <p:ext uri="{BB962C8B-B14F-4D97-AF65-F5344CB8AC3E}">
        <p14:creationId xmlns:p14="http://schemas.microsoft.com/office/powerpoint/2010/main" val="11792985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87654C-0220-45E3-9E5F-1DD53B0BC373}"/>
              </a:ext>
            </a:extLst>
          </p:cNvPr>
          <p:cNvSpPr>
            <a:spLocks noGrp="1"/>
          </p:cNvSpPr>
          <p:nvPr>
            <p:ph type="title"/>
          </p:nvPr>
        </p:nvSpPr>
        <p:spPr/>
        <p:txBody>
          <a:bodyPr>
            <a:normAutofit/>
          </a:bodyPr>
          <a:lstStyle/>
          <a:p>
            <a:r>
              <a:rPr lang="en-IN" sz="6000" b="1" dirty="0">
                <a:latin typeface="Cooper Black" panose="0208090404030B020404" pitchFamily="18" charset="0"/>
              </a:rPr>
              <a:t>TEST YOUR SELF</a:t>
            </a:r>
          </a:p>
        </p:txBody>
      </p:sp>
    </p:spTree>
    <p:extLst>
      <p:ext uri="{BB962C8B-B14F-4D97-AF65-F5344CB8AC3E}">
        <p14:creationId xmlns:p14="http://schemas.microsoft.com/office/powerpoint/2010/main" val="59158029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4BB29A3-6DDF-4C8E-9E9C-7D8D8F4A77D5}"/>
              </a:ext>
            </a:extLst>
          </p:cNvPr>
          <p:cNvSpPr txBox="1"/>
          <p:nvPr/>
        </p:nvSpPr>
        <p:spPr>
          <a:xfrm>
            <a:off x="69574" y="297449"/>
            <a:ext cx="12122426" cy="6117124"/>
          </a:xfrm>
          <a:prstGeom prst="rect">
            <a:avLst/>
          </a:prstGeom>
          <a:noFill/>
        </p:spPr>
        <p:txBody>
          <a:bodyPr wrap="square">
            <a:spAutoFit/>
          </a:bodyPr>
          <a:lstStyle/>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The newspaper Agency</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Each Sunday, a newspaper agency sells w copies of a special edition newspaper for </a:t>
            </a:r>
            <a:r>
              <a:rPr lang="en-IN" sz="2800" dirty="0" err="1">
                <a:effectLst/>
                <a:latin typeface="Calibri" panose="020F0502020204030204" pitchFamily="34" charset="0"/>
                <a:ea typeface="Calibri" panose="020F0502020204030204" pitchFamily="34" charset="0"/>
                <a:cs typeface="Gautami" panose="020B0502040204020203" pitchFamily="34" charset="0"/>
              </a:rPr>
              <a:t>Rs.x</a:t>
            </a:r>
            <a:r>
              <a:rPr lang="en-IN" sz="2800" dirty="0">
                <a:effectLst/>
                <a:latin typeface="Calibri" panose="020F0502020204030204" pitchFamily="34" charset="0"/>
                <a:ea typeface="Calibri" panose="020F0502020204030204" pitchFamily="34" charset="0"/>
                <a:cs typeface="Gautami" panose="020B0502040204020203" pitchFamily="34" charset="0"/>
              </a:rPr>
              <a:t> per copy. The cost to the agency of each newspaper is </a:t>
            </a:r>
            <a:r>
              <a:rPr lang="en-IN" sz="2800" dirty="0" err="1">
                <a:effectLst/>
                <a:latin typeface="Calibri" panose="020F0502020204030204" pitchFamily="34" charset="0"/>
                <a:ea typeface="Calibri" panose="020F0502020204030204" pitchFamily="34" charset="0"/>
                <a:cs typeface="Gautami" panose="020B0502040204020203" pitchFamily="34" charset="0"/>
              </a:rPr>
              <a:t>Rs.y</a:t>
            </a:r>
            <a:r>
              <a:rPr lang="en-IN" sz="2800" dirty="0">
                <a:effectLst/>
                <a:latin typeface="Calibri" panose="020F0502020204030204" pitchFamily="34" charset="0"/>
                <a:ea typeface="Calibri" panose="020F0502020204030204" pitchFamily="34" charset="0"/>
                <a:cs typeface="Gautami" panose="020B0502040204020203" pitchFamily="34" charset="0"/>
              </a:rPr>
              <a:t>. The agency pays a fixed cost for storage, delivery and so on of Rs.100 per Sunday. The newspaper agency wants to calculate the profit which it obtains only on Sundays. Can you please help them out by writing a program to compute the profit if w, x, and y are given</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INPUT FORMAT:</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Input consists of 3 integers:</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w, x, and y.</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w is the number of copies sold, x is the cost per copy and y is the cost the agency spends per copy.</a:t>
            </a:r>
          </a:p>
        </p:txBody>
      </p:sp>
    </p:spTree>
    <p:extLst>
      <p:ext uri="{BB962C8B-B14F-4D97-AF65-F5344CB8AC3E}">
        <p14:creationId xmlns:p14="http://schemas.microsoft.com/office/powerpoint/2010/main" val="202216016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01F035F-740E-4AF0-A42F-5D4866703D9D}"/>
              </a:ext>
            </a:extLst>
          </p:cNvPr>
          <p:cNvSpPr txBox="1"/>
          <p:nvPr/>
        </p:nvSpPr>
        <p:spPr>
          <a:xfrm>
            <a:off x="852279" y="96499"/>
            <a:ext cx="9235937" cy="6056530"/>
          </a:xfrm>
          <a:prstGeom prst="rect">
            <a:avLst/>
          </a:prstGeom>
          <a:noFill/>
        </p:spPr>
        <p:txBody>
          <a:bodyPr wrap="square">
            <a:spAutoFit/>
          </a:bodyPr>
          <a:lstStyle/>
          <a:p>
            <a:pPr>
              <a:lnSpc>
                <a:spcPct val="107000"/>
              </a:lnSpc>
              <a:spcAft>
                <a:spcPts val="800"/>
              </a:spcAft>
            </a:pPr>
            <a:r>
              <a:rPr lang="en-IN" sz="3200" dirty="0">
                <a:effectLst/>
                <a:latin typeface="Calibri" panose="020F0502020204030204" pitchFamily="34" charset="0"/>
                <a:ea typeface="Calibri" panose="020F0502020204030204" pitchFamily="34" charset="0"/>
                <a:cs typeface="Gautami" panose="020B0502040204020203" pitchFamily="34" charset="0"/>
              </a:rPr>
              <a:t>OUTPUT FORMAT:</a:t>
            </a:r>
          </a:p>
          <a:p>
            <a:pPr>
              <a:lnSpc>
                <a:spcPct val="107000"/>
              </a:lnSpc>
              <a:spcAft>
                <a:spcPts val="800"/>
              </a:spcAft>
            </a:pPr>
            <a:r>
              <a:rPr lang="en-IN" sz="3200" dirty="0">
                <a:effectLst/>
                <a:latin typeface="Calibri" panose="020F0502020204030204" pitchFamily="34" charset="0"/>
                <a:ea typeface="Calibri" panose="020F0502020204030204" pitchFamily="34" charset="0"/>
                <a:cs typeface="Gautami" panose="020B0502040204020203" pitchFamily="34" charset="0"/>
              </a:rPr>
              <a:t>The output consists of a single integer which corresponds to the profit obtained by the newspaper agency.</a:t>
            </a:r>
          </a:p>
          <a:p>
            <a:pPr>
              <a:lnSpc>
                <a:spcPct val="107000"/>
              </a:lnSpc>
              <a:spcAft>
                <a:spcPts val="800"/>
              </a:spcAft>
            </a:pPr>
            <a:r>
              <a:rPr lang="en-IN" sz="3200" dirty="0">
                <a:effectLst/>
                <a:latin typeface="Calibri" panose="020F0502020204030204" pitchFamily="34" charset="0"/>
                <a:ea typeface="Calibri" panose="020F0502020204030204" pitchFamily="34" charset="0"/>
                <a:cs typeface="Gautami" panose="020B0502040204020203" pitchFamily="34" charset="0"/>
              </a:rPr>
              <a:t>SAMPLE INPUT: </a:t>
            </a:r>
          </a:p>
          <a:p>
            <a:pPr>
              <a:lnSpc>
                <a:spcPct val="107000"/>
              </a:lnSpc>
              <a:spcAft>
                <a:spcPts val="800"/>
              </a:spcAft>
            </a:pPr>
            <a:r>
              <a:rPr lang="en-IN" sz="3200" dirty="0">
                <a:effectLst/>
                <a:latin typeface="Calibri" panose="020F0502020204030204" pitchFamily="34" charset="0"/>
                <a:ea typeface="Calibri" panose="020F0502020204030204" pitchFamily="34" charset="0"/>
                <a:cs typeface="Gautami" panose="020B0502040204020203" pitchFamily="34" charset="0"/>
              </a:rPr>
              <a:t>1000</a:t>
            </a:r>
          </a:p>
          <a:p>
            <a:pPr>
              <a:lnSpc>
                <a:spcPct val="107000"/>
              </a:lnSpc>
              <a:spcAft>
                <a:spcPts val="800"/>
              </a:spcAft>
            </a:pPr>
            <a:r>
              <a:rPr lang="en-IN" sz="3200" dirty="0">
                <a:effectLst/>
                <a:latin typeface="Calibri" panose="020F0502020204030204" pitchFamily="34" charset="0"/>
                <a:ea typeface="Calibri" panose="020F0502020204030204" pitchFamily="34" charset="0"/>
                <a:cs typeface="Gautami" panose="020B0502040204020203" pitchFamily="34" charset="0"/>
              </a:rPr>
              <a:t>2</a:t>
            </a:r>
          </a:p>
          <a:p>
            <a:pPr>
              <a:lnSpc>
                <a:spcPct val="107000"/>
              </a:lnSpc>
              <a:spcAft>
                <a:spcPts val="800"/>
              </a:spcAft>
            </a:pPr>
            <a:r>
              <a:rPr lang="en-IN" sz="3200" dirty="0">
                <a:effectLst/>
                <a:latin typeface="Calibri" panose="020F0502020204030204" pitchFamily="34" charset="0"/>
                <a:ea typeface="Calibri" panose="020F0502020204030204" pitchFamily="34" charset="0"/>
                <a:cs typeface="Gautami" panose="020B0502040204020203" pitchFamily="34" charset="0"/>
              </a:rPr>
              <a:t>1</a:t>
            </a:r>
          </a:p>
          <a:p>
            <a:pPr>
              <a:lnSpc>
                <a:spcPct val="107000"/>
              </a:lnSpc>
              <a:spcAft>
                <a:spcPts val="800"/>
              </a:spcAft>
            </a:pPr>
            <a:r>
              <a:rPr lang="en-IN" sz="3200" dirty="0">
                <a:effectLst/>
                <a:latin typeface="Calibri" panose="020F0502020204030204" pitchFamily="34" charset="0"/>
                <a:ea typeface="Calibri" panose="020F0502020204030204" pitchFamily="34" charset="0"/>
                <a:cs typeface="Gautami" panose="020B0502040204020203" pitchFamily="34" charset="0"/>
              </a:rPr>
              <a:t>SAMPLE OUTPUT: </a:t>
            </a:r>
          </a:p>
          <a:p>
            <a:pPr>
              <a:lnSpc>
                <a:spcPct val="107000"/>
              </a:lnSpc>
              <a:spcAft>
                <a:spcPts val="800"/>
              </a:spcAft>
            </a:pPr>
            <a:r>
              <a:rPr lang="en-IN" sz="3200" dirty="0">
                <a:effectLst/>
                <a:latin typeface="Calibri" panose="020F0502020204030204" pitchFamily="34" charset="0"/>
                <a:ea typeface="Calibri" panose="020F0502020204030204" pitchFamily="34" charset="0"/>
                <a:cs typeface="Gautami" panose="020B0502040204020203" pitchFamily="34" charset="0"/>
              </a:rPr>
              <a:t>900</a:t>
            </a:r>
          </a:p>
        </p:txBody>
      </p:sp>
    </p:spTree>
    <p:extLst>
      <p:ext uri="{BB962C8B-B14F-4D97-AF65-F5344CB8AC3E}">
        <p14:creationId xmlns:p14="http://schemas.microsoft.com/office/powerpoint/2010/main" val="172676191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FEC4B2D-66A6-419B-83AF-EC034E129045}"/>
              </a:ext>
            </a:extLst>
          </p:cNvPr>
          <p:cNvSpPr txBox="1"/>
          <p:nvPr/>
        </p:nvSpPr>
        <p:spPr>
          <a:xfrm>
            <a:off x="576470" y="228600"/>
            <a:ext cx="7146234" cy="2554545"/>
          </a:xfrm>
          <a:prstGeom prst="rect">
            <a:avLst/>
          </a:prstGeom>
          <a:noFill/>
        </p:spPr>
        <p:txBody>
          <a:bodyPr wrap="square" rtlCol="0">
            <a:spAutoFit/>
          </a:bodyPr>
          <a:lstStyle/>
          <a:p>
            <a:r>
              <a:rPr lang="en-IN" sz="4000" dirty="0"/>
              <a:t>Int </a:t>
            </a:r>
            <a:r>
              <a:rPr lang="en-IN" sz="4000" dirty="0" err="1"/>
              <a:t>w,x,y</a:t>
            </a:r>
            <a:r>
              <a:rPr lang="en-IN" sz="4000" dirty="0"/>
              <a:t>;</a:t>
            </a:r>
          </a:p>
          <a:p>
            <a:r>
              <a:rPr lang="en-IN" sz="4000" dirty="0" err="1"/>
              <a:t>scanf</a:t>
            </a:r>
            <a:r>
              <a:rPr lang="en-IN" sz="4000" dirty="0"/>
              <a:t>(“%</a:t>
            </a:r>
            <a:r>
              <a:rPr lang="en-IN" sz="4000" dirty="0" err="1"/>
              <a:t>d%d%d</a:t>
            </a:r>
            <a:r>
              <a:rPr lang="en-IN" sz="4000" dirty="0"/>
              <a:t>”,&amp;w,&amp;</a:t>
            </a:r>
            <a:r>
              <a:rPr lang="en-IN" sz="4000" dirty="0" err="1"/>
              <a:t>x&amp;y</a:t>
            </a:r>
            <a:r>
              <a:rPr lang="en-IN" sz="4000" dirty="0"/>
              <a:t>);</a:t>
            </a:r>
          </a:p>
          <a:p>
            <a:r>
              <a:rPr lang="en-IN" sz="4000" dirty="0" err="1"/>
              <a:t>printf</a:t>
            </a:r>
            <a:r>
              <a:rPr lang="en-IN" sz="4000" dirty="0"/>
              <a:t>(“profit =%d”, w(x-y) – 100);</a:t>
            </a:r>
          </a:p>
          <a:p>
            <a:endParaRPr lang="en-IN" sz="4000" dirty="0"/>
          </a:p>
        </p:txBody>
      </p:sp>
    </p:spTree>
    <p:extLst>
      <p:ext uri="{BB962C8B-B14F-4D97-AF65-F5344CB8AC3E}">
        <p14:creationId xmlns:p14="http://schemas.microsoft.com/office/powerpoint/2010/main" val="395828940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9ED123A-BAFD-4CDE-A8AD-36843D1717A9}"/>
              </a:ext>
            </a:extLst>
          </p:cNvPr>
          <p:cNvSpPr txBox="1"/>
          <p:nvPr/>
        </p:nvSpPr>
        <p:spPr>
          <a:xfrm>
            <a:off x="69573" y="89451"/>
            <a:ext cx="12016409" cy="6772239"/>
          </a:xfrm>
          <a:prstGeom prst="rect">
            <a:avLst/>
          </a:prstGeom>
          <a:noFill/>
        </p:spPr>
        <p:txBody>
          <a:bodyPr wrap="square">
            <a:spAutoFit/>
          </a:bodyPr>
          <a:lstStyle/>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Dept Repay</a:t>
            </a:r>
          </a:p>
          <a:p>
            <a:r>
              <a:rPr lang="en-IN" sz="2400" dirty="0">
                <a:effectLst/>
                <a:latin typeface="Calibri" panose="020F0502020204030204" pitchFamily="34" charset="0"/>
                <a:ea typeface="Calibri" panose="020F0502020204030204" pitchFamily="34" charset="0"/>
                <a:cs typeface="Gautami" panose="020B0502040204020203" pitchFamily="34" charset="0"/>
              </a:rPr>
              <a:t>Alice wanted to start a business and she was looking for a venture capitalist. Through her friend Bob, she met the owner of a construction company who is interested to invest in an emerging business. Looking at the business proposal, the owner was very much impressed with Alice's work. So he decided to invest in Alice's business and hence gave a green signal to go ahead with the project. Alice bought </a:t>
            </a:r>
            <a:r>
              <a:rPr lang="en-IN" sz="2400" dirty="0" err="1">
                <a:effectLst/>
                <a:latin typeface="Calibri" panose="020F0502020204030204" pitchFamily="34" charset="0"/>
                <a:ea typeface="Calibri" panose="020F0502020204030204" pitchFamily="34" charset="0"/>
                <a:cs typeface="Gautami" panose="020B0502040204020203" pitchFamily="34" charset="0"/>
              </a:rPr>
              <a:t>Rs.X</a:t>
            </a:r>
            <a:r>
              <a:rPr lang="en-IN" sz="2400" dirty="0">
                <a:effectLst/>
                <a:latin typeface="Calibri" panose="020F0502020204030204" pitchFamily="34" charset="0"/>
                <a:ea typeface="Calibri" panose="020F0502020204030204" pitchFamily="34" charset="0"/>
                <a:cs typeface="Gautami" panose="020B0502040204020203" pitchFamily="34" charset="0"/>
              </a:rPr>
              <a:t> for a period of Y years from the owner at R% interest per annum. Find the rate of interest and the total amount to be given by Alice to the owner. The owner impressed by proper repayment of the financed amount decides to give a special offer of 2% discount on the total interest at the end of the settlement. Find the amount given back by Alice and also find the total amount. (Note: All rupee values should be in two decimal points)</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INPUT FORMAT:</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Input consists of 3 integers.</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The first integer corresponds to the principal amount borrowed by Alice.</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The second integer corresponds to the rate of interest</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The third integer corresponds to the number of years.</a:t>
            </a:r>
          </a:p>
          <a:p>
            <a:endParaRPr lang="en-IN" sz="2400" dirty="0"/>
          </a:p>
        </p:txBody>
      </p:sp>
    </p:spTree>
    <p:extLst>
      <p:ext uri="{BB962C8B-B14F-4D97-AF65-F5344CB8AC3E}">
        <p14:creationId xmlns:p14="http://schemas.microsoft.com/office/powerpoint/2010/main" val="354945318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472009A-9131-49AF-A8F9-71B1498A93F1}"/>
              </a:ext>
            </a:extLst>
          </p:cNvPr>
          <p:cNvSpPr txBox="1"/>
          <p:nvPr/>
        </p:nvSpPr>
        <p:spPr>
          <a:xfrm>
            <a:off x="168965" y="100877"/>
            <a:ext cx="11121887" cy="5447645"/>
          </a:xfrm>
          <a:prstGeom prst="rect">
            <a:avLst/>
          </a:prstGeom>
          <a:noFill/>
        </p:spPr>
        <p:txBody>
          <a:bodyPr wrap="square">
            <a:spAutoFit/>
          </a:bodyPr>
          <a:lstStyle/>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OUTPUT FORMAT:</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The output consists of 4 floating point values.</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The first value corresponds to the interest.</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The second corresponds to the amount.</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The third value corresponds to the discount</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The last value corresponds to the final settlement.</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All floating point values are to be rounded off to two decimal places</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SAMPLE INPUT: </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100</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1</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10</a:t>
            </a:r>
          </a:p>
        </p:txBody>
      </p:sp>
      <p:sp>
        <p:nvSpPr>
          <p:cNvPr id="5" name="TextBox 4">
            <a:extLst>
              <a:ext uri="{FF2B5EF4-FFF2-40B4-BE49-F238E27FC236}">
                <a16:creationId xmlns:a16="http://schemas.microsoft.com/office/drawing/2014/main" id="{D602C79C-7E38-499F-AAD3-80168C0D7D77}"/>
              </a:ext>
            </a:extLst>
          </p:cNvPr>
          <p:cNvSpPr txBox="1"/>
          <p:nvPr/>
        </p:nvSpPr>
        <p:spPr>
          <a:xfrm>
            <a:off x="4967080" y="3577148"/>
            <a:ext cx="6097656" cy="2461058"/>
          </a:xfrm>
          <a:prstGeom prst="rect">
            <a:avLst/>
          </a:prstGeom>
          <a:noFill/>
        </p:spPr>
        <p:txBody>
          <a:bodyPr wrap="square">
            <a:spAutoFit/>
          </a:bodyPr>
          <a:lstStyle/>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SAMPLE OUTPUT: </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10</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110</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0.20</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109.8</a:t>
            </a:r>
          </a:p>
        </p:txBody>
      </p:sp>
    </p:spTree>
    <p:extLst>
      <p:ext uri="{BB962C8B-B14F-4D97-AF65-F5344CB8AC3E}">
        <p14:creationId xmlns:p14="http://schemas.microsoft.com/office/powerpoint/2010/main" val="280419470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Arrow Connector 1">
            <a:extLst>
              <a:ext uri="{FF2B5EF4-FFF2-40B4-BE49-F238E27FC236}">
                <a16:creationId xmlns:a16="http://schemas.microsoft.com/office/drawing/2014/main" id="{54BFE563-712E-40A9-86B9-0BBA565091D1}"/>
              </a:ext>
            </a:extLst>
          </p:cNvPr>
          <p:cNvCxnSpPr>
            <a:cxnSpLocks/>
          </p:cNvCxnSpPr>
          <p:nvPr/>
        </p:nvCxnSpPr>
        <p:spPr>
          <a:xfrm>
            <a:off x="5836662" y="274859"/>
            <a:ext cx="0" cy="47707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3" name="Flowchart: Data 2">
            <a:extLst>
              <a:ext uri="{FF2B5EF4-FFF2-40B4-BE49-F238E27FC236}">
                <a16:creationId xmlns:a16="http://schemas.microsoft.com/office/drawing/2014/main" id="{92ADFD74-4EB4-4966-BAFF-51285C3972A7}"/>
              </a:ext>
            </a:extLst>
          </p:cNvPr>
          <p:cNvSpPr/>
          <p:nvPr/>
        </p:nvSpPr>
        <p:spPr>
          <a:xfrm>
            <a:off x="3038429" y="840531"/>
            <a:ext cx="5585790" cy="536713"/>
          </a:xfrm>
          <a:prstGeom prst="flowChartInputOutp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3200" dirty="0"/>
              <a:t>Read P,R,N</a:t>
            </a:r>
          </a:p>
        </p:txBody>
      </p:sp>
      <p:sp>
        <p:nvSpPr>
          <p:cNvPr id="4" name="Rectangle 3">
            <a:extLst>
              <a:ext uri="{FF2B5EF4-FFF2-40B4-BE49-F238E27FC236}">
                <a16:creationId xmlns:a16="http://schemas.microsoft.com/office/drawing/2014/main" id="{1A610C32-4446-46FA-9830-8686C897A6B2}"/>
              </a:ext>
            </a:extLst>
          </p:cNvPr>
          <p:cNvSpPr/>
          <p:nvPr/>
        </p:nvSpPr>
        <p:spPr>
          <a:xfrm>
            <a:off x="3955775" y="1942917"/>
            <a:ext cx="3796748" cy="181628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800" dirty="0">
                <a:ln w="0"/>
                <a:solidFill>
                  <a:schemeClr val="tx1"/>
                </a:solidFill>
                <a:effectLst>
                  <a:outerShdw blurRad="38100" dist="19050" dir="2700000" algn="tl" rotWithShape="0">
                    <a:schemeClr val="dk1">
                      <a:alpha val="40000"/>
                    </a:schemeClr>
                  </a:outerShdw>
                </a:effectLst>
              </a:rPr>
              <a:t>SI = (P*R*N)/100</a:t>
            </a:r>
          </a:p>
          <a:p>
            <a:pPr algn="ctr"/>
            <a:r>
              <a:rPr lang="en-IN" sz="2800" dirty="0">
                <a:ln w="0"/>
                <a:solidFill>
                  <a:schemeClr val="tx1"/>
                </a:solidFill>
                <a:effectLst>
                  <a:outerShdw blurRad="38100" dist="19050" dir="2700000" algn="tl" rotWithShape="0">
                    <a:schemeClr val="dk1">
                      <a:alpha val="40000"/>
                    </a:schemeClr>
                  </a:outerShdw>
                </a:effectLst>
              </a:rPr>
              <a:t>A =P+SI</a:t>
            </a:r>
          </a:p>
          <a:p>
            <a:pPr algn="ctr"/>
            <a:r>
              <a:rPr lang="en-IN" sz="2800" dirty="0">
                <a:ln w="0"/>
                <a:solidFill>
                  <a:schemeClr val="tx1"/>
                </a:solidFill>
                <a:effectLst>
                  <a:outerShdw blurRad="38100" dist="19050" dir="2700000" algn="tl" rotWithShape="0">
                    <a:schemeClr val="dk1">
                      <a:alpha val="40000"/>
                    </a:schemeClr>
                  </a:outerShdw>
                </a:effectLst>
              </a:rPr>
              <a:t>D= 2/100  * SI</a:t>
            </a:r>
          </a:p>
          <a:p>
            <a:pPr algn="ctr"/>
            <a:r>
              <a:rPr lang="en-IN" sz="2800" dirty="0">
                <a:ln w="0"/>
                <a:solidFill>
                  <a:schemeClr val="tx1"/>
                </a:solidFill>
                <a:effectLst>
                  <a:outerShdw blurRad="38100" dist="19050" dir="2700000" algn="tl" rotWithShape="0">
                    <a:schemeClr val="dk1">
                      <a:alpha val="40000"/>
                    </a:schemeClr>
                  </a:outerShdw>
                </a:effectLst>
              </a:rPr>
              <a:t>FA = A - D</a:t>
            </a:r>
          </a:p>
        </p:txBody>
      </p:sp>
      <p:cxnSp>
        <p:nvCxnSpPr>
          <p:cNvPr id="5" name="Straight Arrow Connector 4">
            <a:extLst>
              <a:ext uri="{FF2B5EF4-FFF2-40B4-BE49-F238E27FC236}">
                <a16:creationId xmlns:a16="http://schemas.microsoft.com/office/drawing/2014/main" id="{7B90BB12-CCA4-4450-ACFB-1ACBE775AB0A}"/>
              </a:ext>
            </a:extLst>
          </p:cNvPr>
          <p:cNvCxnSpPr>
            <a:cxnSpLocks/>
          </p:cNvCxnSpPr>
          <p:nvPr/>
        </p:nvCxnSpPr>
        <p:spPr>
          <a:xfrm>
            <a:off x="5831324" y="1465837"/>
            <a:ext cx="0" cy="47707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6" name="Flowchart: Data 5">
            <a:extLst>
              <a:ext uri="{FF2B5EF4-FFF2-40B4-BE49-F238E27FC236}">
                <a16:creationId xmlns:a16="http://schemas.microsoft.com/office/drawing/2014/main" id="{B52F35AE-C8D9-4321-8980-91144E2CAA27}"/>
              </a:ext>
            </a:extLst>
          </p:cNvPr>
          <p:cNvSpPr/>
          <p:nvPr/>
        </p:nvSpPr>
        <p:spPr>
          <a:xfrm>
            <a:off x="3038429" y="4313094"/>
            <a:ext cx="5585790" cy="536713"/>
          </a:xfrm>
          <a:prstGeom prst="flowChartInputOutp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3200" dirty="0"/>
              <a:t>PRINT SI, A, D, FA</a:t>
            </a:r>
          </a:p>
        </p:txBody>
      </p:sp>
      <p:cxnSp>
        <p:nvCxnSpPr>
          <p:cNvPr id="7" name="Straight Arrow Connector 6">
            <a:extLst>
              <a:ext uri="{FF2B5EF4-FFF2-40B4-BE49-F238E27FC236}">
                <a16:creationId xmlns:a16="http://schemas.microsoft.com/office/drawing/2014/main" id="{C5EE283A-D554-48A3-92D0-4F143B2D0684}"/>
              </a:ext>
            </a:extLst>
          </p:cNvPr>
          <p:cNvCxnSpPr>
            <a:cxnSpLocks/>
          </p:cNvCxnSpPr>
          <p:nvPr/>
        </p:nvCxnSpPr>
        <p:spPr>
          <a:xfrm>
            <a:off x="5831324" y="3759201"/>
            <a:ext cx="0" cy="47707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8" name="Flowchart: Terminator 7">
            <a:extLst>
              <a:ext uri="{FF2B5EF4-FFF2-40B4-BE49-F238E27FC236}">
                <a16:creationId xmlns:a16="http://schemas.microsoft.com/office/drawing/2014/main" id="{1518F311-3573-4F45-9D6B-89EEB4DF6B19}"/>
              </a:ext>
            </a:extLst>
          </p:cNvPr>
          <p:cNvSpPr/>
          <p:nvPr/>
        </p:nvSpPr>
        <p:spPr>
          <a:xfrm>
            <a:off x="4032341" y="5392163"/>
            <a:ext cx="3597965" cy="536713"/>
          </a:xfrm>
          <a:prstGeom prst="flowChartTermina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800" dirty="0"/>
              <a:t>End</a:t>
            </a:r>
          </a:p>
        </p:txBody>
      </p:sp>
      <p:cxnSp>
        <p:nvCxnSpPr>
          <p:cNvPr id="9" name="Straight Arrow Connector 8">
            <a:extLst>
              <a:ext uri="{FF2B5EF4-FFF2-40B4-BE49-F238E27FC236}">
                <a16:creationId xmlns:a16="http://schemas.microsoft.com/office/drawing/2014/main" id="{1A98BBE2-1EAF-463B-BA6A-7142FCEF89F1}"/>
              </a:ext>
            </a:extLst>
          </p:cNvPr>
          <p:cNvCxnSpPr>
            <a:cxnSpLocks/>
          </p:cNvCxnSpPr>
          <p:nvPr/>
        </p:nvCxnSpPr>
        <p:spPr>
          <a:xfrm>
            <a:off x="5831323" y="4915084"/>
            <a:ext cx="0" cy="47707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160617249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CA32ECA-E30B-4C04-9727-4655BF7F96EB}"/>
              </a:ext>
            </a:extLst>
          </p:cNvPr>
          <p:cNvSpPr txBox="1"/>
          <p:nvPr/>
        </p:nvSpPr>
        <p:spPr>
          <a:xfrm>
            <a:off x="288234" y="139148"/>
            <a:ext cx="11211339" cy="5693866"/>
          </a:xfrm>
          <a:prstGeom prst="rect">
            <a:avLst/>
          </a:prstGeom>
          <a:noFill/>
        </p:spPr>
        <p:txBody>
          <a:bodyPr wrap="square" rtlCol="0">
            <a:spAutoFit/>
          </a:bodyPr>
          <a:lstStyle/>
          <a:p>
            <a:r>
              <a:rPr lang="en-IN" sz="2800" dirty="0"/>
              <a:t>int main()</a:t>
            </a:r>
          </a:p>
          <a:p>
            <a:r>
              <a:rPr lang="en-IN" sz="2800" dirty="0"/>
              <a:t>{</a:t>
            </a:r>
          </a:p>
          <a:p>
            <a:r>
              <a:rPr lang="en-IN" sz="2800" dirty="0"/>
              <a:t>float </a:t>
            </a:r>
            <a:r>
              <a:rPr lang="en-IN" sz="2800" dirty="0" err="1"/>
              <a:t>p,n,r</a:t>
            </a:r>
            <a:r>
              <a:rPr lang="en-IN" sz="2800" dirty="0"/>
              <a:t> SI, A,DA,FA;</a:t>
            </a:r>
          </a:p>
          <a:p>
            <a:r>
              <a:rPr lang="en-IN" sz="2800" dirty="0" err="1"/>
              <a:t>scanf</a:t>
            </a:r>
            <a:r>
              <a:rPr lang="en-IN" sz="2800" dirty="0"/>
              <a:t>(“%</a:t>
            </a:r>
            <a:r>
              <a:rPr lang="en-IN" sz="2800" dirty="0" err="1"/>
              <a:t>f%f%f</a:t>
            </a:r>
            <a:r>
              <a:rPr lang="en-IN" sz="2800" dirty="0"/>
              <a:t>”,&amp;</a:t>
            </a:r>
            <a:r>
              <a:rPr lang="en-IN" sz="2800" dirty="0" err="1"/>
              <a:t>p,&amp;n,&amp;r</a:t>
            </a:r>
            <a:r>
              <a:rPr lang="en-IN" sz="2800" dirty="0"/>
              <a:t>);</a:t>
            </a:r>
          </a:p>
          <a:p>
            <a:r>
              <a:rPr lang="en-IN" sz="2800" dirty="0"/>
              <a:t>SI = (p*r*n) /100;</a:t>
            </a:r>
          </a:p>
          <a:p>
            <a:r>
              <a:rPr lang="en-IN" sz="2800" dirty="0"/>
              <a:t>A = </a:t>
            </a:r>
            <a:r>
              <a:rPr lang="en-IN" sz="2800" dirty="0" err="1"/>
              <a:t>p+SI</a:t>
            </a:r>
            <a:r>
              <a:rPr lang="en-IN" sz="2800" dirty="0"/>
              <a:t>;</a:t>
            </a:r>
          </a:p>
          <a:p>
            <a:r>
              <a:rPr lang="en-IN" sz="2800" dirty="0"/>
              <a:t>DA =  SI *0.02;</a:t>
            </a:r>
          </a:p>
          <a:p>
            <a:r>
              <a:rPr lang="en-IN" sz="2800" dirty="0"/>
              <a:t>FA = A-DA;</a:t>
            </a:r>
          </a:p>
          <a:p>
            <a:r>
              <a:rPr lang="en-IN" sz="2800" dirty="0" err="1"/>
              <a:t>printf</a:t>
            </a:r>
            <a:r>
              <a:rPr lang="en-IN" sz="2800" dirty="0"/>
              <a:t>(“SI:%.2f , A : %.2f, DA: :%.2f, FA: :%.2f”, SI,A,DA,FA);</a:t>
            </a:r>
          </a:p>
          <a:p>
            <a:r>
              <a:rPr lang="en-IN" sz="2800" dirty="0"/>
              <a:t>}</a:t>
            </a:r>
          </a:p>
          <a:p>
            <a:endParaRPr lang="en-IN" sz="2800" dirty="0"/>
          </a:p>
          <a:p>
            <a:endParaRPr lang="en-IN" sz="2800" dirty="0"/>
          </a:p>
          <a:p>
            <a:endParaRPr lang="en-IN" sz="2800" dirty="0"/>
          </a:p>
        </p:txBody>
      </p:sp>
    </p:spTree>
    <p:extLst>
      <p:ext uri="{BB962C8B-B14F-4D97-AF65-F5344CB8AC3E}">
        <p14:creationId xmlns:p14="http://schemas.microsoft.com/office/powerpoint/2010/main" val="17779074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1C0370B-A5E0-4F3B-9CBB-49E9F217AC18}"/>
              </a:ext>
            </a:extLst>
          </p:cNvPr>
          <p:cNvSpPr txBox="1"/>
          <p:nvPr/>
        </p:nvSpPr>
        <p:spPr>
          <a:xfrm>
            <a:off x="69574" y="238539"/>
            <a:ext cx="10197548" cy="5509200"/>
          </a:xfrm>
          <a:prstGeom prst="rect">
            <a:avLst/>
          </a:prstGeom>
          <a:noFill/>
        </p:spPr>
        <p:txBody>
          <a:bodyPr wrap="square" rtlCol="0">
            <a:spAutoFit/>
          </a:bodyPr>
          <a:lstStyle/>
          <a:p>
            <a:r>
              <a:rPr lang="en-IN" sz="3200" dirty="0"/>
              <a:t>Int main()</a:t>
            </a:r>
          </a:p>
          <a:p>
            <a:r>
              <a:rPr lang="en-IN" sz="3200" dirty="0"/>
              <a:t>{</a:t>
            </a:r>
          </a:p>
          <a:p>
            <a:r>
              <a:rPr lang="en-IN" sz="3200" dirty="0"/>
              <a:t>Float </a:t>
            </a:r>
            <a:r>
              <a:rPr lang="en-IN" sz="3200" dirty="0" err="1"/>
              <a:t>p,r,n</a:t>
            </a:r>
            <a:r>
              <a:rPr lang="en-IN" sz="3200" dirty="0"/>
              <a:t>, A,SI,DA,FA</a:t>
            </a:r>
          </a:p>
          <a:p>
            <a:r>
              <a:rPr lang="en-IN" sz="3200" dirty="0" err="1"/>
              <a:t>Scanf</a:t>
            </a:r>
            <a:r>
              <a:rPr lang="en-IN" sz="3200" dirty="0"/>
              <a:t>(“%</a:t>
            </a:r>
            <a:r>
              <a:rPr lang="en-IN" sz="3200" dirty="0" err="1"/>
              <a:t>f%f%f</a:t>
            </a:r>
            <a:r>
              <a:rPr lang="en-IN" sz="3200" dirty="0"/>
              <a:t>”, &amp;p, &amp;r, &amp;n);</a:t>
            </a:r>
          </a:p>
          <a:p>
            <a:r>
              <a:rPr lang="en-IN" sz="3200" dirty="0"/>
              <a:t>SI  = (p*r*n) /100;</a:t>
            </a:r>
          </a:p>
          <a:p>
            <a:r>
              <a:rPr lang="en-IN" sz="3200" dirty="0"/>
              <a:t>DA = 0.02* SI</a:t>
            </a:r>
          </a:p>
          <a:p>
            <a:r>
              <a:rPr lang="en-IN" sz="3200" dirty="0"/>
              <a:t>A  = p + SI</a:t>
            </a:r>
          </a:p>
          <a:p>
            <a:r>
              <a:rPr lang="en-IN" sz="3200" dirty="0"/>
              <a:t>FA = A- DA</a:t>
            </a:r>
          </a:p>
          <a:p>
            <a:endParaRPr lang="en-IN" sz="3200" dirty="0"/>
          </a:p>
          <a:p>
            <a:r>
              <a:rPr lang="en-IN" sz="3200" dirty="0" err="1"/>
              <a:t>Printf</a:t>
            </a:r>
            <a:r>
              <a:rPr lang="en-IN" sz="3200" dirty="0"/>
              <a:t>(“SI:%.2f , A : %.2f, DA: :%.2f, FA: :%.2f”, SI,A,DA,DF);</a:t>
            </a:r>
          </a:p>
          <a:p>
            <a:r>
              <a:rPr lang="en-IN" sz="3200" dirty="0"/>
              <a:t> </a:t>
            </a:r>
          </a:p>
        </p:txBody>
      </p:sp>
    </p:spTree>
    <p:extLst>
      <p:ext uri="{BB962C8B-B14F-4D97-AF65-F5344CB8AC3E}">
        <p14:creationId xmlns:p14="http://schemas.microsoft.com/office/powerpoint/2010/main" val="47738847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6CE4B5A-902E-45E3-AE76-84ABD23747AE}"/>
              </a:ext>
            </a:extLst>
          </p:cNvPr>
          <p:cNvSpPr txBox="1"/>
          <p:nvPr/>
        </p:nvSpPr>
        <p:spPr>
          <a:xfrm>
            <a:off x="69574" y="0"/>
            <a:ext cx="11867321" cy="6494855"/>
          </a:xfrm>
          <a:prstGeom prst="rect">
            <a:avLst/>
          </a:prstGeom>
          <a:noFill/>
        </p:spPr>
        <p:txBody>
          <a:bodyPr wrap="square">
            <a:spAutoFit/>
          </a:bodyPr>
          <a:lstStyle/>
          <a:p>
            <a:pPr>
              <a:lnSpc>
                <a:spcPct val="107000"/>
              </a:lnSpc>
              <a:spcAft>
                <a:spcPts val="800"/>
              </a:spcAft>
            </a:pPr>
            <a:r>
              <a:rPr lang="en-IN" sz="3200" dirty="0">
                <a:effectLst/>
                <a:latin typeface="Calibri" panose="020F0502020204030204" pitchFamily="34" charset="0"/>
                <a:ea typeface="Calibri" panose="020F0502020204030204" pitchFamily="34" charset="0"/>
                <a:cs typeface="Gautami" panose="020B0502040204020203" pitchFamily="34" charset="0"/>
              </a:rPr>
              <a:t>Boating</a:t>
            </a:r>
          </a:p>
          <a:p>
            <a:pPr>
              <a:lnSpc>
                <a:spcPct val="107000"/>
              </a:lnSpc>
              <a:spcAft>
                <a:spcPts val="800"/>
              </a:spcAft>
            </a:pPr>
            <a:r>
              <a:rPr lang="en-IN" sz="3200" dirty="0">
                <a:effectLst/>
                <a:latin typeface="Calibri" panose="020F0502020204030204" pitchFamily="34" charset="0"/>
                <a:ea typeface="Calibri" panose="020F0502020204030204" pitchFamily="34" charset="0"/>
                <a:cs typeface="Gautami" panose="020B0502040204020203" pitchFamily="34" charset="0"/>
              </a:rPr>
              <a:t>You went on a tour to Ooty with your friends. As a part of the tour, you went boating with them. For the boat to remain stable, the number of people on one boat is restricted based on the weight of the people. You find that the boatman who is sailing your boat is so much greedy of money. For earning more, he takes too many people to travel in the boat at a time. So you want to check how many people can travel in the boat at a time so that the boat will not drown. Calculate the weight by considering the number of adults and number of children. Assume that an adult weighs 75 kg and children weigh 30 kg each. If the weight is normal, display Boat is stable, else display Boat will drown.</a:t>
            </a:r>
          </a:p>
        </p:txBody>
      </p:sp>
    </p:spTree>
    <p:extLst>
      <p:ext uri="{BB962C8B-B14F-4D97-AF65-F5344CB8AC3E}">
        <p14:creationId xmlns:p14="http://schemas.microsoft.com/office/powerpoint/2010/main" val="428730822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81618A4-24C0-4FA5-8B81-9A9DEDC73919}"/>
              </a:ext>
            </a:extLst>
          </p:cNvPr>
          <p:cNvSpPr txBox="1"/>
          <p:nvPr/>
        </p:nvSpPr>
        <p:spPr>
          <a:xfrm>
            <a:off x="238539" y="268356"/>
            <a:ext cx="11151704" cy="6169061"/>
          </a:xfrm>
          <a:prstGeom prst="rect">
            <a:avLst/>
          </a:prstGeom>
          <a:noFill/>
        </p:spPr>
        <p:txBody>
          <a:bodyPr wrap="square">
            <a:spAutoFit/>
          </a:bodyPr>
          <a:lstStyle/>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INPUT &amp; OUTPUT FORMAT:</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Input consists of 3 integers.</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First input corresponds to the weight that the boat can handle.</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Second input corresponds to the number of adults.</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Third input corresponds to the number of children.</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SAMPLE INPUT: </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340</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2</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3</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SAMPLE OUTPUT: </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Boat is stable</a:t>
            </a:r>
          </a:p>
        </p:txBody>
      </p:sp>
    </p:spTree>
    <p:extLst>
      <p:ext uri="{BB962C8B-B14F-4D97-AF65-F5344CB8AC3E}">
        <p14:creationId xmlns:p14="http://schemas.microsoft.com/office/powerpoint/2010/main" val="153580673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2F95032-2FFA-4DFF-8DCD-FE85D84F618C}"/>
              </a:ext>
            </a:extLst>
          </p:cNvPr>
          <p:cNvSpPr txBox="1"/>
          <p:nvPr/>
        </p:nvSpPr>
        <p:spPr>
          <a:xfrm>
            <a:off x="447261" y="198783"/>
            <a:ext cx="6172200" cy="3970318"/>
          </a:xfrm>
          <a:prstGeom prst="rect">
            <a:avLst/>
          </a:prstGeom>
          <a:noFill/>
        </p:spPr>
        <p:txBody>
          <a:bodyPr wrap="square" rtlCol="0">
            <a:spAutoFit/>
          </a:bodyPr>
          <a:lstStyle/>
          <a:p>
            <a:r>
              <a:rPr lang="en-IN" sz="2800" dirty="0"/>
              <a:t>Int </a:t>
            </a:r>
            <a:r>
              <a:rPr lang="en-IN" sz="2800" dirty="0" err="1"/>
              <a:t>bw,a,c</a:t>
            </a:r>
            <a:r>
              <a:rPr lang="en-IN" sz="2800" dirty="0"/>
              <a:t>;</a:t>
            </a:r>
          </a:p>
          <a:p>
            <a:r>
              <a:rPr lang="en-IN" sz="2800" dirty="0" err="1"/>
              <a:t>Scanf</a:t>
            </a:r>
            <a:r>
              <a:rPr lang="en-IN" sz="2800" dirty="0"/>
              <a:t>(</a:t>
            </a:r>
          </a:p>
          <a:p>
            <a:r>
              <a:rPr lang="en-IN" sz="2800" dirty="0"/>
              <a:t>If((75*a + 30*c)&gt;</a:t>
            </a:r>
            <a:r>
              <a:rPr lang="en-IN" sz="2800" dirty="0" err="1"/>
              <a:t>bw</a:t>
            </a:r>
            <a:r>
              <a:rPr lang="en-IN" sz="2800" dirty="0"/>
              <a:t>)</a:t>
            </a:r>
          </a:p>
          <a:p>
            <a:r>
              <a:rPr lang="en-IN" sz="2800" dirty="0"/>
              <a:t>{</a:t>
            </a:r>
          </a:p>
          <a:p>
            <a:r>
              <a:rPr lang="en-IN" sz="2800" dirty="0"/>
              <a:t>	</a:t>
            </a:r>
            <a:r>
              <a:rPr lang="en-IN" sz="2800" dirty="0" err="1"/>
              <a:t>printf</a:t>
            </a:r>
            <a:r>
              <a:rPr lang="en-IN" sz="2800" dirty="0"/>
              <a:t>(“Sink”);</a:t>
            </a:r>
          </a:p>
          <a:p>
            <a:r>
              <a:rPr lang="en-IN" sz="2800" dirty="0"/>
              <a:t>}</a:t>
            </a:r>
          </a:p>
          <a:p>
            <a:r>
              <a:rPr lang="en-IN" sz="2800" dirty="0"/>
              <a:t>Else</a:t>
            </a:r>
          </a:p>
          <a:p>
            <a:r>
              <a:rPr lang="en-IN" sz="2800" dirty="0"/>
              <a:t>{ </a:t>
            </a:r>
            <a:r>
              <a:rPr lang="en-IN" sz="2800" dirty="0" err="1"/>
              <a:t>printf</a:t>
            </a:r>
            <a:r>
              <a:rPr lang="en-IN" sz="2800" dirty="0"/>
              <a:t>(“Stable”);</a:t>
            </a:r>
          </a:p>
          <a:p>
            <a:r>
              <a:rPr lang="en-IN" sz="2800" dirty="0"/>
              <a:t>}</a:t>
            </a:r>
          </a:p>
        </p:txBody>
      </p:sp>
    </p:spTree>
    <p:extLst>
      <p:ext uri="{BB962C8B-B14F-4D97-AF65-F5344CB8AC3E}">
        <p14:creationId xmlns:p14="http://schemas.microsoft.com/office/powerpoint/2010/main" val="267923312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C9F9E8-7EAB-440A-926A-40E89B9F9FD3}"/>
              </a:ext>
            </a:extLst>
          </p:cNvPr>
          <p:cNvSpPr txBox="1"/>
          <p:nvPr/>
        </p:nvSpPr>
        <p:spPr>
          <a:xfrm>
            <a:off x="337929" y="268357"/>
            <a:ext cx="10803835" cy="4103046"/>
          </a:xfrm>
          <a:prstGeom prst="rect">
            <a:avLst/>
          </a:prstGeom>
          <a:noFill/>
        </p:spPr>
        <p:txBody>
          <a:bodyPr wrap="square">
            <a:spAutoFit/>
          </a:bodyPr>
          <a:lstStyle/>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Electricity Bill</a:t>
            </a:r>
          </a:p>
          <a:p>
            <a:r>
              <a:rPr lang="en-IN" sz="2800" dirty="0">
                <a:effectLst/>
                <a:latin typeface="Calibri" panose="020F0502020204030204" pitchFamily="34" charset="0"/>
                <a:ea typeface="Calibri" panose="020F0502020204030204" pitchFamily="34" charset="0"/>
                <a:cs typeface="Gautami" panose="020B0502040204020203" pitchFamily="34" charset="0"/>
              </a:rPr>
              <a:t>Electricity board has decided to charge rupees based on the units consumed by a particular home. If the units consumed is less than or equal to 200, the cost for one unit is 0.5. If the unit is less than or equal to 400, the cost for one unit is 0.65 and Rs.100 extra charge. If the unit is less than or equal to 600, the cost for one unit is 0.80 and Rs.200 extra charge. If the unit is greater than 600 the cost for one unit is 1.25 and Rs.425 extra charge. You need to now calculate the electricity bill based on the units consumed (given input).</a:t>
            </a:r>
            <a:endParaRPr lang="en-IN" sz="2800" dirty="0"/>
          </a:p>
        </p:txBody>
      </p:sp>
    </p:spTree>
    <p:extLst>
      <p:ext uri="{BB962C8B-B14F-4D97-AF65-F5344CB8AC3E}">
        <p14:creationId xmlns:p14="http://schemas.microsoft.com/office/powerpoint/2010/main" val="272356123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37B28DF-3C67-4713-9950-CC509B31A27F}"/>
              </a:ext>
            </a:extLst>
          </p:cNvPr>
          <p:cNvSpPr txBox="1"/>
          <p:nvPr/>
        </p:nvSpPr>
        <p:spPr>
          <a:xfrm>
            <a:off x="487017" y="387627"/>
            <a:ext cx="8659467" cy="4452116"/>
          </a:xfrm>
          <a:prstGeom prst="rect">
            <a:avLst/>
          </a:prstGeom>
          <a:noFill/>
        </p:spPr>
        <p:txBody>
          <a:bodyPr wrap="square">
            <a:spAutoFit/>
          </a:bodyPr>
          <a:lstStyle/>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INPUT &amp; OUTPUT FORMAT:</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Input consists of one integer.</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This corresponds to the units consumed.</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The output consists of one integer.</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This corresponds to the electricity bill in rupees.</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SAMPLE INPUT:</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200</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SAMPLE OUTPUT:</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Rs.100</a:t>
            </a:r>
          </a:p>
        </p:txBody>
      </p:sp>
    </p:spTree>
    <p:extLst>
      <p:ext uri="{BB962C8B-B14F-4D97-AF65-F5344CB8AC3E}">
        <p14:creationId xmlns:p14="http://schemas.microsoft.com/office/powerpoint/2010/main" val="173161935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43384260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6AA5E8C-2ABA-4F7B-A018-99F9B42BFBE1}"/>
              </a:ext>
            </a:extLst>
          </p:cNvPr>
          <p:cNvSpPr txBox="1"/>
          <p:nvPr/>
        </p:nvSpPr>
        <p:spPr>
          <a:xfrm>
            <a:off x="467139" y="0"/>
            <a:ext cx="11645348" cy="6434838"/>
          </a:xfrm>
          <a:prstGeom prst="rect">
            <a:avLst/>
          </a:prstGeom>
          <a:noFill/>
        </p:spPr>
        <p:txBody>
          <a:bodyPr wrap="square">
            <a:spAutoFit/>
          </a:bodyPr>
          <a:lstStyle/>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Write a program to generate the first 'n' terms of the following series 121, 225, 361,...</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INPUT &amp; OUTPUT FORMAT:</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The input is an integer 'n' which denotes the number of terms to be printed in the series.</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Print the series and refer the sample output for formatting.</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SAMPLE INPUT:</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4</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SAMPLE OUTPUT:</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121 225 361 529</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 </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Input (stdin)</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5</a:t>
            </a:r>
          </a:p>
          <a:p>
            <a:pPr>
              <a:lnSpc>
                <a:spcPct val="107000"/>
              </a:lnSpc>
              <a:spcAft>
                <a:spcPts val="800"/>
              </a:spcAft>
            </a:pPr>
            <a:r>
              <a:rPr lang="en-IN" sz="2400" dirty="0">
                <a:effectLst/>
                <a:latin typeface="Calibri" panose="020F0502020204030204" pitchFamily="34" charset="0"/>
                <a:ea typeface="Calibri" panose="020F0502020204030204" pitchFamily="34" charset="0"/>
                <a:cs typeface="Gautami" panose="020B0502040204020203" pitchFamily="34" charset="0"/>
              </a:rPr>
              <a:t>Output (</a:t>
            </a:r>
            <a:r>
              <a:rPr lang="en-IN" sz="2400" dirty="0" err="1">
                <a:effectLst/>
                <a:latin typeface="Calibri" panose="020F0502020204030204" pitchFamily="34" charset="0"/>
                <a:ea typeface="Calibri" panose="020F0502020204030204" pitchFamily="34" charset="0"/>
                <a:cs typeface="Gautami" panose="020B0502040204020203" pitchFamily="34" charset="0"/>
              </a:rPr>
              <a:t>stdout</a:t>
            </a:r>
            <a:r>
              <a:rPr lang="en-IN" sz="2400" dirty="0">
                <a:effectLst/>
                <a:latin typeface="Calibri" panose="020F0502020204030204" pitchFamily="34" charset="0"/>
                <a:ea typeface="Calibri" panose="020F0502020204030204" pitchFamily="34" charset="0"/>
                <a:cs typeface="Gautami" panose="020B0502040204020203" pitchFamily="34" charset="0"/>
              </a:rPr>
              <a:t>)</a:t>
            </a:r>
          </a:p>
          <a:p>
            <a:r>
              <a:rPr lang="en-IN" sz="2400" dirty="0">
                <a:effectLst/>
                <a:latin typeface="Calibri" panose="020F0502020204030204" pitchFamily="34" charset="0"/>
                <a:ea typeface="Calibri" panose="020F0502020204030204" pitchFamily="34" charset="0"/>
                <a:cs typeface="Gautami" panose="020B0502040204020203" pitchFamily="34" charset="0"/>
              </a:rPr>
              <a:t>121 225 361 529 729</a:t>
            </a:r>
            <a:endParaRPr lang="en-IN" sz="2400" dirty="0"/>
          </a:p>
        </p:txBody>
      </p:sp>
    </p:spTree>
    <p:extLst>
      <p:ext uri="{BB962C8B-B14F-4D97-AF65-F5344CB8AC3E}">
        <p14:creationId xmlns:p14="http://schemas.microsoft.com/office/powerpoint/2010/main" val="242010546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EED21-83FF-4B82-A506-A38627AC3FC2}"/>
              </a:ext>
            </a:extLst>
          </p:cNvPr>
          <p:cNvSpPr txBox="1"/>
          <p:nvPr/>
        </p:nvSpPr>
        <p:spPr>
          <a:xfrm>
            <a:off x="288235" y="477078"/>
            <a:ext cx="8239539" cy="5078313"/>
          </a:xfrm>
          <a:prstGeom prst="rect">
            <a:avLst/>
          </a:prstGeom>
          <a:noFill/>
        </p:spPr>
        <p:txBody>
          <a:bodyPr wrap="square" rtlCol="0">
            <a:spAutoFit/>
          </a:bodyPr>
          <a:lstStyle/>
          <a:p>
            <a:r>
              <a:rPr lang="en-IN" sz="3600" dirty="0"/>
              <a:t>Int range, start = 11, index;</a:t>
            </a:r>
          </a:p>
          <a:p>
            <a:r>
              <a:rPr lang="en-IN" sz="3600" dirty="0" err="1"/>
              <a:t>Scanf</a:t>
            </a:r>
            <a:r>
              <a:rPr lang="en-IN" sz="3600" dirty="0"/>
              <a:t>(“%</a:t>
            </a:r>
            <a:r>
              <a:rPr lang="en-IN" sz="3600" dirty="0" err="1"/>
              <a:t>d”,&amp;range</a:t>
            </a:r>
            <a:r>
              <a:rPr lang="en-IN" sz="3600" dirty="0"/>
              <a:t>);</a:t>
            </a:r>
          </a:p>
          <a:p>
            <a:endParaRPr lang="en-IN" sz="3600" dirty="0"/>
          </a:p>
          <a:p>
            <a:r>
              <a:rPr lang="en-IN" sz="3600" dirty="0"/>
              <a:t>for( index = 0;index &lt; range; index++)</a:t>
            </a:r>
          </a:p>
          <a:p>
            <a:r>
              <a:rPr lang="en-IN" sz="3600" dirty="0"/>
              <a:t>	{</a:t>
            </a:r>
          </a:p>
          <a:p>
            <a:r>
              <a:rPr lang="en-IN" sz="3600" dirty="0"/>
              <a:t>	</a:t>
            </a:r>
            <a:r>
              <a:rPr lang="en-IN" sz="3600" dirty="0" err="1"/>
              <a:t>printf</a:t>
            </a:r>
            <a:r>
              <a:rPr lang="en-IN" sz="3600" dirty="0"/>
              <a:t>(“%</a:t>
            </a:r>
            <a:r>
              <a:rPr lang="en-IN" sz="3600" dirty="0" err="1"/>
              <a:t>d”,start</a:t>
            </a:r>
            <a:r>
              <a:rPr lang="en-IN" sz="3600" dirty="0"/>
              <a:t>*start);</a:t>
            </a:r>
          </a:p>
          <a:p>
            <a:r>
              <a:rPr lang="en-IN" sz="3600" dirty="0"/>
              <a:t>	start+=4;</a:t>
            </a:r>
          </a:p>
          <a:p>
            <a:r>
              <a:rPr lang="en-IN" sz="3600" dirty="0"/>
              <a:t>	}</a:t>
            </a:r>
          </a:p>
          <a:p>
            <a:endParaRPr lang="en-IN" sz="3600" dirty="0"/>
          </a:p>
        </p:txBody>
      </p:sp>
    </p:spTree>
    <p:extLst>
      <p:ext uri="{BB962C8B-B14F-4D97-AF65-F5344CB8AC3E}">
        <p14:creationId xmlns:p14="http://schemas.microsoft.com/office/powerpoint/2010/main" val="262216191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8E24156-7B28-4898-852D-B4BF0D016FE7}"/>
              </a:ext>
            </a:extLst>
          </p:cNvPr>
          <p:cNvSpPr txBox="1"/>
          <p:nvPr/>
        </p:nvSpPr>
        <p:spPr>
          <a:xfrm>
            <a:off x="288234" y="218661"/>
            <a:ext cx="10853530" cy="3914598"/>
          </a:xfrm>
          <a:prstGeom prst="rect">
            <a:avLst/>
          </a:prstGeom>
          <a:noFill/>
        </p:spPr>
        <p:txBody>
          <a:bodyPr wrap="square">
            <a:spAutoFit/>
          </a:bodyPr>
          <a:lstStyle/>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Draw an flowchart to generate the following series -2,0,2,8,14,...,34.</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Input format:</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The input is an integer which denotes 'n'.</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Output format:</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Print the series and refer the sample output for formatting.</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Sample Input:</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7</a:t>
            </a:r>
          </a:p>
        </p:txBody>
      </p:sp>
      <p:sp>
        <p:nvSpPr>
          <p:cNvPr id="4" name="TextBox 3">
            <a:extLst>
              <a:ext uri="{FF2B5EF4-FFF2-40B4-BE49-F238E27FC236}">
                <a16:creationId xmlns:a16="http://schemas.microsoft.com/office/drawing/2014/main" id="{C40788E8-9FBF-4571-822D-48221D6B86CF}"/>
              </a:ext>
            </a:extLst>
          </p:cNvPr>
          <p:cNvSpPr txBox="1"/>
          <p:nvPr/>
        </p:nvSpPr>
        <p:spPr>
          <a:xfrm>
            <a:off x="4907445" y="3061955"/>
            <a:ext cx="6097656" cy="3341299"/>
          </a:xfrm>
          <a:prstGeom prst="rect">
            <a:avLst/>
          </a:prstGeom>
          <a:noFill/>
        </p:spPr>
        <p:txBody>
          <a:bodyPr wrap="square">
            <a:spAutoFit/>
          </a:bodyPr>
          <a:lstStyle/>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Sample Output:</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-2 0 2 8 14 24 34</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Input (stdin)</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10</a:t>
            </a:r>
          </a:p>
          <a:p>
            <a:pPr>
              <a:lnSpc>
                <a:spcPct val="107000"/>
              </a:lnSpc>
              <a:spcAft>
                <a:spcPts val="800"/>
              </a:spcAft>
            </a:pPr>
            <a:r>
              <a:rPr lang="en-IN" sz="2800" dirty="0">
                <a:effectLst/>
                <a:latin typeface="Calibri" panose="020F0502020204030204" pitchFamily="34" charset="0"/>
                <a:ea typeface="Calibri" panose="020F0502020204030204" pitchFamily="34" charset="0"/>
                <a:cs typeface="Gautami" panose="020B0502040204020203" pitchFamily="34" charset="0"/>
              </a:rPr>
              <a:t>Output (</a:t>
            </a:r>
            <a:r>
              <a:rPr lang="en-IN" sz="2800" dirty="0" err="1">
                <a:effectLst/>
                <a:latin typeface="Calibri" panose="020F0502020204030204" pitchFamily="34" charset="0"/>
                <a:ea typeface="Calibri" panose="020F0502020204030204" pitchFamily="34" charset="0"/>
                <a:cs typeface="Gautami" panose="020B0502040204020203" pitchFamily="34" charset="0"/>
              </a:rPr>
              <a:t>stdout</a:t>
            </a:r>
            <a:r>
              <a:rPr lang="en-IN" sz="2800" dirty="0">
                <a:effectLst/>
                <a:latin typeface="Calibri" panose="020F0502020204030204" pitchFamily="34" charset="0"/>
                <a:ea typeface="Calibri" panose="020F0502020204030204" pitchFamily="34" charset="0"/>
                <a:cs typeface="Gautami" panose="020B0502040204020203" pitchFamily="34" charset="0"/>
              </a:rPr>
              <a:t>)</a:t>
            </a:r>
          </a:p>
          <a:p>
            <a:r>
              <a:rPr lang="en-IN" sz="2800" dirty="0">
                <a:effectLst/>
                <a:latin typeface="Calibri" panose="020F0502020204030204" pitchFamily="34" charset="0"/>
                <a:ea typeface="Calibri" panose="020F0502020204030204" pitchFamily="34" charset="0"/>
                <a:cs typeface="Gautami" panose="020B0502040204020203" pitchFamily="34" charset="0"/>
              </a:rPr>
              <a:t>-2 0 2 8 14 24 34 48 62 80</a:t>
            </a:r>
            <a:endParaRPr lang="en-IN" sz="2800" dirty="0"/>
          </a:p>
        </p:txBody>
      </p:sp>
    </p:spTree>
    <p:extLst>
      <p:ext uri="{BB962C8B-B14F-4D97-AF65-F5344CB8AC3E}">
        <p14:creationId xmlns:p14="http://schemas.microsoft.com/office/powerpoint/2010/main" val="129383192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B8933AE-096C-442F-8D5E-5D43ED15FE76}"/>
              </a:ext>
            </a:extLst>
          </p:cNvPr>
          <p:cNvSpPr txBox="1"/>
          <p:nvPr/>
        </p:nvSpPr>
        <p:spPr>
          <a:xfrm>
            <a:off x="701040" y="292412"/>
            <a:ext cx="10586720" cy="1569660"/>
          </a:xfrm>
          <a:prstGeom prst="rect">
            <a:avLst/>
          </a:prstGeom>
          <a:noFill/>
        </p:spPr>
        <p:txBody>
          <a:bodyPr wrap="square">
            <a:spAutoFit/>
          </a:bodyPr>
          <a:lstStyle/>
          <a:p>
            <a:r>
              <a:rPr lang="en-IN" sz="4800" dirty="0">
                <a:effectLst/>
                <a:latin typeface="Calibri" panose="020F0502020204030204" pitchFamily="34" charset="0"/>
                <a:ea typeface="Calibri" panose="020F0502020204030204" pitchFamily="34" charset="0"/>
                <a:cs typeface="Gautami" panose="020B0502040204020203" pitchFamily="34" charset="0"/>
              </a:rPr>
              <a:t>-2   0   2   8   14   24   34   48   62   80</a:t>
            </a:r>
          </a:p>
          <a:p>
            <a:r>
              <a:rPr lang="en-IN" sz="4800" dirty="0">
                <a:solidFill>
                  <a:srgbClr val="FF0000"/>
                </a:solidFill>
              </a:rPr>
              <a:t>1		2	  3	 4    5     6     7      8     9    10</a:t>
            </a:r>
          </a:p>
        </p:txBody>
      </p:sp>
    </p:spTree>
    <p:extLst>
      <p:ext uri="{BB962C8B-B14F-4D97-AF65-F5344CB8AC3E}">
        <p14:creationId xmlns:p14="http://schemas.microsoft.com/office/powerpoint/2010/main" val="160978753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5B22373-1EC2-44E4-BCA5-F79C8A2B8879}"/>
              </a:ext>
            </a:extLst>
          </p:cNvPr>
          <p:cNvSpPr txBox="1"/>
          <p:nvPr/>
        </p:nvSpPr>
        <p:spPr>
          <a:xfrm>
            <a:off x="340000" y="0"/>
            <a:ext cx="11511999" cy="6494085"/>
          </a:xfrm>
          <a:prstGeom prst="rect">
            <a:avLst/>
          </a:prstGeom>
          <a:noFill/>
        </p:spPr>
        <p:txBody>
          <a:bodyPr wrap="square">
            <a:spAutoFit/>
          </a:bodyPr>
          <a:lstStyle/>
          <a:p>
            <a:r>
              <a:rPr lang="en-IN" sz="3200" dirty="0"/>
              <a:t>Int range, start = -2,d =2, index;</a:t>
            </a:r>
          </a:p>
          <a:p>
            <a:r>
              <a:rPr lang="en-IN" sz="3200" dirty="0" err="1"/>
              <a:t>Scanf</a:t>
            </a:r>
            <a:r>
              <a:rPr lang="en-IN" sz="3200" dirty="0"/>
              <a:t>(“%</a:t>
            </a:r>
            <a:r>
              <a:rPr lang="en-IN" sz="3200" dirty="0" err="1"/>
              <a:t>d”,&amp;range</a:t>
            </a:r>
            <a:r>
              <a:rPr lang="en-IN" sz="3200" dirty="0"/>
              <a:t>);</a:t>
            </a:r>
          </a:p>
          <a:p>
            <a:r>
              <a:rPr lang="en-IN" sz="3200" dirty="0"/>
              <a:t>for( index = 1;index &lt;=range; index++)</a:t>
            </a:r>
          </a:p>
          <a:p>
            <a:r>
              <a:rPr lang="en-IN" sz="3200" dirty="0"/>
              <a:t>{</a:t>
            </a:r>
          </a:p>
          <a:p>
            <a:r>
              <a:rPr lang="en-IN" sz="3200" dirty="0"/>
              <a:t>	if(index&gt;1)</a:t>
            </a:r>
          </a:p>
          <a:p>
            <a:r>
              <a:rPr lang="en-IN" sz="3200" dirty="0"/>
              <a:t>	{</a:t>
            </a:r>
          </a:p>
          <a:p>
            <a:r>
              <a:rPr lang="en-IN" sz="3200" dirty="0"/>
              <a:t>	if(	index%2==0){ start =</a:t>
            </a:r>
            <a:r>
              <a:rPr lang="en-IN" sz="3200" dirty="0" err="1"/>
              <a:t>start+d</a:t>
            </a:r>
            <a:r>
              <a:rPr lang="en-IN" sz="3200" dirty="0"/>
              <a:t>;</a:t>
            </a:r>
          </a:p>
          <a:p>
            <a:r>
              <a:rPr lang="en-IN" sz="3200" dirty="0"/>
              <a:t>	}</a:t>
            </a:r>
          </a:p>
          <a:p>
            <a:r>
              <a:rPr lang="en-IN" sz="3200" dirty="0"/>
              <a:t>	else </a:t>
            </a:r>
          </a:p>
          <a:p>
            <a:r>
              <a:rPr lang="en-IN" sz="3200" dirty="0"/>
              <a:t>	{start =</a:t>
            </a:r>
            <a:r>
              <a:rPr lang="en-IN" sz="3200" dirty="0" err="1"/>
              <a:t>start+d</a:t>
            </a:r>
            <a:r>
              <a:rPr lang="en-IN" sz="3200" dirty="0"/>
              <a:t>; d= d+4;</a:t>
            </a:r>
          </a:p>
          <a:p>
            <a:r>
              <a:rPr lang="en-IN" sz="3200" dirty="0"/>
              <a:t>	}}</a:t>
            </a:r>
          </a:p>
          <a:p>
            <a:r>
              <a:rPr lang="en-IN" sz="3200" dirty="0" err="1"/>
              <a:t>printf</a:t>
            </a:r>
            <a:r>
              <a:rPr lang="en-IN" sz="3200" dirty="0"/>
              <a:t>(“%</a:t>
            </a:r>
            <a:r>
              <a:rPr lang="en-IN" sz="3200" dirty="0" err="1"/>
              <a:t>d”,start</a:t>
            </a:r>
            <a:r>
              <a:rPr lang="en-IN" sz="3200" dirty="0"/>
              <a:t>);</a:t>
            </a:r>
          </a:p>
          <a:p>
            <a:r>
              <a:rPr lang="en-IN" sz="3200" dirty="0"/>
              <a:t>}</a:t>
            </a:r>
          </a:p>
        </p:txBody>
      </p:sp>
    </p:spTree>
    <p:extLst>
      <p:ext uri="{BB962C8B-B14F-4D97-AF65-F5344CB8AC3E}">
        <p14:creationId xmlns:p14="http://schemas.microsoft.com/office/powerpoint/2010/main" val="37571934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258097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78EDD8-8EE3-4845-8399-C1D589DCDE89}"/>
              </a:ext>
            </a:extLst>
          </p:cNvPr>
          <p:cNvSpPr txBox="1"/>
          <p:nvPr/>
        </p:nvSpPr>
        <p:spPr>
          <a:xfrm>
            <a:off x="805070" y="367748"/>
            <a:ext cx="6351104" cy="5262979"/>
          </a:xfrm>
          <a:prstGeom prst="rect">
            <a:avLst/>
          </a:prstGeom>
          <a:noFill/>
        </p:spPr>
        <p:txBody>
          <a:bodyPr wrap="square" rtlCol="0">
            <a:spAutoFit/>
          </a:bodyPr>
          <a:lstStyle/>
          <a:p>
            <a:r>
              <a:rPr lang="en-IN" sz="2800" dirty="0"/>
              <a:t>Int n;</a:t>
            </a:r>
          </a:p>
          <a:p>
            <a:r>
              <a:rPr lang="en-IN" sz="2800" dirty="0" err="1"/>
              <a:t>Scanf</a:t>
            </a:r>
            <a:r>
              <a:rPr lang="en-IN" sz="2800" dirty="0"/>
              <a:t>(“%</a:t>
            </a:r>
            <a:r>
              <a:rPr lang="en-IN" sz="2800" dirty="0" err="1"/>
              <a:t>d”,&amp;n</a:t>
            </a:r>
            <a:r>
              <a:rPr lang="en-IN" sz="2800" dirty="0"/>
              <a:t>);</a:t>
            </a:r>
          </a:p>
          <a:p>
            <a:r>
              <a:rPr lang="en-IN" sz="2800" dirty="0"/>
              <a:t>For ( int </a:t>
            </a:r>
            <a:r>
              <a:rPr lang="en-IN" sz="2800" dirty="0" err="1"/>
              <a:t>i</a:t>
            </a:r>
            <a:r>
              <a:rPr lang="en-IN" sz="2800" dirty="0"/>
              <a:t>=1 ;</a:t>
            </a:r>
            <a:r>
              <a:rPr lang="en-IN" sz="2800" dirty="0" err="1"/>
              <a:t>i</a:t>
            </a:r>
            <a:r>
              <a:rPr lang="en-IN" sz="2800" dirty="0"/>
              <a:t>&lt;=</a:t>
            </a:r>
            <a:r>
              <a:rPr lang="en-IN" sz="2800" dirty="0" err="1"/>
              <a:t>n;i</a:t>
            </a:r>
            <a:r>
              <a:rPr lang="en-IN" sz="2800" dirty="0"/>
              <a:t>++){</a:t>
            </a:r>
          </a:p>
          <a:p>
            <a:r>
              <a:rPr lang="en-IN" sz="2800" dirty="0"/>
              <a:t>	for(int j=1;j&lt;=</a:t>
            </a:r>
            <a:r>
              <a:rPr lang="en-IN" sz="2800" dirty="0" err="1"/>
              <a:t>n;j</a:t>
            </a:r>
            <a:r>
              <a:rPr lang="en-IN" sz="2800" dirty="0"/>
              <a:t>++)</a:t>
            </a:r>
          </a:p>
          <a:p>
            <a:r>
              <a:rPr lang="en-IN" sz="2800" dirty="0"/>
              <a:t>	{</a:t>
            </a:r>
          </a:p>
          <a:p>
            <a:r>
              <a:rPr lang="en-IN" sz="2800" dirty="0"/>
              <a:t>	if( </a:t>
            </a:r>
            <a:r>
              <a:rPr lang="en-IN" sz="2800" dirty="0" err="1"/>
              <a:t>i</a:t>
            </a:r>
            <a:r>
              <a:rPr lang="en-IN" sz="2800" dirty="0"/>
              <a:t>==j || </a:t>
            </a:r>
            <a:r>
              <a:rPr lang="en-IN" sz="2800" dirty="0" err="1"/>
              <a:t>i+j</a:t>
            </a:r>
            <a:r>
              <a:rPr lang="en-IN" sz="2800" dirty="0"/>
              <a:t> =n+1)</a:t>
            </a:r>
          </a:p>
          <a:p>
            <a:r>
              <a:rPr lang="en-IN" sz="2800" dirty="0"/>
              <a:t>	</a:t>
            </a:r>
            <a:r>
              <a:rPr lang="en-IN" sz="2800" dirty="0" err="1"/>
              <a:t>printf</a:t>
            </a:r>
            <a:r>
              <a:rPr lang="en-IN" sz="2800" dirty="0"/>
              <a:t>(“_”);</a:t>
            </a:r>
          </a:p>
          <a:p>
            <a:r>
              <a:rPr lang="en-IN" sz="2800" dirty="0"/>
              <a:t>	else</a:t>
            </a:r>
          </a:p>
          <a:p>
            <a:r>
              <a:rPr lang="en-IN" sz="2800" dirty="0"/>
              <a:t>	</a:t>
            </a:r>
            <a:r>
              <a:rPr lang="en-IN" sz="2800" dirty="0" err="1"/>
              <a:t>printf</a:t>
            </a:r>
            <a:r>
              <a:rPr lang="en-IN" sz="2800" dirty="0"/>
              <a:t>(“%</a:t>
            </a:r>
            <a:r>
              <a:rPr lang="en-IN" sz="2800" dirty="0" err="1"/>
              <a:t>d“,j</a:t>
            </a:r>
            <a:r>
              <a:rPr lang="en-IN" sz="2800" dirty="0"/>
              <a:t>);</a:t>
            </a:r>
          </a:p>
          <a:p>
            <a:r>
              <a:rPr lang="en-IN" sz="2800" dirty="0"/>
              <a:t>	}</a:t>
            </a:r>
            <a:r>
              <a:rPr lang="en-IN" sz="2800" dirty="0" err="1"/>
              <a:t>printf</a:t>
            </a:r>
            <a:r>
              <a:rPr lang="en-IN" sz="2800" dirty="0"/>
              <a:t>(“\n”);</a:t>
            </a:r>
          </a:p>
          <a:p>
            <a:r>
              <a:rPr lang="en-IN" sz="2800" dirty="0"/>
              <a:t>}</a:t>
            </a:r>
          </a:p>
          <a:p>
            <a:endParaRPr lang="en-IN" sz="2800" dirty="0"/>
          </a:p>
        </p:txBody>
      </p:sp>
    </p:spTree>
    <p:extLst>
      <p:ext uri="{BB962C8B-B14F-4D97-AF65-F5344CB8AC3E}">
        <p14:creationId xmlns:p14="http://schemas.microsoft.com/office/powerpoint/2010/main" val="42050819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3E41266-A48D-4ADD-879E-1112780733B3}"/>
              </a:ext>
            </a:extLst>
          </p:cNvPr>
          <p:cNvSpPr txBox="1"/>
          <p:nvPr/>
        </p:nvSpPr>
        <p:spPr>
          <a:xfrm>
            <a:off x="914400" y="419035"/>
            <a:ext cx="6589644" cy="6001643"/>
          </a:xfrm>
          <a:prstGeom prst="rect">
            <a:avLst/>
          </a:prstGeom>
          <a:noFill/>
        </p:spPr>
        <p:txBody>
          <a:bodyPr wrap="square" rtlCol="0">
            <a:spAutoFit/>
          </a:bodyPr>
          <a:lstStyle/>
          <a:p>
            <a:r>
              <a:rPr lang="en-IN" sz="3200" dirty="0"/>
              <a:t>N=3</a:t>
            </a:r>
          </a:p>
          <a:p>
            <a:r>
              <a:rPr lang="en-IN" sz="3200" dirty="0"/>
              <a:t>_2_</a:t>
            </a:r>
          </a:p>
          <a:p>
            <a:r>
              <a:rPr lang="en-IN" sz="3200" dirty="0"/>
              <a:t>1 _3</a:t>
            </a:r>
          </a:p>
          <a:p>
            <a:r>
              <a:rPr lang="en-IN" sz="3200" dirty="0"/>
              <a:t>_2_</a:t>
            </a:r>
          </a:p>
          <a:p>
            <a:endParaRPr lang="en-IN" sz="3200" dirty="0"/>
          </a:p>
          <a:p>
            <a:r>
              <a:rPr lang="en-IN" sz="3200" dirty="0"/>
              <a:t>N=5</a:t>
            </a:r>
          </a:p>
          <a:p>
            <a:r>
              <a:rPr lang="en-IN" sz="3200" dirty="0"/>
              <a:t>_234_</a:t>
            </a:r>
          </a:p>
          <a:p>
            <a:r>
              <a:rPr lang="en-IN" sz="3200" dirty="0"/>
              <a:t>1_3_5</a:t>
            </a:r>
          </a:p>
          <a:p>
            <a:r>
              <a:rPr lang="en-IN" sz="3200" dirty="0"/>
              <a:t>12_45</a:t>
            </a:r>
          </a:p>
          <a:p>
            <a:r>
              <a:rPr lang="en-IN" sz="3200" dirty="0"/>
              <a:t>1_3_5</a:t>
            </a:r>
          </a:p>
          <a:p>
            <a:r>
              <a:rPr lang="en-IN" sz="3200" dirty="0"/>
              <a:t>_234_</a:t>
            </a:r>
          </a:p>
          <a:p>
            <a:endParaRPr lang="en-IN" sz="3200" dirty="0"/>
          </a:p>
        </p:txBody>
      </p:sp>
      <p:sp>
        <p:nvSpPr>
          <p:cNvPr id="3" name="TextBox 2">
            <a:extLst>
              <a:ext uri="{FF2B5EF4-FFF2-40B4-BE49-F238E27FC236}">
                <a16:creationId xmlns:a16="http://schemas.microsoft.com/office/drawing/2014/main" id="{758371CF-CF3B-4D1E-9BF7-A94B42D3AE05}"/>
              </a:ext>
            </a:extLst>
          </p:cNvPr>
          <p:cNvSpPr txBox="1"/>
          <p:nvPr/>
        </p:nvSpPr>
        <p:spPr>
          <a:xfrm>
            <a:off x="5625548" y="-39756"/>
            <a:ext cx="4711147" cy="9140964"/>
          </a:xfrm>
          <a:prstGeom prst="rect">
            <a:avLst/>
          </a:prstGeom>
          <a:noFill/>
        </p:spPr>
        <p:txBody>
          <a:bodyPr wrap="square" rtlCol="0">
            <a:spAutoFit/>
          </a:bodyPr>
          <a:lstStyle/>
          <a:p>
            <a:r>
              <a:rPr lang="en-IN" sz="2800" dirty="0"/>
              <a:t>1,1		1,2		1,3</a:t>
            </a:r>
          </a:p>
          <a:p>
            <a:endParaRPr lang="en-IN" sz="2800" dirty="0"/>
          </a:p>
          <a:p>
            <a:r>
              <a:rPr lang="en-IN" sz="2800" dirty="0"/>
              <a:t>2,1		2,2		2,3</a:t>
            </a:r>
          </a:p>
          <a:p>
            <a:endParaRPr lang="en-IN" sz="2800" dirty="0"/>
          </a:p>
          <a:p>
            <a:r>
              <a:rPr lang="en-IN" sz="2800" dirty="0"/>
              <a:t>3,1		3,2		3,3</a:t>
            </a:r>
          </a:p>
          <a:p>
            <a:r>
              <a:rPr lang="en-IN" sz="2800" dirty="0"/>
              <a:t>--------------</a:t>
            </a:r>
          </a:p>
          <a:p>
            <a:r>
              <a:rPr lang="en-IN" sz="2800" dirty="0"/>
              <a:t>1,1		1,2		1,3		1,4		1,5</a:t>
            </a:r>
          </a:p>
          <a:p>
            <a:endParaRPr lang="en-IN" sz="2800" dirty="0"/>
          </a:p>
          <a:p>
            <a:r>
              <a:rPr lang="en-IN" sz="2800" dirty="0"/>
              <a:t>2,1		2,2		2,3		2,4		2,5</a:t>
            </a:r>
          </a:p>
          <a:p>
            <a:endParaRPr lang="en-IN" sz="2800" dirty="0"/>
          </a:p>
          <a:p>
            <a:r>
              <a:rPr lang="en-IN" sz="2800" dirty="0"/>
              <a:t>3,1		3,2		3,3		3,4		3,5</a:t>
            </a:r>
          </a:p>
          <a:p>
            <a:endParaRPr lang="en-IN" sz="2800" dirty="0"/>
          </a:p>
          <a:p>
            <a:r>
              <a:rPr lang="en-IN" sz="2800" dirty="0"/>
              <a:t>4,1		4,2		4,3		4,4		4,5</a:t>
            </a:r>
          </a:p>
          <a:p>
            <a:endParaRPr lang="en-IN" sz="2800" dirty="0"/>
          </a:p>
          <a:p>
            <a:r>
              <a:rPr lang="en-IN" sz="2800" dirty="0"/>
              <a:t>5,1		5,2		5,3		5,4		5,5</a:t>
            </a:r>
          </a:p>
          <a:p>
            <a:endParaRPr lang="en-IN" sz="2800" dirty="0"/>
          </a:p>
          <a:p>
            <a:endParaRPr lang="en-IN" sz="2800" dirty="0"/>
          </a:p>
          <a:p>
            <a:endParaRPr lang="en-IN" sz="2800" dirty="0"/>
          </a:p>
          <a:p>
            <a:endParaRPr lang="en-IN" sz="2800" dirty="0"/>
          </a:p>
          <a:p>
            <a:endParaRPr lang="en-IN" sz="2800" dirty="0"/>
          </a:p>
          <a:p>
            <a:endParaRPr lang="en-IN" sz="2800" dirty="0"/>
          </a:p>
        </p:txBody>
      </p:sp>
    </p:spTree>
    <p:extLst>
      <p:ext uri="{BB962C8B-B14F-4D97-AF65-F5344CB8AC3E}">
        <p14:creationId xmlns:p14="http://schemas.microsoft.com/office/powerpoint/2010/main" val="9850202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8B4A96E-AFED-4DAC-92B7-6B10009C6228}"/>
              </a:ext>
            </a:extLst>
          </p:cNvPr>
          <p:cNvSpPr txBox="1"/>
          <p:nvPr/>
        </p:nvSpPr>
        <p:spPr>
          <a:xfrm>
            <a:off x="690880" y="314960"/>
            <a:ext cx="5069840" cy="4031873"/>
          </a:xfrm>
          <a:prstGeom prst="rect">
            <a:avLst/>
          </a:prstGeom>
          <a:noFill/>
        </p:spPr>
        <p:txBody>
          <a:bodyPr wrap="square" rtlCol="0">
            <a:spAutoFit/>
          </a:bodyPr>
          <a:lstStyle/>
          <a:p>
            <a:r>
              <a:rPr lang="en-IN" sz="3200" dirty="0"/>
              <a:t>N=5</a:t>
            </a:r>
          </a:p>
          <a:p>
            <a:endParaRPr lang="en-IN" sz="3200" dirty="0"/>
          </a:p>
          <a:p>
            <a:endParaRPr lang="en-IN" sz="3200" dirty="0"/>
          </a:p>
          <a:p>
            <a:r>
              <a:rPr lang="en-IN" sz="3200" dirty="0"/>
              <a:t>A</a:t>
            </a:r>
          </a:p>
          <a:p>
            <a:r>
              <a:rPr lang="en-IN" sz="3200" dirty="0"/>
              <a:t>AB</a:t>
            </a:r>
          </a:p>
          <a:p>
            <a:r>
              <a:rPr lang="en-IN" sz="3200" dirty="0"/>
              <a:t>ABC</a:t>
            </a:r>
          </a:p>
          <a:p>
            <a:r>
              <a:rPr lang="en-IN" sz="3200" dirty="0"/>
              <a:t>ABCD</a:t>
            </a:r>
          </a:p>
          <a:p>
            <a:r>
              <a:rPr lang="en-IN" sz="3200" dirty="0"/>
              <a:t>ABCDE</a:t>
            </a:r>
          </a:p>
        </p:txBody>
      </p:sp>
    </p:spTree>
    <p:extLst>
      <p:ext uri="{BB962C8B-B14F-4D97-AF65-F5344CB8AC3E}">
        <p14:creationId xmlns:p14="http://schemas.microsoft.com/office/powerpoint/2010/main" val="34473521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E58F223-00D1-4007-B94A-B4E4E897B72E}"/>
              </a:ext>
            </a:extLst>
          </p:cNvPr>
          <p:cNvSpPr txBox="1"/>
          <p:nvPr/>
        </p:nvSpPr>
        <p:spPr>
          <a:xfrm>
            <a:off x="965200" y="355600"/>
            <a:ext cx="5892800" cy="4832092"/>
          </a:xfrm>
          <a:prstGeom prst="rect">
            <a:avLst/>
          </a:prstGeom>
          <a:noFill/>
        </p:spPr>
        <p:txBody>
          <a:bodyPr wrap="square" rtlCol="0">
            <a:spAutoFit/>
          </a:bodyPr>
          <a:lstStyle/>
          <a:p>
            <a:r>
              <a:rPr lang="en-IN" sz="3200" dirty="0"/>
              <a:t>Char </a:t>
            </a:r>
            <a:r>
              <a:rPr lang="en-IN" sz="3200" dirty="0" err="1"/>
              <a:t>ch</a:t>
            </a:r>
            <a:r>
              <a:rPr lang="en-IN" sz="3200" dirty="0"/>
              <a:t> =‘A’</a:t>
            </a:r>
          </a:p>
          <a:p>
            <a:r>
              <a:rPr lang="en-IN" sz="3200" dirty="0"/>
              <a:t>Int n</a:t>
            </a:r>
          </a:p>
          <a:p>
            <a:r>
              <a:rPr lang="en-IN" sz="3200" dirty="0" err="1"/>
              <a:t>Scanf</a:t>
            </a:r>
            <a:r>
              <a:rPr lang="en-IN" sz="3200" dirty="0"/>
              <a:t> n</a:t>
            </a:r>
          </a:p>
          <a:p>
            <a:r>
              <a:rPr lang="en-IN" sz="3200" dirty="0"/>
              <a:t>For (int </a:t>
            </a:r>
            <a:r>
              <a:rPr lang="en-IN" sz="3200" dirty="0" err="1"/>
              <a:t>i</a:t>
            </a:r>
            <a:r>
              <a:rPr lang="en-IN" sz="3200" dirty="0"/>
              <a:t>=1;i&lt;=</a:t>
            </a:r>
            <a:r>
              <a:rPr lang="en-IN" sz="3200" dirty="0" err="1"/>
              <a:t>n;i</a:t>
            </a:r>
            <a:r>
              <a:rPr lang="en-IN" sz="3200" dirty="0"/>
              <a:t>++){</a:t>
            </a:r>
          </a:p>
          <a:p>
            <a:r>
              <a:rPr lang="en-IN" sz="3600" dirty="0"/>
              <a:t>	for (int j=1;j&lt;=</a:t>
            </a:r>
            <a:r>
              <a:rPr lang="en-IN" sz="3600" dirty="0" err="1"/>
              <a:t>I;j</a:t>
            </a:r>
            <a:r>
              <a:rPr lang="en-IN" sz="3600" dirty="0"/>
              <a:t>++)</a:t>
            </a:r>
          </a:p>
          <a:p>
            <a:r>
              <a:rPr lang="en-IN" sz="3600" dirty="0"/>
              <a:t>		print(“%c”,</a:t>
            </a:r>
            <a:r>
              <a:rPr lang="en-IN" sz="3600" dirty="0" err="1"/>
              <a:t>ch</a:t>
            </a:r>
            <a:r>
              <a:rPr lang="en-IN" sz="3600" dirty="0"/>
              <a:t>++)</a:t>
            </a:r>
          </a:p>
          <a:p>
            <a:r>
              <a:rPr lang="en-IN" sz="3600" dirty="0"/>
              <a:t>	</a:t>
            </a:r>
            <a:r>
              <a:rPr lang="en-IN" sz="3600" dirty="0" err="1"/>
              <a:t>ch</a:t>
            </a:r>
            <a:r>
              <a:rPr lang="en-IN" sz="3600" dirty="0"/>
              <a:t>=‘A’</a:t>
            </a:r>
          </a:p>
          <a:p>
            <a:r>
              <a:rPr lang="en-IN" sz="3600" dirty="0"/>
              <a:t>	</a:t>
            </a:r>
            <a:r>
              <a:rPr lang="en-IN" sz="3600" dirty="0" err="1"/>
              <a:t>printf</a:t>
            </a:r>
            <a:r>
              <a:rPr lang="en-IN" sz="3600" dirty="0"/>
              <a:t>(“\n”)}</a:t>
            </a:r>
          </a:p>
          <a:p>
            <a:endParaRPr lang="en-IN" sz="3600" dirty="0"/>
          </a:p>
        </p:txBody>
      </p:sp>
    </p:spTree>
    <p:extLst>
      <p:ext uri="{BB962C8B-B14F-4D97-AF65-F5344CB8AC3E}">
        <p14:creationId xmlns:p14="http://schemas.microsoft.com/office/powerpoint/2010/main" val="29613994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76048705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0B7166-D1E0-4689-9235-C45C40817DEB}"/>
              </a:ext>
            </a:extLst>
          </p:cNvPr>
          <p:cNvSpPr>
            <a:spLocks noGrp="1"/>
          </p:cNvSpPr>
          <p:nvPr>
            <p:ph type="title"/>
          </p:nvPr>
        </p:nvSpPr>
        <p:spPr/>
        <p:txBody>
          <a:bodyPr/>
          <a:lstStyle/>
          <a:p>
            <a:r>
              <a:rPr lang="en-IN" dirty="0"/>
              <a:t>Reasoning Puzzle's</a:t>
            </a:r>
          </a:p>
        </p:txBody>
      </p:sp>
      <p:sp>
        <p:nvSpPr>
          <p:cNvPr id="3" name="Text Placeholder 2">
            <a:extLst>
              <a:ext uri="{FF2B5EF4-FFF2-40B4-BE49-F238E27FC236}">
                <a16:creationId xmlns:a16="http://schemas.microsoft.com/office/drawing/2014/main" id="{AEBF2532-47DB-47B8-BDFB-26EFD39ED14B}"/>
              </a:ext>
            </a:extLst>
          </p:cNvPr>
          <p:cNvSpPr>
            <a:spLocks noGrp="1"/>
          </p:cNvSpPr>
          <p:nvPr>
            <p:ph type="body" idx="1"/>
          </p:nvPr>
        </p:nvSpPr>
        <p:spPr/>
        <p:txBody>
          <a:bodyPr/>
          <a:lstStyle/>
          <a:p>
            <a:endParaRPr lang="en-IN"/>
          </a:p>
        </p:txBody>
      </p:sp>
    </p:spTree>
    <p:extLst>
      <p:ext uri="{BB962C8B-B14F-4D97-AF65-F5344CB8AC3E}">
        <p14:creationId xmlns:p14="http://schemas.microsoft.com/office/powerpoint/2010/main" val="113573173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3114A18-7E9A-49A9-8748-FB31351221C8}"/>
              </a:ext>
            </a:extLst>
          </p:cNvPr>
          <p:cNvSpPr txBox="1"/>
          <p:nvPr/>
        </p:nvSpPr>
        <p:spPr>
          <a:xfrm>
            <a:off x="198783" y="258417"/>
            <a:ext cx="11251095" cy="6124754"/>
          </a:xfrm>
          <a:prstGeom prst="rect">
            <a:avLst/>
          </a:prstGeom>
          <a:noFill/>
        </p:spPr>
        <p:txBody>
          <a:bodyPr wrap="square">
            <a:spAutoFit/>
          </a:bodyPr>
          <a:lstStyle/>
          <a:p>
            <a:r>
              <a:rPr lang="en-US" sz="2800" dirty="0"/>
              <a:t>Read the following information carefully and answer the questions given below:</a:t>
            </a:r>
          </a:p>
          <a:p>
            <a:r>
              <a:rPr lang="en-US" sz="2800" dirty="0"/>
              <a:t>There are five members of a family - Jayant, Kamal, Namita, Asha and Tanmay </a:t>
            </a:r>
          </a:p>
          <a:p>
            <a:r>
              <a:rPr lang="en-US" sz="2800" dirty="0"/>
              <a:t>Their birthdays fall between January to May, with each member in one of these months.</a:t>
            </a:r>
          </a:p>
          <a:p>
            <a:r>
              <a:rPr lang="en-US" sz="2800" dirty="0"/>
              <a:t>Each one likes one particular type of dessert for his/her birthday out of Bengali sweets, Chocolates, Pastries, Ice-cream and Dry fruits.</a:t>
            </a:r>
          </a:p>
          <a:p>
            <a:r>
              <a:rPr lang="en-US" sz="2800" dirty="0"/>
              <a:t>The one who likes Pastries is born in the month which is exactly middle in the months given.</a:t>
            </a:r>
          </a:p>
          <a:p>
            <a:r>
              <a:rPr lang="en-US" sz="2800" dirty="0"/>
              <a:t>Asha does not like Ice-cream but brings Chocolates for Jayant in February.</a:t>
            </a:r>
          </a:p>
          <a:p>
            <a:r>
              <a:rPr lang="en-US" sz="2800" dirty="0"/>
              <a:t>Tanmay, who loves Bengali sweets is born in the next month immediately after Namita.</a:t>
            </a:r>
          </a:p>
          <a:p>
            <a:r>
              <a:rPr lang="en-US" sz="2800" dirty="0"/>
              <a:t>Namita does not like Dry fruits or Ice-cream.</a:t>
            </a:r>
            <a:endParaRPr lang="en-IN" sz="2800" dirty="0"/>
          </a:p>
        </p:txBody>
      </p:sp>
    </p:spTree>
    <p:extLst>
      <p:ext uri="{BB962C8B-B14F-4D97-AF65-F5344CB8AC3E}">
        <p14:creationId xmlns:p14="http://schemas.microsoft.com/office/powerpoint/2010/main" val="370729864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DF05F5EC-CF1B-4A05-9FCD-37107838E0C8}"/>
              </a:ext>
            </a:extLst>
          </p:cNvPr>
          <p:cNvSpPr txBox="1"/>
          <p:nvPr/>
        </p:nvSpPr>
        <p:spPr>
          <a:xfrm>
            <a:off x="325506" y="381865"/>
            <a:ext cx="10619302" cy="523220"/>
          </a:xfrm>
          <a:prstGeom prst="rect">
            <a:avLst/>
          </a:prstGeom>
          <a:noFill/>
        </p:spPr>
        <p:txBody>
          <a:bodyPr wrap="square">
            <a:spAutoFit/>
          </a:bodyPr>
          <a:lstStyle/>
          <a:p>
            <a:r>
              <a:rPr lang="en-US" sz="2800" dirty="0"/>
              <a:t>What is the choice of Asha?</a:t>
            </a:r>
            <a:endParaRPr lang="en-IN" sz="2800" dirty="0"/>
          </a:p>
        </p:txBody>
      </p:sp>
      <p:sp>
        <p:nvSpPr>
          <p:cNvPr id="13" name="TextBox 12">
            <a:extLst>
              <a:ext uri="{FF2B5EF4-FFF2-40B4-BE49-F238E27FC236}">
                <a16:creationId xmlns:a16="http://schemas.microsoft.com/office/drawing/2014/main" id="{F0215CD5-8CDC-48C4-BBFE-493027DD8D60}"/>
              </a:ext>
            </a:extLst>
          </p:cNvPr>
          <p:cNvSpPr txBox="1"/>
          <p:nvPr/>
        </p:nvSpPr>
        <p:spPr>
          <a:xfrm>
            <a:off x="325506" y="918577"/>
            <a:ext cx="10619302" cy="523220"/>
          </a:xfrm>
          <a:prstGeom prst="rect">
            <a:avLst/>
          </a:prstGeom>
          <a:noFill/>
        </p:spPr>
        <p:txBody>
          <a:bodyPr wrap="square">
            <a:spAutoFit/>
          </a:bodyPr>
          <a:lstStyle/>
          <a:p>
            <a:r>
              <a:rPr lang="en-US" sz="2800" dirty="0"/>
              <a:t>Which of the combination of month and item is true for Jayant?</a:t>
            </a:r>
            <a:endParaRPr lang="en-IN" sz="2800" dirty="0"/>
          </a:p>
        </p:txBody>
      </p:sp>
    </p:spTree>
    <p:extLst>
      <p:ext uri="{BB962C8B-B14F-4D97-AF65-F5344CB8AC3E}">
        <p14:creationId xmlns:p14="http://schemas.microsoft.com/office/powerpoint/2010/main" val="416829129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528030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B610684-7627-48ED-9B7A-B47B104EB7AF}"/>
              </a:ext>
            </a:extLst>
          </p:cNvPr>
          <p:cNvSpPr>
            <a:spLocks noGrp="1"/>
          </p:cNvSpPr>
          <p:nvPr>
            <p:ph type="ftr" sz="quarter" idx="3"/>
          </p:nvPr>
        </p:nvSpPr>
        <p:spPr>
          <a:xfrm>
            <a:off x="685800" y="6477002"/>
            <a:ext cx="7239000" cy="365125"/>
          </a:xfrm>
          <a:prstGeom prst="rect">
            <a:avLst/>
          </a:prstGeom>
        </p:spPr>
        <p:txBody>
          <a:bodyPr vert="horz" lIns="91440" tIns="45720" rIns="91440" bIns="45720" rtlCol="0" anchor="ctr"/>
          <a:lstStyle>
            <a:defPPr>
              <a:defRPr lang="en-US"/>
            </a:defPPr>
            <a:lvl1pPr marL="0" algn="ctr" defTabSz="914400" rtl="0" eaLnBrk="1" fontAlgn="auto" latinLnBrk="0" hangingPunct="1">
              <a:spcBef>
                <a:spcPts val="0"/>
              </a:spcBef>
              <a:spcAft>
                <a:spcPts val="0"/>
              </a:spcAft>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 2016 SMART Training Resources Pvt. Ltd.</a:t>
            </a:r>
          </a:p>
        </p:txBody>
      </p:sp>
      <p:sp>
        <p:nvSpPr>
          <p:cNvPr id="6" name="TextBox 5">
            <a:extLst>
              <a:ext uri="{FF2B5EF4-FFF2-40B4-BE49-F238E27FC236}">
                <a16:creationId xmlns:a16="http://schemas.microsoft.com/office/drawing/2014/main" id="{152EC59D-9098-4294-8EA7-75DD6DE28FF6}"/>
              </a:ext>
            </a:extLst>
          </p:cNvPr>
          <p:cNvSpPr txBox="1"/>
          <p:nvPr/>
        </p:nvSpPr>
        <p:spPr>
          <a:xfrm>
            <a:off x="516835" y="208722"/>
            <a:ext cx="11380304" cy="5262979"/>
          </a:xfrm>
          <a:prstGeom prst="rect">
            <a:avLst/>
          </a:prstGeom>
          <a:noFill/>
        </p:spPr>
        <p:txBody>
          <a:bodyPr wrap="square">
            <a:spAutoFit/>
          </a:bodyPr>
          <a:lstStyle/>
          <a:p>
            <a:r>
              <a:rPr lang="en-US" sz="2400" dirty="0">
                <a:latin typeface="Rockwell" panose="02060603020205020403" pitchFamily="18" charset="0"/>
              </a:rPr>
              <a:t>In an institute there are five identical rooms having different items in it. Every identical looking room has a name indicating its contents. The details of the contents and the name of each room are as given below.</a:t>
            </a:r>
          </a:p>
          <a:p>
            <a:endParaRPr lang="en-US" sz="2400" dirty="0">
              <a:latin typeface="Rockwell" panose="02060603020205020403" pitchFamily="18" charset="0"/>
            </a:endParaRPr>
          </a:p>
          <a:p>
            <a:endParaRPr lang="en-US" sz="2400" dirty="0">
              <a:latin typeface="Rockwell" panose="02060603020205020403" pitchFamily="18" charset="0"/>
            </a:endParaRPr>
          </a:p>
          <a:p>
            <a:endParaRPr lang="en-US" sz="2400" dirty="0">
              <a:latin typeface="Rockwell" panose="02060603020205020403" pitchFamily="18" charset="0"/>
            </a:endParaRPr>
          </a:p>
          <a:p>
            <a:endParaRPr lang="en-US" sz="2400" dirty="0">
              <a:latin typeface="Rockwell" panose="02060603020205020403" pitchFamily="18" charset="0"/>
            </a:endParaRPr>
          </a:p>
          <a:p>
            <a:endParaRPr lang="en-US" sz="2400" dirty="0">
              <a:latin typeface="Rockwell" panose="02060603020205020403" pitchFamily="18" charset="0"/>
            </a:endParaRPr>
          </a:p>
          <a:p>
            <a:endParaRPr lang="en-US" sz="2400" dirty="0">
              <a:latin typeface="Rockwell" panose="02060603020205020403" pitchFamily="18" charset="0"/>
            </a:endParaRPr>
          </a:p>
          <a:p>
            <a:endParaRPr lang="en-US" sz="2400" dirty="0">
              <a:latin typeface="Rockwell" panose="02060603020205020403" pitchFamily="18" charset="0"/>
            </a:endParaRPr>
          </a:p>
          <a:p>
            <a:endParaRPr lang="en-US" sz="2400" dirty="0">
              <a:latin typeface="Rockwell" panose="02060603020205020403" pitchFamily="18" charset="0"/>
            </a:endParaRPr>
          </a:p>
          <a:p>
            <a:endParaRPr lang="en-US" sz="2400" dirty="0">
              <a:latin typeface="Rockwell" panose="02060603020205020403" pitchFamily="18" charset="0"/>
            </a:endParaRPr>
          </a:p>
          <a:p>
            <a:r>
              <a:rPr lang="en-US" sz="2400" dirty="0">
                <a:latin typeface="Rockwell" panose="02060603020205020403" pitchFamily="18" charset="0"/>
              </a:rPr>
              <a:t>One day somebody in the institute changed the name plate of every room such that no room contains the name correctly explaining its contents.</a:t>
            </a:r>
            <a:endParaRPr lang="en-IN" sz="2400" dirty="0">
              <a:latin typeface="Rockwell" panose="02060603020205020403" pitchFamily="18" charset="0"/>
            </a:endParaRPr>
          </a:p>
        </p:txBody>
      </p:sp>
      <p:graphicFrame>
        <p:nvGraphicFramePr>
          <p:cNvPr id="8" name="Table 7">
            <a:extLst>
              <a:ext uri="{FF2B5EF4-FFF2-40B4-BE49-F238E27FC236}">
                <a16:creationId xmlns:a16="http://schemas.microsoft.com/office/drawing/2014/main" id="{084C27D2-7F2E-49A4-9A1F-0D30CF22113A}"/>
              </a:ext>
            </a:extLst>
          </p:cNvPr>
          <p:cNvGraphicFramePr>
            <a:graphicFrameLocks noGrp="1"/>
          </p:cNvGraphicFramePr>
          <p:nvPr>
            <p:extLst>
              <p:ext uri="{D42A27DB-BD31-4B8C-83A1-F6EECF244321}">
                <p14:modId xmlns:p14="http://schemas.microsoft.com/office/powerpoint/2010/main" val="28623975"/>
              </p:ext>
            </p:extLst>
          </p:nvPr>
        </p:nvGraphicFramePr>
        <p:xfrm>
          <a:off x="2103257" y="1569854"/>
          <a:ext cx="7835874" cy="2720340"/>
        </p:xfrm>
        <a:graphic>
          <a:graphicData uri="http://schemas.openxmlformats.org/drawingml/2006/table">
            <a:tbl>
              <a:tblPr>
                <a:tableStyleId>{35758FB7-9AC5-4552-8A53-C91805E547FA}</a:tableStyleId>
              </a:tblPr>
              <a:tblGrid>
                <a:gridCol w="3917937">
                  <a:extLst>
                    <a:ext uri="{9D8B030D-6E8A-4147-A177-3AD203B41FA5}">
                      <a16:colId xmlns:a16="http://schemas.microsoft.com/office/drawing/2014/main" val="831799932"/>
                    </a:ext>
                  </a:extLst>
                </a:gridCol>
                <a:gridCol w="3917937">
                  <a:extLst>
                    <a:ext uri="{9D8B030D-6E8A-4147-A177-3AD203B41FA5}">
                      <a16:colId xmlns:a16="http://schemas.microsoft.com/office/drawing/2014/main" val="61649514"/>
                    </a:ext>
                  </a:extLst>
                </a:gridCol>
              </a:tblGrid>
              <a:tr h="331470">
                <a:tc>
                  <a:txBody>
                    <a:bodyPr/>
                    <a:lstStyle/>
                    <a:p>
                      <a:pPr algn="ctr" fontAlgn="t"/>
                      <a:r>
                        <a:rPr lang="en-IN" sz="2400">
                          <a:effectLst/>
                        </a:rPr>
                        <a:t>Contents</a:t>
                      </a:r>
                    </a:p>
                  </a:txBody>
                  <a:tcPr marL="28575" marR="28575" marT="28575" marB="28575"/>
                </a:tc>
                <a:tc>
                  <a:txBody>
                    <a:bodyPr/>
                    <a:lstStyle/>
                    <a:p>
                      <a:pPr algn="ctr" fontAlgn="t"/>
                      <a:r>
                        <a:rPr lang="en-IN" sz="2400">
                          <a:effectLst/>
                        </a:rPr>
                        <a:t>Name of Rooms</a:t>
                      </a:r>
                    </a:p>
                  </a:txBody>
                  <a:tcPr marL="28575" marR="28575" marT="28575" marB="28575"/>
                </a:tc>
                <a:extLst>
                  <a:ext uri="{0D108BD9-81ED-4DB2-BD59-A6C34878D82A}">
                    <a16:rowId xmlns:a16="http://schemas.microsoft.com/office/drawing/2014/main" val="484483199"/>
                  </a:ext>
                </a:extLst>
              </a:tr>
              <a:tr h="331470">
                <a:tc>
                  <a:txBody>
                    <a:bodyPr/>
                    <a:lstStyle/>
                    <a:p>
                      <a:pPr algn="ctr" fontAlgn="t"/>
                      <a:r>
                        <a:rPr lang="en-IN" sz="2400">
                          <a:effectLst/>
                        </a:rPr>
                        <a:t>Two printers</a:t>
                      </a:r>
                    </a:p>
                  </a:txBody>
                  <a:tcPr marL="28575" marR="28575" marT="28575" marB="28575"/>
                </a:tc>
                <a:tc>
                  <a:txBody>
                    <a:bodyPr/>
                    <a:lstStyle/>
                    <a:p>
                      <a:pPr algn="ctr" fontAlgn="t"/>
                      <a:r>
                        <a:rPr lang="en-IN" sz="2400" dirty="0" err="1">
                          <a:effectLst/>
                        </a:rPr>
                        <a:t>Pashupatti</a:t>
                      </a:r>
                      <a:endParaRPr lang="en-IN" sz="2400" dirty="0">
                        <a:effectLst/>
                      </a:endParaRPr>
                    </a:p>
                  </a:txBody>
                  <a:tcPr marL="28575" marR="28575" marT="28575" marB="28575"/>
                </a:tc>
                <a:extLst>
                  <a:ext uri="{0D108BD9-81ED-4DB2-BD59-A6C34878D82A}">
                    <a16:rowId xmlns:a16="http://schemas.microsoft.com/office/drawing/2014/main" val="431404209"/>
                  </a:ext>
                </a:extLst>
              </a:tr>
              <a:tr h="331470">
                <a:tc>
                  <a:txBody>
                    <a:bodyPr/>
                    <a:lstStyle/>
                    <a:p>
                      <a:pPr algn="ctr" fontAlgn="t"/>
                      <a:r>
                        <a:rPr lang="en-IN" sz="2400" dirty="0">
                          <a:effectLst/>
                        </a:rPr>
                        <a:t>Two computers</a:t>
                      </a:r>
                    </a:p>
                  </a:txBody>
                  <a:tcPr marL="28575" marR="28575" marT="28575" marB="28575"/>
                </a:tc>
                <a:tc>
                  <a:txBody>
                    <a:bodyPr/>
                    <a:lstStyle/>
                    <a:p>
                      <a:pPr algn="ctr" fontAlgn="t"/>
                      <a:r>
                        <a:rPr lang="en-IN" sz="2400">
                          <a:effectLst/>
                        </a:rPr>
                        <a:t>Chandrachud</a:t>
                      </a:r>
                    </a:p>
                  </a:txBody>
                  <a:tcPr marL="28575" marR="28575" marT="28575" marB="28575"/>
                </a:tc>
                <a:extLst>
                  <a:ext uri="{0D108BD9-81ED-4DB2-BD59-A6C34878D82A}">
                    <a16:rowId xmlns:a16="http://schemas.microsoft.com/office/drawing/2014/main" val="3947437333"/>
                  </a:ext>
                </a:extLst>
              </a:tr>
              <a:tr h="331470">
                <a:tc>
                  <a:txBody>
                    <a:bodyPr/>
                    <a:lstStyle/>
                    <a:p>
                      <a:pPr algn="ctr" fontAlgn="t"/>
                      <a:r>
                        <a:rPr lang="en-IN" sz="2400">
                          <a:effectLst/>
                        </a:rPr>
                        <a:t>Two bags</a:t>
                      </a:r>
                    </a:p>
                  </a:txBody>
                  <a:tcPr marL="28575" marR="28575" marT="28575" marB="28575"/>
                </a:tc>
                <a:tc>
                  <a:txBody>
                    <a:bodyPr/>
                    <a:lstStyle/>
                    <a:p>
                      <a:pPr algn="ctr" fontAlgn="t"/>
                      <a:r>
                        <a:rPr lang="en-IN" sz="2400">
                          <a:effectLst/>
                        </a:rPr>
                        <a:t>Bagbahadur</a:t>
                      </a:r>
                    </a:p>
                  </a:txBody>
                  <a:tcPr marL="28575" marR="28575" marT="28575" marB="28575"/>
                </a:tc>
                <a:extLst>
                  <a:ext uri="{0D108BD9-81ED-4DB2-BD59-A6C34878D82A}">
                    <a16:rowId xmlns:a16="http://schemas.microsoft.com/office/drawing/2014/main" val="1346041306"/>
                  </a:ext>
                </a:extLst>
              </a:tr>
              <a:tr h="605790">
                <a:tc>
                  <a:txBody>
                    <a:bodyPr/>
                    <a:lstStyle/>
                    <a:p>
                      <a:pPr algn="ctr" fontAlgn="t"/>
                      <a:r>
                        <a:rPr lang="en-US" sz="2400">
                          <a:effectLst/>
                        </a:rPr>
                        <a:t>One printer and one computer</a:t>
                      </a:r>
                    </a:p>
                  </a:txBody>
                  <a:tcPr marL="28575" marR="28575" marT="28575" marB="28575"/>
                </a:tc>
                <a:tc>
                  <a:txBody>
                    <a:bodyPr/>
                    <a:lstStyle/>
                    <a:p>
                      <a:pPr algn="ctr" fontAlgn="t"/>
                      <a:r>
                        <a:rPr lang="en-IN" sz="2400">
                          <a:effectLst/>
                        </a:rPr>
                        <a:t>Purnachandra</a:t>
                      </a:r>
                    </a:p>
                  </a:txBody>
                  <a:tcPr marL="28575" marR="28575" marT="28575" marB="28575"/>
                </a:tc>
                <a:extLst>
                  <a:ext uri="{0D108BD9-81ED-4DB2-BD59-A6C34878D82A}">
                    <a16:rowId xmlns:a16="http://schemas.microsoft.com/office/drawing/2014/main" val="997840118"/>
                  </a:ext>
                </a:extLst>
              </a:tr>
              <a:tr h="344919">
                <a:tc>
                  <a:txBody>
                    <a:bodyPr/>
                    <a:lstStyle/>
                    <a:p>
                      <a:pPr algn="ctr" fontAlgn="t"/>
                      <a:r>
                        <a:rPr lang="en-US" sz="2400" dirty="0">
                          <a:effectLst/>
                        </a:rPr>
                        <a:t>One bag and one computer</a:t>
                      </a:r>
                    </a:p>
                  </a:txBody>
                  <a:tcPr marL="28575" marR="28575" marT="28575" marB="28575"/>
                </a:tc>
                <a:tc>
                  <a:txBody>
                    <a:bodyPr/>
                    <a:lstStyle/>
                    <a:p>
                      <a:pPr algn="ctr" fontAlgn="t"/>
                      <a:r>
                        <a:rPr lang="en-IN" sz="2400" dirty="0" err="1">
                          <a:effectLst/>
                        </a:rPr>
                        <a:t>Biswachakra</a:t>
                      </a:r>
                      <a:endParaRPr lang="en-IN" sz="2400" dirty="0">
                        <a:effectLst/>
                      </a:endParaRPr>
                    </a:p>
                  </a:txBody>
                  <a:tcPr marL="28575" marR="28575" marT="28575" marB="28575"/>
                </a:tc>
                <a:extLst>
                  <a:ext uri="{0D108BD9-81ED-4DB2-BD59-A6C34878D82A}">
                    <a16:rowId xmlns:a16="http://schemas.microsoft.com/office/drawing/2014/main" val="2417001924"/>
                  </a:ext>
                </a:extLst>
              </a:tr>
            </a:tbl>
          </a:graphicData>
        </a:graphic>
      </p:graphicFrame>
    </p:spTree>
    <p:extLst>
      <p:ext uri="{BB962C8B-B14F-4D97-AF65-F5344CB8AC3E}">
        <p14:creationId xmlns:p14="http://schemas.microsoft.com/office/powerpoint/2010/main" val="373392039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AE304291-7643-4C2A-9A1B-0AE9F5365412}"/>
              </a:ext>
            </a:extLst>
          </p:cNvPr>
          <p:cNvSpPr>
            <a:spLocks noGrp="1"/>
          </p:cNvSpPr>
          <p:nvPr>
            <p:ph type="ftr" sz="quarter" idx="3"/>
          </p:nvPr>
        </p:nvSpPr>
        <p:spPr>
          <a:xfrm>
            <a:off x="685800" y="6477002"/>
            <a:ext cx="7239000" cy="365125"/>
          </a:xfrm>
          <a:prstGeom prst="rect">
            <a:avLst/>
          </a:prstGeom>
        </p:spPr>
        <p:txBody>
          <a:bodyPr vert="horz" lIns="91440" tIns="45720" rIns="91440" bIns="45720" rtlCol="0" anchor="ctr"/>
          <a:lstStyle>
            <a:defPPr>
              <a:defRPr lang="en-US"/>
            </a:defPPr>
            <a:lvl1pPr marL="0" algn="ctr" defTabSz="914400" rtl="0" eaLnBrk="1" fontAlgn="auto" latinLnBrk="0" hangingPunct="1">
              <a:spcBef>
                <a:spcPts val="0"/>
              </a:spcBef>
              <a:spcAft>
                <a:spcPts val="0"/>
              </a:spcAft>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 2016 SMART Training Resources Pvt. Ltd.</a:t>
            </a:r>
          </a:p>
        </p:txBody>
      </p:sp>
      <p:sp>
        <p:nvSpPr>
          <p:cNvPr id="6" name="TextBox 5">
            <a:extLst>
              <a:ext uri="{FF2B5EF4-FFF2-40B4-BE49-F238E27FC236}">
                <a16:creationId xmlns:a16="http://schemas.microsoft.com/office/drawing/2014/main" id="{8FC845DE-E079-41A0-9815-FCFB35A8AFC4}"/>
              </a:ext>
            </a:extLst>
          </p:cNvPr>
          <p:cNvSpPr txBox="1"/>
          <p:nvPr/>
        </p:nvSpPr>
        <p:spPr>
          <a:xfrm>
            <a:off x="119269" y="298174"/>
            <a:ext cx="11797747" cy="3108543"/>
          </a:xfrm>
          <a:prstGeom prst="rect">
            <a:avLst/>
          </a:prstGeom>
          <a:noFill/>
        </p:spPr>
        <p:txBody>
          <a:bodyPr wrap="square">
            <a:spAutoFit/>
          </a:bodyPr>
          <a:lstStyle/>
          <a:p>
            <a:pPr algn="just"/>
            <a:r>
              <a:rPr lang="en-US" sz="2800" dirty="0">
                <a:latin typeface="Rockwell" panose="02060603020205020403" pitchFamily="18" charset="0"/>
              </a:rPr>
              <a:t>1.If the supervisor of the institute opened a room named </a:t>
            </a:r>
            <a:r>
              <a:rPr lang="en-US" sz="2800" dirty="0" err="1">
                <a:latin typeface="Rockwell" panose="02060603020205020403" pitchFamily="18" charset="0"/>
              </a:rPr>
              <a:t>Biswachakra</a:t>
            </a:r>
            <a:r>
              <a:rPr lang="en-US" sz="2800" dirty="0">
                <a:latin typeface="Rockwell" panose="02060603020205020403" pitchFamily="18" charset="0"/>
              </a:rPr>
              <a:t> and found that one item was a bag, then which of the following would definitely be correct?</a:t>
            </a:r>
          </a:p>
          <a:p>
            <a:pPr algn="just"/>
            <a:r>
              <a:rPr lang="en-US" sz="2800" dirty="0" err="1">
                <a:latin typeface="Rockwell" panose="02060603020205020403" pitchFamily="18" charset="0"/>
              </a:rPr>
              <a:t>A.The</a:t>
            </a:r>
            <a:r>
              <a:rPr lang="en-US" sz="2800" dirty="0">
                <a:latin typeface="Rockwell" panose="02060603020205020403" pitchFamily="18" charset="0"/>
              </a:rPr>
              <a:t> other item will be a bag.</a:t>
            </a:r>
          </a:p>
          <a:p>
            <a:pPr algn="just"/>
            <a:r>
              <a:rPr lang="en-US" sz="2800" dirty="0" err="1">
                <a:latin typeface="Rockwell" panose="02060603020205020403" pitchFamily="18" charset="0"/>
              </a:rPr>
              <a:t>B.The</a:t>
            </a:r>
            <a:r>
              <a:rPr lang="en-US" sz="2800" dirty="0">
                <a:latin typeface="Rockwell" panose="02060603020205020403" pitchFamily="18" charset="0"/>
              </a:rPr>
              <a:t> other item will not be a bag.</a:t>
            </a:r>
          </a:p>
          <a:p>
            <a:pPr algn="just"/>
            <a:r>
              <a:rPr lang="en-US" sz="2800" dirty="0" err="1">
                <a:latin typeface="Rockwell" panose="02060603020205020403" pitchFamily="18" charset="0"/>
              </a:rPr>
              <a:t>C.The</a:t>
            </a:r>
            <a:r>
              <a:rPr lang="en-US" sz="2800" dirty="0">
                <a:latin typeface="Rockwell" panose="02060603020205020403" pitchFamily="18" charset="0"/>
              </a:rPr>
              <a:t> other room named </a:t>
            </a:r>
            <a:r>
              <a:rPr lang="en-US" sz="2800" dirty="0" err="1">
                <a:latin typeface="Rockwell" panose="02060603020205020403" pitchFamily="18" charset="0"/>
              </a:rPr>
              <a:t>Bagbahadur</a:t>
            </a:r>
            <a:r>
              <a:rPr lang="en-US" sz="2800" dirty="0">
                <a:latin typeface="Rockwell" panose="02060603020205020403" pitchFamily="18" charset="0"/>
              </a:rPr>
              <a:t> will contain a bag</a:t>
            </a:r>
          </a:p>
          <a:p>
            <a:pPr algn="just"/>
            <a:r>
              <a:rPr lang="en-US" sz="2800" dirty="0" err="1">
                <a:latin typeface="Rockwell" panose="02060603020205020403" pitchFamily="18" charset="0"/>
              </a:rPr>
              <a:t>D.The</a:t>
            </a:r>
            <a:r>
              <a:rPr lang="en-US" sz="2800" dirty="0">
                <a:latin typeface="Rockwell" panose="02060603020205020403" pitchFamily="18" charset="0"/>
              </a:rPr>
              <a:t> other item is a computer.</a:t>
            </a:r>
            <a:endParaRPr lang="en-IN" sz="2800" dirty="0">
              <a:latin typeface="Rockwell" panose="02060603020205020403" pitchFamily="18" charset="0"/>
            </a:endParaRPr>
          </a:p>
        </p:txBody>
      </p:sp>
      <p:graphicFrame>
        <p:nvGraphicFramePr>
          <p:cNvPr id="4" name="Table 3">
            <a:extLst>
              <a:ext uri="{FF2B5EF4-FFF2-40B4-BE49-F238E27FC236}">
                <a16:creationId xmlns:a16="http://schemas.microsoft.com/office/drawing/2014/main" id="{A137497C-1D0D-4DF4-B9EF-324E7C2DC9D2}"/>
              </a:ext>
            </a:extLst>
          </p:cNvPr>
          <p:cNvGraphicFramePr>
            <a:graphicFrameLocks noGrp="1"/>
          </p:cNvGraphicFramePr>
          <p:nvPr>
            <p:extLst>
              <p:ext uri="{D42A27DB-BD31-4B8C-83A1-F6EECF244321}">
                <p14:modId xmlns:p14="http://schemas.microsoft.com/office/powerpoint/2010/main" val="3357284668"/>
              </p:ext>
            </p:extLst>
          </p:nvPr>
        </p:nvGraphicFramePr>
        <p:xfrm>
          <a:off x="2604052" y="3406717"/>
          <a:ext cx="8068108" cy="2720340"/>
        </p:xfrm>
        <a:graphic>
          <a:graphicData uri="http://schemas.openxmlformats.org/drawingml/2006/table">
            <a:tbl>
              <a:tblPr>
                <a:tableStyleId>{35758FB7-9AC5-4552-8A53-C91805E547FA}</a:tableStyleId>
              </a:tblPr>
              <a:tblGrid>
                <a:gridCol w="4034054">
                  <a:extLst>
                    <a:ext uri="{9D8B030D-6E8A-4147-A177-3AD203B41FA5}">
                      <a16:colId xmlns:a16="http://schemas.microsoft.com/office/drawing/2014/main" val="831799932"/>
                    </a:ext>
                  </a:extLst>
                </a:gridCol>
                <a:gridCol w="4034054">
                  <a:extLst>
                    <a:ext uri="{9D8B030D-6E8A-4147-A177-3AD203B41FA5}">
                      <a16:colId xmlns:a16="http://schemas.microsoft.com/office/drawing/2014/main" val="61649514"/>
                    </a:ext>
                  </a:extLst>
                </a:gridCol>
              </a:tblGrid>
              <a:tr h="331470">
                <a:tc>
                  <a:txBody>
                    <a:bodyPr/>
                    <a:lstStyle/>
                    <a:p>
                      <a:pPr algn="ctr" fontAlgn="t"/>
                      <a:r>
                        <a:rPr lang="en-IN" sz="2400">
                          <a:effectLst/>
                        </a:rPr>
                        <a:t>Contents</a:t>
                      </a:r>
                    </a:p>
                  </a:txBody>
                  <a:tcPr marL="28575" marR="28575" marT="28575" marB="28575"/>
                </a:tc>
                <a:tc>
                  <a:txBody>
                    <a:bodyPr/>
                    <a:lstStyle/>
                    <a:p>
                      <a:pPr algn="ctr" fontAlgn="t"/>
                      <a:r>
                        <a:rPr lang="en-IN" sz="2400">
                          <a:effectLst/>
                        </a:rPr>
                        <a:t>Name of Rooms</a:t>
                      </a:r>
                    </a:p>
                  </a:txBody>
                  <a:tcPr marL="28575" marR="28575" marT="28575" marB="28575"/>
                </a:tc>
                <a:extLst>
                  <a:ext uri="{0D108BD9-81ED-4DB2-BD59-A6C34878D82A}">
                    <a16:rowId xmlns:a16="http://schemas.microsoft.com/office/drawing/2014/main" val="484483199"/>
                  </a:ext>
                </a:extLst>
              </a:tr>
              <a:tr h="331470">
                <a:tc>
                  <a:txBody>
                    <a:bodyPr/>
                    <a:lstStyle/>
                    <a:p>
                      <a:pPr algn="ctr" fontAlgn="t"/>
                      <a:r>
                        <a:rPr lang="en-IN" sz="2400">
                          <a:effectLst/>
                        </a:rPr>
                        <a:t>Two printers</a:t>
                      </a:r>
                    </a:p>
                  </a:txBody>
                  <a:tcPr marL="28575" marR="28575" marT="28575" marB="28575"/>
                </a:tc>
                <a:tc>
                  <a:txBody>
                    <a:bodyPr/>
                    <a:lstStyle/>
                    <a:p>
                      <a:pPr algn="ctr" fontAlgn="t"/>
                      <a:r>
                        <a:rPr lang="en-IN" sz="2400" dirty="0" err="1">
                          <a:effectLst/>
                        </a:rPr>
                        <a:t>Pashupatti</a:t>
                      </a:r>
                      <a:endParaRPr lang="en-IN" sz="2400" dirty="0">
                        <a:effectLst/>
                      </a:endParaRPr>
                    </a:p>
                  </a:txBody>
                  <a:tcPr marL="28575" marR="28575" marT="28575" marB="28575"/>
                </a:tc>
                <a:extLst>
                  <a:ext uri="{0D108BD9-81ED-4DB2-BD59-A6C34878D82A}">
                    <a16:rowId xmlns:a16="http://schemas.microsoft.com/office/drawing/2014/main" val="431404209"/>
                  </a:ext>
                </a:extLst>
              </a:tr>
              <a:tr h="416090">
                <a:tc>
                  <a:txBody>
                    <a:bodyPr/>
                    <a:lstStyle/>
                    <a:p>
                      <a:pPr algn="ctr" fontAlgn="t"/>
                      <a:r>
                        <a:rPr lang="en-IN" sz="2400" dirty="0">
                          <a:effectLst/>
                        </a:rPr>
                        <a:t>Two computers</a:t>
                      </a:r>
                    </a:p>
                  </a:txBody>
                  <a:tcPr marL="28575" marR="28575" marT="28575" marB="28575"/>
                </a:tc>
                <a:tc>
                  <a:txBody>
                    <a:bodyPr/>
                    <a:lstStyle/>
                    <a:p>
                      <a:pPr algn="ctr" fontAlgn="t"/>
                      <a:r>
                        <a:rPr lang="en-IN" sz="2400">
                          <a:effectLst/>
                        </a:rPr>
                        <a:t>Chandrachud</a:t>
                      </a:r>
                    </a:p>
                  </a:txBody>
                  <a:tcPr marL="28575" marR="28575" marT="28575" marB="28575"/>
                </a:tc>
                <a:extLst>
                  <a:ext uri="{0D108BD9-81ED-4DB2-BD59-A6C34878D82A}">
                    <a16:rowId xmlns:a16="http://schemas.microsoft.com/office/drawing/2014/main" val="3947437333"/>
                  </a:ext>
                </a:extLst>
              </a:tr>
              <a:tr h="331470">
                <a:tc>
                  <a:txBody>
                    <a:bodyPr/>
                    <a:lstStyle/>
                    <a:p>
                      <a:pPr algn="ctr" fontAlgn="t"/>
                      <a:r>
                        <a:rPr lang="en-IN" sz="2400">
                          <a:effectLst/>
                        </a:rPr>
                        <a:t>Two bags</a:t>
                      </a:r>
                    </a:p>
                  </a:txBody>
                  <a:tcPr marL="28575" marR="28575" marT="28575" marB="28575"/>
                </a:tc>
                <a:tc>
                  <a:txBody>
                    <a:bodyPr/>
                    <a:lstStyle/>
                    <a:p>
                      <a:pPr algn="ctr" fontAlgn="t"/>
                      <a:r>
                        <a:rPr lang="en-IN" sz="2400">
                          <a:effectLst/>
                        </a:rPr>
                        <a:t>Bagbahadur</a:t>
                      </a:r>
                    </a:p>
                  </a:txBody>
                  <a:tcPr marL="28575" marR="28575" marT="28575" marB="28575"/>
                </a:tc>
                <a:extLst>
                  <a:ext uri="{0D108BD9-81ED-4DB2-BD59-A6C34878D82A}">
                    <a16:rowId xmlns:a16="http://schemas.microsoft.com/office/drawing/2014/main" val="1346041306"/>
                  </a:ext>
                </a:extLst>
              </a:tr>
              <a:tr h="605790">
                <a:tc>
                  <a:txBody>
                    <a:bodyPr/>
                    <a:lstStyle/>
                    <a:p>
                      <a:pPr algn="ctr" fontAlgn="t"/>
                      <a:r>
                        <a:rPr lang="en-US" sz="2400">
                          <a:effectLst/>
                        </a:rPr>
                        <a:t>One printer and one computer</a:t>
                      </a:r>
                    </a:p>
                  </a:txBody>
                  <a:tcPr marL="28575" marR="28575" marT="28575" marB="28575"/>
                </a:tc>
                <a:tc>
                  <a:txBody>
                    <a:bodyPr/>
                    <a:lstStyle/>
                    <a:p>
                      <a:pPr algn="ctr" fontAlgn="t"/>
                      <a:r>
                        <a:rPr lang="en-IN" sz="2400">
                          <a:effectLst/>
                        </a:rPr>
                        <a:t>Purnachandra</a:t>
                      </a:r>
                    </a:p>
                  </a:txBody>
                  <a:tcPr marL="28575" marR="28575" marT="28575" marB="28575"/>
                </a:tc>
                <a:extLst>
                  <a:ext uri="{0D108BD9-81ED-4DB2-BD59-A6C34878D82A}">
                    <a16:rowId xmlns:a16="http://schemas.microsoft.com/office/drawing/2014/main" val="997840118"/>
                  </a:ext>
                </a:extLst>
              </a:tr>
              <a:tr h="331470">
                <a:tc>
                  <a:txBody>
                    <a:bodyPr/>
                    <a:lstStyle/>
                    <a:p>
                      <a:pPr algn="ctr" fontAlgn="t"/>
                      <a:r>
                        <a:rPr lang="en-US" sz="2400" dirty="0">
                          <a:effectLst/>
                        </a:rPr>
                        <a:t>One bag and one computer</a:t>
                      </a:r>
                    </a:p>
                  </a:txBody>
                  <a:tcPr marL="28575" marR="28575" marT="28575" marB="28575"/>
                </a:tc>
                <a:tc>
                  <a:txBody>
                    <a:bodyPr/>
                    <a:lstStyle/>
                    <a:p>
                      <a:pPr algn="ctr" fontAlgn="t"/>
                      <a:r>
                        <a:rPr lang="en-IN" sz="2400" dirty="0" err="1">
                          <a:effectLst/>
                        </a:rPr>
                        <a:t>Biswachakra</a:t>
                      </a:r>
                      <a:endParaRPr lang="en-IN" sz="2400" dirty="0">
                        <a:effectLst/>
                      </a:endParaRPr>
                    </a:p>
                  </a:txBody>
                  <a:tcPr marL="28575" marR="28575" marT="28575" marB="28575"/>
                </a:tc>
                <a:extLst>
                  <a:ext uri="{0D108BD9-81ED-4DB2-BD59-A6C34878D82A}">
                    <a16:rowId xmlns:a16="http://schemas.microsoft.com/office/drawing/2014/main" val="2417001924"/>
                  </a:ext>
                </a:extLst>
              </a:tr>
            </a:tbl>
          </a:graphicData>
        </a:graphic>
      </p:graphicFrame>
    </p:spTree>
    <p:extLst>
      <p:ext uri="{BB962C8B-B14F-4D97-AF65-F5344CB8AC3E}">
        <p14:creationId xmlns:p14="http://schemas.microsoft.com/office/powerpoint/2010/main" val="391585981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FEACD43-1B39-444A-9EBF-3FA7089FC8DB}"/>
              </a:ext>
            </a:extLst>
          </p:cNvPr>
          <p:cNvSpPr>
            <a:spLocks noGrp="1"/>
          </p:cNvSpPr>
          <p:nvPr>
            <p:ph type="ftr" sz="quarter" idx="3"/>
          </p:nvPr>
        </p:nvSpPr>
        <p:spPr>
          <a:xfrm>
            <a:off x="685800" y="6477002"/>
            <a:ext cx="7239000" cy="365125"/>
          </a:xfrm>
          <a:prstGeom prst="rect">
            <a:avLst/>
          </a:prstGeom>
        </p:spPr>
        <p:txBody>
          <a:bodyPr vert="horz" lIns="91440" tIns="45720" rIns="91440" bIns="45720" rtlCol="0" anchor="ctr"/>
          <a:lstStyle>
            <a:defPPr>
              <a:defRPr lang="en-US"/>
            </a:defPPr>
            <a:lvl1pPr marL="0" algn="ctr" defTabSz="914400" rtl="0" eaLnBrk="1" fontAlgn="auto" latinLnBrk="0" hangingPunct="1">
              <a:spcBef>
                <a:spcPts val="0"/>
              </a:spcBef>
              <a:spcAft>
                <a:spcPts val="0"/>
              </a:spcAft>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 2016 SMART Training Resources Pvt. Ltd.</a:t>
            </a:r>
          </a:p>
        </p:txBody>
      </p:sp>
      <p:sp>
        <p:nvSpPr>
          <p:cNvPr id="6" name="TextBox 5">
            <a:extLst>
              <a:ext uri="{FF2B5EF4-FFF2-40B4-BE49-F238E27FC236}">
                <a16:creationId xmlns:a16="http://schemas.microsoft.com/office/drawing/2014/main" id="{BF37821D-99B6-4537-BFCE-9AE18413044C}"/>
              </a:ext>
            </a:extLst>
          </p:cNvPr>
          <p:cNvSpPr txBox="1"/>
          <p:nvPr/>
        </p:nvSpPr>
        <p:spPr>
          <a:xfrm>
            <a:off x="357809" y="159026"/>
            <a:ext cx="11310730" cy="3416320"/>
          </a:xfrm>
          <a:prstGeom prst="rect">
            <a:avLst/>
          </a:prstGeom>
          <a:noFill/>
        </p:spPr>
        <p:txBody>
          <a:bodyPr wrap="square">
            <a:spAutoFit/>
          </a:bodyPr>
          <a:lstStyle/>
          <a:p>
            <a:pPr algn="just"/>
            <a:r>
              <a:rPr lang="en-US" sz="2400" dirty="0">
                <a:latin typeface="Rockwell" panose="02060603020205020403" pitchFamily="18" charset="0"/>
              </a:rPr>
              <a:t>2. If it is known that the room named </a:t>
            </a:r>
            <a:r>
              <a:rPr lang="en-US" sz="2400" dirty="0" err="1">
                <a:latin typeface="Rockwell" panose="02060603020205020403" pitchFamily="18" charset="0"/>
              </a:rPr>
              <a:t>Purnachandra</a:t>
            </a:r>
            <a:r>
              <a:rPr lang="en-US" sz="2400" dirty="0">
                <a:latin typeface="Rockwell" panose="02060603020205020403" pitchFamily="18" charset="0"/>
              </a:rPr>
              <a:t> does not contain either any printer or any computer, the room named </a:t>
            </a:r>
            <a:r>
              <a:rPr lang="en-US" sz="2400" dirty="0" err="1">
                <a:latin typeface="Rockwell" panose="02060603020205020403" pitchFamily="18" charset="0"/>
              </a:rPr>
              <a:t>Pashupatti</a:t>
            </a:r>
            <a:r>
              <a:rPr lang="en-US" sz="2400" dirty="0">
                <a:latin typeface="Rockwell" panose="02060603020205020403" pitchFamily="18" charset="0"/>
              </a:rPr>
              <a:t> does not contain any printer and the room named </a:t>
            </a:r>
            <a:r>
              <a:rPr lang="en-US" sz="2400" dirty="0" err="1">
                <a:latin typeface="Rockwell" panose="02060603020205020403" pitchFamily="18" charset="0"/>
              </a:rPr>
              <a:t>Chandrachud</a:t>
            </a:r>
            <a:r>
              <a:rPr lang="en-US" sz="2400" dirty="0">
                <a:latin typeface="Rockwell" panose="02060603020205020403" pitchFamily="18" charset="0"/>
              </a:rPr>
              <a:t> contains one computer and one bag, then which of the following will definitely be true if only one of the remaining rooms is opened?</a:t>
            </a:r>
          </a:p>
          <a:p>
            <a:pPr algn="just"/>
            <a:r>
              <a:rPr lang="en-US" sz="2400" dirty="0" err="1">
                <a:latin typeface="Rockwell" panose="02060603020205020403" pitchFamily="18" charset="0"/>
              </a:rPr>
              <a:t>A.It</a:t>
            </a:r>
            <a:r>
              <a:rPr lang="en-US" sz="2400" dirty="0">
                <a:latin typeface="Rockwell" panose="02060603020205020403" pitchFamily="18" charset="0"/>
              </a:rPr>
              <a:t> will have at least one computer and printer.</a:t>
            </a:r>
          </a:p>
          <a:p>
            <a:pPr algn="just"/>
            <a:r>
              <a:rPr lang="en-US" sz="2400" dirty="0" err="1">
                <a:latin typeface="Rockwell" panose="02060603020205020403" pitchFamily="18" charset="0"/>
              </a:rPr>
              <a:t>B.It</a:t>
            </a:r>
            <a:r>
              <a:rPr lang="en-US" sz="2400" dirty="0">
                <a:latin typeface="Rockwell" panose="02060603020205020403" pitchFamily="18" charset="0"/>
              </a:rPr>
              <a:t> will have two printers.</a:t>
            </a:r>
          </a:p>
          <a:p>
            <a:pPr algn="just"/>
            <a:r>
              <a:rPr lang="en-US" sz="2400" dirty="0" err="1">
                <a:latin typeface="Rockwell" panose="02060603020205020403" pitchFamily="18" charset="0"/>
              </a:rPr>
              <a:t>C.It</a:t>
            </a:r>
            <a:r>
              <a:rPr lang="en-US" sz="2400" dirty="0">
                <a:latin typeface="Rockwell" panose="02060603020205020403" pitchFamily="18" charset="0"/>
              </a:rPr>
              <a:t> will have at least one computer.</a:t>
            </a:r>
          </a:p>
          <a:p>
            <a:pPr algn="just"/>
            <a:r>
              <a:rPr lang="en-US" sz="2400" dirty="0" err="1">
                <a:latin typeface="Rockwell" panose="02060603020205020403" pitchFamily="18" charset="0"/>
              </a:rPr>
              <a:t>D.It</a:t>
            </a:r>
            <a:r>
              <a:rPr lang="en-US" sz="2400" dirty="0">
                <a:latin typeface="Rockwell" panose="02060603020205020403" pitchFamily="18" charset="0"/>
              </a:rPr>
              <a:t> will have at least one printer.</a:t>
            </a:r>
            <a:endParaRPr lang="en-IN" sz="2400" dirty="0">
              <a:latin typeface="Rockwell" panose="02060603020205020403" pitchFamily="18" charset="0"/>
            </a:endParaRPr>
          </a:p>
        </p:txBody>
      </p:sp>
      <p:graphicFrame>
        <p:nvGraphicFramePr>
          <p:cNvPr id="4" name="Table 3">
            <a:extLst>
              <a:ext uri="{FF2B5EF4-FFF2-40B4-BE49-F238E27FC236}">
                <a16:creationId xmlns:a16="http://schemas.microsoft.com/office/drawing/2014/main" id="{F60C17AF-A4A5-46F2-89EE-81897482EE1C}"/>
              </a:ext>
            </a:extLst>
          </p:cNvPr>
          <p:cNvGraphicFramePr>
            <a:graphicFrameLocks noGrp="1"/>
          </p:cNvGraphicFramePr>
          <p:nvPr>
            <p:extLst>
              <p:ext uri="{D42A27DB-BD31-4B8C-83A1-F6EECF244321}">
                <p14:modId xmlns:p14="http://schemas.microsoft.com/office/powerpoint/2010/main" val="2941497321"/>
              </p:ext>
            </p:extLst>
          </p:nvPr>
        </p:nvGraphicFramePr>
        <p:xfrm>
          <a:off x="2416644" y="3575346"/>
          <a:ext cx="7890233" cy="2554509"/>
        </p:xfrm>
        <a:graphic>
          <a:graphicData uri="http://schemas.openxmlformats.org/drawingml/2006/table">
            <a:tbl>
              <a:tblPr>
                <a:tableStyleId>{35758FB7-9AC5-4552-8A53-C91805E547FA}</a:tableStyleId>
              </a:tblPr>
              <a:tblGrid>
                <a:gridCol w="3931859">
                  <a:extLst>
                    <a:ext uri="{9D8B030D-6E8A-4147-A177-3AD203B41FA5}">
                      <a16:colId xmlns:a16="http://schemas.microsoft.com/office/drawing/2014/main" val="831799932"/>
                    </a:ext>
                  </a:extLst>
                </a:gridCol>
                <a:gridCol w="3958374">
                  <a:extLst>
                    <a:ext uri="{9D8B030D-6E8A-4147-A177-3AD203B41FA5}">
                      <a16:colId xmlns:a16="http://schemas.microsoft.com/office/drawing/2014/main" val="61649514"/>
                    </a:ext>
                  </a:extLst>
                </a:gridCol>
              </a:tblGrid>
              <a:tr h="439959">
                <a:tc>
                  <a:txBody>
                    <a:bodyPr/>
                    <a:lstStyle/>
                    <a:p>
                      <a:pPr algn="ctr" fontAlgn="t"/>
                      <a:r>
                        <a:rPr lang="en-IN" sz="2400">
                          <a:effectLst/>
                        </a:rPr>
                        <a:t>Contents</a:t>
                      </a:r>
                    </a:p>
                  </a:txBody>
                  <a:tcPr marL="28575" marR="28575" marT="28575" marB="28575"/>
                </a:tc>
                <a:tc>
                  <a:txBody>
                    <a:bodyPr/>
                    <a:lstStyle/>
                    <a:p>
                      <a:pPr algn="ctr" fontAlgn="t"/>
                      <a:r>
                        <a:rPr lang="en-IN" sz="2400">
                          <a:effectLst/>
                        </a:rPr>
                        <a:t>Name of Rooms</a:t>
                      </a:r>
                    </a:p>
                  </a:txBody>
                  <a:tcPr marL="28575" marR="28575" marT="28575" marB="28575"/>
                </a:tc>
                <a:extLst>
                  <a:ext uri="{0D108BD9-81ED-4DB2-BD59-A6C34878D82A}">
                    <a16:rowId xmlns:a16="http://schemas.microsoft.com/office/drawing/2014/main" val="484483199"/>
                  </a:ext>
                </a:extLst>
              </a:tr>
              <a:tr h="331470">
                <a:tc>
                  <a:txBody>
                    <a:bodyPr/>
                    <a:lstStyle/>
                    <a:p>
                      <a:pPr algn="ctr" fontAlgn="t"/>
                      <a:r>
                        <a:rPr lang="en-IN" sz="2400">
                          <a:effectLst/>
                        </a:rPr>
                        <a:t>Two printers</a:t>
                      </a:r>
                    </a:p>
                  </a:txBody>
                  <a:tcPr marL="28575" marR="28575" marT="28575" marB="28575"/>
                </a:tc>
                <a:tc>
                  <a:txBody>
                    <a:bodyPr/>
                    <a:lstStyle/>
                    <a:p>
                      <a:pPr algn="ctr" fontAlgn="t"/>
                      <a:r>
                        <a:rPr lang="en-IN" sz="2400" dirty="0" err="1">
                          <a:effectLst/>
                        </a:rPr>
                        <a:t>Pashupatti</a:t>
                      </a:r>
                      <a:endParaRPr lang="en-IN" sz="2400" dirty="0">
                        <a:effectLst/>
                      </a:endParaRPr>
                    </a:p>
                  </a:txBody>
                  <a:tcPr marL="28575" marR="28575" marT="28575" marB="28575"/>
                </a:tc>
                <a:extLst>
                  <a:ext uri="{0D108BD9-81ED-4DB2-BD59-A6C34878D82A}">
                    <a16:rowId xmlns:a16="http://schemas.microsoft.com/office/drawing/2014/main" val="431404209"/>
                  </a:ext>
                </a:extLst>
              </a:tr>
              <a:tr h="331470">
                <a:tc>
                  <a:txBody>
                    <a:bodyPr/>
                    <a:lstStyle/>
                    <a:p>
                      <a:pPr algn="ctr" fontAlgn="t"/>
                      <a:r>
                        <a:rPr lang="en-IN" sz="2400" dirty="0">
                          <a:effectLst/>
                        </a:rPr>
                        <a:t>Two computers</a:t>
                      </a:r>
                    </a:p>
                  </a:txBody>
                  <a:tcPr marL="28575" marR="28575" marT="28575" marB="28575"/>
                </a:tc>
                <a:tc>
                  <a:txBody>
                    <a:bodyPr/>
                    <a:lstStyle/>
                    <a:p>
                      <a:pPr algn="ctr" fontAlgn="t"/>
                      <a:r>
                        <a:rPr lang="en-IN" sz="2400">
                          <a:effectLst/>
                        </a:rPr>
                        <a:t>Chandrachud</a:t>
                      </a:r>
                    </a:p>
                  </a:txBody>
                  <a:tcPr marL="28575" marR="28575" marT="28575" marB="28575"/>
                </a:tc>
                <a:extLst>
                  <a:ext uri="{0D108BD9-81ED-4DB2-BD59-A6C34878D82A}">
                    <a16:rowId xmlns:a16="http://schemas.microsoft.com/office/drawing/2014/main" val="3947437333"/>
                  </a:ext>
                </a:extLst>
              </a:tr>
              <a:tr h="331470">
                <a:tc>
                  <a:txBody>
                    <a:bodyPr/>
                    <a:lstStyle/>
                    <a:p>
                      <a:pPr algn="ctr" fontAlgn="t"/>
                      <a:r>
                        <a:rPr lang="en-IN" sz="2400">
                          <a:effectLst/>
                        </a:rPr>
                        <a:t>Two bags</a:t>
                      </a:r>
                    </a:p>
                  </a:txBody>
                  <a:tcPr marL="28575" marR="28575" marT="28575" marB="28575"/>
                </a:tc>
                <a:tc>
                  <a:txBody>
                    <a:bodyPr/>
                    <a:lstStyle/>
                    <a:p>
                      <a:pPr algn="ctr" fontAlgn="t"/>
                      <a:r>
                        <a:rPr lang="en-IN" sz="2400">
                          <a:effectLst/>
                        </a:rPr>
                        <a:t>Bagbahadur</a:t>
                      </a:r>
                    </a:p>
                  </a:txBody>
                  <a:tcPr marL="28575" marR="28575" marT="28575" marB="28575"/>
                </a:tc>
                <a:extLst>
                  <a:ext uri="{0D108BD9-81ED-4DB2-BD59-A6C34878D82A}">
                    <a16:rowId xmlns:a16="http://schemas.microsoft.com/office/drawing/2014/main" val="1346041306"/>
                  </a:ext>
                </a:extLst>
              </a:tr>
              <a:tr h="331470">
                <a:tc>
                  <a:txBody>
                    <a:bodyPr/>
                    <a:lstStyle/>
                    <a:p>
                      <a:pPr algn="ctr" fontAlgn="t"/>
                      <a:r>
                        <a:rPr lang="en-US" sz="2400">
                          <a:effectLst/>
                        </a:rPr>
                        <a:t>One printer and one computer</a:t>
                      </a:r>
                    </a:p>
                  </a:txBody>
                  <a:tcPr marL="28575" marR="28575" marT="28575" marB="28575"/>
                </a:tc>
                <a:tc>
                  <a:txBody>
                    <a:bodyPr/>
                    <a:lstStyle/>
                    <a:p>
                      <a:pPr algn="ctr" fontAlgn="t"/>
                      <a:r>
                        <a:rPr lang="en-IN" sz="2400">
                          <a:effectLst/>
                        </a:rPr>
                        <a:t>Purnachandra</a:t>
                      </a:r>
                    </a:p>
                  </a:txBody>
                  <a:tcPr marL="28575" marR="28575" marT="28575" marB="28575"/>
                </a:tc>
                <a:extLst>
                  <a:ext uri="{0D108BD9-81ED-4DB2-BD59-A6C34878D82A}">
                    <a16:rowId xmlns:a16="http://schemas.microsoft.com/office/drawing/2014/main" val="997840118"/>
                  </a:ext>
                </a:extLst>
              </a:tr>
              <a:tr h="331470">
                <a:tc>
                  <a:txBody>
                    <a:bodyPr/>
                    <a:lstStyle/>
                    <a:p>
                      <a:pPr algn="ctr" fontAlgn="t"/>
                      <a:r>
                        <a:rPr lang="en-US" sz="2400" dirty="0">
                          <a:effectLst/>
                        </a:rPr>
                        <a:t>One bag and one computer</a:t>
                      </a:r>
                    </a:p>
                  </a:txBody>
                  <a:tcPr marL="28575" marR="28575" marT="28575" marB="28575"/>
                </a:tc>
                <a:tc>
                  <a:txBody>
                    <a:bodyPr/>
                    <a:lstStyle/>
                    <a:p>
                      <a:pPr algn="ctr" fontAlgn="t"/>
                      <a:r>
                        <a:rPr lang="en-IN" sz="2400" dirty="0" err="1">
                          <a:effectLst/>
                        </a:rPr>
                        <a:t>Biswachakra</a:t>
                      </a:r>
                      <a:endParaRPr lang="en-IN" sz="2400" dirty="0">
                        <a:effectLst/>
                      </a:endParaRPr>
                    </a:p>
                  </a:txBody>
                  <a:tcPr marL="28575" marR="28575" marT="28575" marB="28575"/>
                </a:tc>
                <a:extLst>
                  <a:ext uri="{0D108BD9-81ED-4DB2-BD59-A6C34878D82A}">
                    <a16:rowId xmlns:a16="http://schemas.microsoft.com/office/drawing/2014/main" val="2417001924"/>
                  </a:ext>
                </a:extLst>
              </a:tr>
            </a:tbl>
          </a:graphicData>
        </a:graphic>
      </p:graphicFrame>
    </p:spTree>
    <p:extLst>
      <p:ext uri="{BB962C8B-B14F-4D97-AF65-F5344CB8AC3E}">
        <p14:creationId xmlns:p14="http://schemas.microsoft.com/office/powerpoint/2010/main" val="73724157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3799961-BE0A-4099-AB7B-E7F3B29B7DC2}"/>
              </a:ext>
            </a:extLst>
          </p:cNvPr>
          <p:cNvSpPr>
            <a:spLocks noGrp="1"/>
          </p:cNvSpPr>
          <p:nvPr>
            <p:ph type="ftr" sz="quarter" idx="3"/>
          </p:nvPr>
        </p:nvSpPr>
        <p:spPr>
          <a:xfrm>
            <a:off x="685800" y="6477002"/>
            <a:ext cx="7239000" cy="365125"/>
          </a:xfrm>
          <a:prstGeom prst="rect">
            <a:avLst/>
          </a:prstGeom>
        </p:spPr>
        <p:txBody>
          <a:bodyPr vert="horz" lIns="91440" tIns="45720" rIns="91440" bIns="45720" rtlCol="0" anchor="ctr"/>
          <a:lstStyle>
            <a:defPPr>
              <a:defRPr lang="en-US"/>
            </a:defPPr>
            <a:lvl1pPr marL="0" algn="ctr" defTabSz="914400" rtl="0" eaLnBrk="1" fontAlgn="auto" latinLnBrk="0" hangingPunct="1">
              <a:spcBef>
                <a:spcPts val="0"/>
              </a:spcBef>
              <a:spcAft>
                <a:spcPts val="0"/>
              </a:spcAft>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 2016 SMART Training Resources Pvt. Ltd.</a:t>
            </a:r>
          </a:p>
        </p:txBody>
      </p:sp>
      <p:sp>
        <p:nvSpPr>
          <p:cNvPr id="4" name="TextBox 3">
            <a:extLst>
              <a:ext uri="{FF2B5EF4-FFF2-40B4-BE49-F238E27FC236}">
                <a16:creationId xmlns:a16="http://schemas.microsoft.com/office/drawing/2014/main" id="{A2527341-B96E-4F47-91C6-1684CD841EF6}"/>
              </a:ext>
            </a:extLst>
          </p:cNvPr>
          <p:cNvSpPr txBox="1"/>
          <p:nvPr/>
        </p:nvSpPr>
        <p:spPr>
          <a:xfrm>
            <a:off x="308113" y="119269"/>
            <a:ext cx="11748052" cy="6001643"/>
          </a:xfrm>
          <a:prstGeom prst="rect">
            <a:avLst/>
          </a:prstGeom>
          <a:noFill/>
        </p:spPr>
        <p:txBody>
          <a:bodyPr wrap="square">
            <a:spAutoFit/>
          </a:bodyPr>
          <a:lstStyle/>
          <a:p>
            <a:pPr algn="l"/>
            <a:r>
              <a:rPr lang="en-US" sz="3200" dirty="0">
                <a:solidFill>
                  <a:srgbClr val="333333"/>
                </a:solidFill>
                <a:latin typeface="Rockwell" panose="02060603020205020403" pitchFamily="18" charset="0"/>
              </a:rPr>
              <a:t>The Banerjees, the </a:t>
            </a:r>
            <a:r>
              <a:rPr lang="en-US" sz="3200" dirty="0" err="1">
                <a:solidFill>
                  <a:srgbClr val="333333"/>
                </a:solidFill>
                <a:latin typeface="Rockwell" panose="02060603020205020403" pitchFamily="18" charset="0"/>
              </a:rPr>
              <a:t>Sharmas</a:t>
            </a:r>
            <a:r>
              <a:rPr lang="en-US" sz="3200" dirty="0">
                <a:solidFill>
                  <a:srgbClr val="333333"/>
                </a:solidFill>
                <a:latin typeface="Rockwell" panose="02060603020205020403" pitchFamily="18" charset="0"/>
              </a:rPr>
              <a:t>, and the </a:t>
            </a:r>
            <a:r>
              <a:rPr lang="en-US" sz="3200" dirty="0" err="1">
                <a:solidFill>
                  <a:srgbClr val="333333"/>
                </a:solidFill>
                <a:latin typeface="Rockwell" panose="02060603020205020403" pitchFamily="18" charset="0"/>
              </a:rPr>
              <a:t>Pattabhiramans</a:t>
            </a:r>
            <a:r>
              <a:rPr lang="en-US" sz="3200" dirty="0">
                <a:solidFill>
                  <a:srgbClr val="333333"/>
                </a:solidFill>
                <a:latin typeface="Rockwell" panose="02060603020205020403" pitchFamily="18" charset="0"/>
              </a:rPr>
              <a:t> each have a tradition of eating Sunday lunch as a family. Each family serves a special meal at a certain time of day. Each family has a particular set of chinaware used only for this meal. Use the clues below to answer the following question.</a:t>
            </a:r>
          </a:p>
          <a:p>
            <a:pPr algn="l"/>
            <a:r>
              <a:rPr lang="en-US" sz="3200" dirty="0">
                <a:solidFill>
                  <a:srgbClr val="333333"/>
                </a:solidFill>
                <a:latin typeface="Rockwell" panose="02060603020205020403" pitchFamily="18" charset="0"/>
              </a:rPr>
              <a:t>A. The Sharma family eats at noon.</a:t>
            </a:r>
          </a:p>
          <a:p>
            <a:pPr algn="l"/>
            <a:r>
              <a:rPr lang="en-US" sz="3200" dirty="0">
                <a:solidFill>
                  <a:srgbClr val="333333"/>
                </a:solidFill>
                <a:latin typeface="Rockwell" panose="02060603020205020403" pitchFamily="18" charset="0"/>
              </a:rPr>
              <a:t>B. The family that serves fried brinjal uses blue chinaware.</a:t>
            </a:r>
          </a:p>
          <a:p>
            <a:pPr algn="l"/>
            <a:r>
              <a:rPr lang="en-US" sz="3200" dirty="0">
                <a:solidFill>
                  <a:srgbClr val="333333"/>
                </a:solidFill>
                <a:latin typeface="Rockwell" panose="02060603020205020403" pitchFamily="18" charset="0"/>
              </a:rPr>
              <a:t>C. The Banerjee family eats at 2 o'clock.</a:t>
            </a:r>
          </a:p>
          <a:p>
            <a:pPr algn="l"/>
            <a:r>
              <a:rPr lang="en-US" sz="3200" dirty="0">
                <a:solidFill>
                  <a:srgbClr val="333333"/>
                </a:solidFill>
                <a:latin typeface="Rockwell" panose="02060603020205020403" pitchFamily="18" charset="0"/>
              </a:rPr>
              <a:t>D. The family that serves sambar does not use red chinaware.</a:t>
            </a:r>
          </a:p>
          <a:p>
            <a:pPr algn="l"/>
            <a:r>
              <a:rPr lang="en-US" sz="3200" dirty="0">
                <a:solidFill>
                  <a:srgbClr val="333333"/>
                </a:solidFill>
                <a:latin typeface="Rockwell" panose="02060603020205020403" pitchFamily="18" charset="0"/>
              </a:rPr>
              <a:t>E. The family that eats at 1 o'clock serves fried brinjal.</a:t>
            </a:r>
          </a:p>
          <a:p>
            <a:pPr algn="l"/>
            <a:r>
              <a:rPr lang="en-US" sz="3200" dirty="0">
                <a:solidFill>
                  <a:srgbClr val="333333"/>
                </a:solidFill>
                <a:latin typeface="Rockwell" panose="02060603020205020403" pitchFamily="18" charset="0"/>
              </a:rPr>
              <a:t>F. The </a:t>
            </a:r>
            <a:r>
              <a:rPr lang="en-US" sz="3200" dirty="0" err="1">
                <a:solidFill>
                  <a:srgbClr val="333333"/>
                </a:solidFill>
                <a:latin typeface="Rockwell" panose="02060603020205020403" pitchFamily="18" charset="0"/>
              </a:rPr>
              <a:t>Pattabhiraman</a:t>
            </a:r>
            <a:r>
              <a:rPr lang="en-US" sz="3200" dirty="0">
                <a:solidFill>
                  <a:srgbClr val="333333"/>
                </a:solidFill>
                <a:latin typeface="Rockwell" panose="02060603020205020403" pitchFamily="18" charset="0"/>
              </a:rPr>
              <a:t> family does not use white chinaware.</a:t>
            </a:r>
          </a:p>
          <a:p>
            <a:pPr algn="l"/>
            <a:r>
              <a:rPr lang="en-US" sz="3200" dirty="0">
                <a:solidFill>
                  <a:srgbClr val="333333"/>
                </a:solidFill>
                <a:latin typeface="Rockwell" panose="02060603020205020403" pitchFamily="18" charset="0"/>
              </a:rPr>
              <a:t>G. The family that eats last likes </a:t>
            </a:r>
            <a:r>
              <a:rPr lang="en-US" sz="3200" dirty="0" err="1">
                <a:solidFill>
                  <a:srgbClr val="333333"/>
                </a:solidFill>
                <a:latin typeface="Rockwell" panose="02060603020205020403" pitchFamily="18" charset="0"/>
              </a:rPr>
              <a:t>makkai</a:t>
            </a:r>
            <a:r>
              <a:rPr lang="en-US" sz="3200" dirty="0">
                <a:solidFill>
                  <a:srgbClr val="333333"/>
                </a:solidFill>
                <a:latin typeface="Rockwell" panose="02060603020205020403" pitchFamily="18" charset="0"/>
              </a:rPr>
              <a:t>-</a:t>
            </a:r>
            <a:r>
              <a:rPr lang="en-US" sz="3200" dirty="0" err="1">
                <a:solidFill>
                  <a:srgbClr val="333333"/>
                </a:solidFill>
                <a:latin typeface="Rockwell" panose="02060603020205020403" pitchFamily="18" charset="0"/>
              </a:rPr>
              <a:t>ki</a:t>
            </a:r>
            <a:r>
              <a:rPr lang="en-US" sz="3200" dirty="0">
                <a:solidFill>
                  <a:srgbClr val="333333"/>
                </a:solidFill>
                <a:latin typeface="Rockwell" panose="02060603020205020403" pitchFamily="18" charset="0"/>
              </a:rPr>
              <a:t>-roti.</a:t>
            </a:r>
          </a:p>
        </p:txBody>
      </p:sp>
    </p:spTree>
    <p:extLst>
      <p:ext uri="{BB962C8B-B14F-4D97-AF65-F5344CB8AC3E}">
        <p14:creationId xmlns:p14="http://schemas.microsoft.com/office/powerpoint/2010/main" val="233825412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5E7438A5-FD59-4515-B284-D5237680106B}"/>
              </a:ext>
            </a:extLst>
          </p:cNvPr>
          <p:cNvSpPr>
            <a:spLocks noGrp="1"/>
          </p:cNvSpPr>
          <p:nvPr>
            <p:ph type="ftr" sz="quarter" idx="3"/>
          </p:nvPr>
        </p:nvSpPr>
        <p:spPr>
          <a:xfrm>
            <a:off x="685800" y="6477002"/>
            <a:ext cx="7239000" cy="365125"/>
          </a:xfrm>
          <a:prstGeom prst="rect">
            <a:avLst/>
          </a:prstGeom>
        </p:spPr>
        <p:txBody>
          <a:bodyPr vert="horz" lIns="91440" tIns="45720" rIns="91440" bIns="45720" rtlCol="0" anchor="ctr"/>
          <a:lstStyle>
            <a:defPPr>
              <a:defRPr lang="en-US"/>
            </a:defPPr>
            <a:lvl1pPr marL="0" algn="ctr" defTabSz="914400" rtl="0" eaLnBrk="1" fontAlgn="auto" latinLnBrk="0" hangingPunct="1">
              <a:spcBef>
                <a:spcPts val="0"/>
              </a:spcBef>
              <a:spcAft>
                <a:spcPts val="0"/>
              </a:spcAft>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 2016 SMART Training Resources Pvt. Ltd.</a:t>
            </a:r>
          </a:p>
        </p:txBody>
      </p:sp>
      <p:sp>
        <p:nvSpPr>
          <p:cNvPr id="6" name="TextBox 5">
            <a:extLst>
              <a:ext uri="{FF2B5EF4-FFF2-40B4-BE49-F238E27FC236}">
                <a16:creationId xmlns:a16="http://schemas.microsoft.com/office/drawing/2014/main" id="{533B313D-0D3C-45D5-9A94-33A63395C5A9}"/>
              </a:ext>
            </a:extLst>
          </p:cNvPr>
          <p:cNvSpPr txBox="1"/>
          <p:nvPr/>
        </p:nvSpPr>
        <p:spPr>
          <a:xfrm>
            <a:off x="258417" y="248478"/>
            <a:ext cx="11698357" cy="4893647"/>
          </a:xfrm>
          <a:prstGeom prst="rect">
            <a:avLst/>
          </a:prstGeom>
          <a:noFill/>
        </p:spPr>
        <p:txBody>
          <a:bodyPr wrap="square">
            <a:spAutoFit/>
          </a:bodyPr>
          <a:lstStyle/>
          <a:p>
            <a:pPr algn="just"/>
            <a:r>
              <a:rPr lang="en-IN" sz="2400" dirty="0">
                <a:latin typeface="Rockwell" panose="02060603020205020403" pitchFamily="18" charset="0"/>
              </a:rPr>
              <a:t>3.Which one of the following statements is true?</a:t>
            </a:r>
          </a:p>
          <a:p>
            <a:pPr algn="just"/>
            <a:endParaRPr lang="en-IN" sz="2400" dirty="0">
              <a:latin typeface="Rockwell" panose="02060603020205020403" pitchFamily="18" charset="0"/>
            </a:endParaRPr>
          </a:p>
          <a:p>
            <a:pPr algn="just"/>
            <a:r>
              <a:rPr lang="en-IN" sz="2400" dirty="0" err="1">
                <a:latin typeface="Rockwell" panose="02060603020205020403" pitchFamily="18" charset="0"/>
              </a:rPr>
              <a:t>A.The</a:t>
            </a:r>
            <a:r>
              <a:rPr lang="en-IN" sz="2400" dirty="0">
                <a:latin typeface="Rockwell" panose="02060603020205020403" pitchFamily="18" charset="0"/>
              </a:rPr>
              <a:t> Banerjees eat </a:t>
            </a:r>
            <a:r>
              <a:rPr lang="en-IN" sz="2400" dirty="0" err="1">
                <a:latin typeface="Rockwell" panose="02060603020205020403" pitchFamily="18" charset="0"/>
              </a:rPr>
              <a:t>makkai</a:t>
            </a:r>
            <a:r>
              <a:rPr lang="en-IN" sz="2400" dirty="0">
                <a:latin typeface="Rockwell" panose="02060603020205020403" pitchFamily="18" charset="0"/>
              </a:rPr>
              <a:t>-</a:t>
            </a:r>
            <a:r>
              <a:rPr lang="en-IN" sz="2400" dirty="0" err="1">
                <a:latin typeface="Rockwell" panose="02060603020205020403" pitchFamily="18" charset="0"/>
              </a:rPr>
              <a:t>ki</a:t>
            </a:r>
            <a:r>
              <a:rPr lang="en-IN" sz="2400" dirty="0">
                <a:latin typeface="Rockwell" panose="02060603020205020403" pitchFamily="18" charset="0"/>
              </a:rPr>
              <a:t>-roti at 2 o'clock, the </a:t>
            </a:r>
            <a:r>
              <a:rPr lang="en-IN" sz="2400" dirty="0" err="1">
                <a:latin typeface="Rockwell" panose="02060603020205020403" pitchFamily="18" charset="0"/>
              </a:rPr>
              <a:t>Sharmas</a:t>
            </a:r>
            <a:r>
              <a:rPr lang="en-IN" sz="2400" dirty="0">
                <a:latin typeface="Rockwell" panose="02060603020205020403" pitchFamily="18" charset="0"/>
              </a:rPr>
              <a:t> eat fried brinjal at 12 o'clock and the </a:t>
            </a:r>
            <a:r>
              <a:rPr lang="en-IN" sz="2400" dirty="0" err="1">
                <a:latin typeface="Rockwell" panose="02060603020205020403" pitchFamily="18" charset="0"/>
              </a:rPr>
              <a:t>Pattabhiramanseat</a:t>
            </a:r>
            <a:r>
              <a:rPr lang="en-IN" sz="2400" dirty="0">
                <a:latin typeface="Rockwell" panose="02060603020205020403" pitchFamily="18" charset="0"/>
              </a:rPr>
              <a:t> sambar from red chinaware.</a:t>
            </a:r>
          </a:p>
          <a:p>
            <a:pPr algn="just"/>
            <a:endParaRPr lang="en-IN" sz="2400" dirty="0">
              <a:latin typeface="Rockwell" panose="02060603020205020403" pitchFamily="18" charset="0"/>
            </a:endParaRPr>
          </a:p>
          <a:p>
            <a:pPr algn="just"/>
            <a:r>
              <a:rPr lang="en-IN" sz="2400" dirty="0" err="1">
                <a:latin typeface="Rockwell" panose="02060603020205020403" pitchFamily="18" charset="0"/>
              </a:rPr>
              <a:t>B.The</a:t>
            </a:r>
            <a:r>
              <a:rPr lang="en-IN" sz="2400" dirty="0">
                <a:latin typeface="Rockwell" panose="02060603020205020403" pitchFamily="18" charset="0"/>
              </a:rPr>
              <a:t> </a:t>
            </a:r>
            <a:r>
              <a:rPr lang="en-IN" sz="2400" dirty="0" err="1">
                <a:latin typeface="Rockwell" panose="02060603020205020403" pitchFamily="18" charset="0"/>
              </a:rPr>
              <a:t>Sharmas</a:t>
            </a:r>
            <a:r>
              <a:rPr lang="en-IN" sz="2400" dirty="0">
                <a:latin typeface="Rockwell" panose="02060603020205020403" pitchFamily="18" charset="0"/>
              </a:rPr>
              <a:t> eat sambar served in white chinaware, the </a:t>
            </a:r>
            <a:r>
              <a:rPr lang="en-IN" sz="2400" dirty="0" err="1">
                <a:latin typeface="Rockwell" panose="02060603020205020403" pitchFamily="18" charset="0"/>
              </a:rPr>
              <a:t>Pattabhiramans</a:t>
            </a:r>
            <a:r>
              <a:rPr lang="en-IN" sz="2400" dirty="0">
                <a:latin typeface="Rockwell" panose="02060603020205020403" pitchFamily="18" charset="0"/>
              </a:rPr>
              <a:t> eat fried brinjal at 1 o'clock, and the Banerjees eat </a:t>
            </a:r>
            <a:r>
              <a:rPr lang="en-IN" sz="2400" dirty="0" err="1">
                <a:latin typeface="Rockwell" panose="02060603020205020403" pitchFamily="18" charset="0"/>
              </a:rPr>
              <a:t>makkai</a:t>
            </a:r>
            <a:r>
              <a:rPr lang="en-IN" sz="2400" dirty="0">
                <a:latin typeface="Rockwell" panose="02060603020205020403" pitchFamily="18" charset="0"/>
              </a:rPr>
              <a:t>-</a:t>
            </a:r>
            <a:r>
              <a:rPr lang="en-IN" sz="2400" dirty="0" err="1">
                <a:latin typeface="Rockwell" panose="02060603020205020403" pitchFamily="18" charset="0"/>
              </a:rPr>
              <a:t>ki</a:t>
            </a:r>
            <a:r>
              <a:rPr lang="en-IN" sz="2400" dirty="0">
                <a:latin typeface="Rockwell" panose="02060603020205020403" pitchFamily="18" charset="0"/>
              </a:rPr>
              <a:t>-roti served in blue chinaware.</a:t>
            </a:r>
          </a:p>
          <a:p>
            <a:pPr algn="just"/>
            <a:endParaRPr lang="en-IN" sz="2400" dirty="0">
              <a:latin typeface="Rockwell" panose="02060603020205020403" pitchFamily="18" charset="0"/>
            </a:endParaRPr>
          </a:p>
          <a:p>
            <a:pPr algn="just"/>
            <a:r>
              <a:rPr lang="en-IN" sz="2400" dirty="0" err="1">
                <a:latin typeface="Rockwell" panose="02060603020205020403" pitchFamily="18" charset="0"/>
              </a:rPr>
              <a:t>C.The</a:t>
            </a:r>
            <a:r>
              <a:rPr lang="en-IN" sz="2400" dirty="0">
                <a:latin typeface="Rockwell" panose="02060603020205020403" pitchFamily="18" charset="0"/>
              </a:rPr>
              <a:t> </a:t>
            </a:r>
            <a:r>
              <a:rPr lang="en-IN" sz="2400" dirty="0" err="1">
                <a:latin typeface="Rockwell" panose="02060603020205020403" pitchFamily="18" charset="0"/>
              </a:rPr>
              <a:t>Sharmas</a:t>
            </a:r>
            <a:r>
              <a:rPr lang="en-IN" sz="2400" dirty="0">
                <a:latin typeface="Rockwell" panose="02060603020205020403" pitchFamily="18" charset="0"/>
              </a:rPr>
              <a:t> eat sambar at noon, the </a:t>
            </a:r>
            <a:r>
              <a:rPr lang="en-IN" sz="2400" dirty="0" err="1">
                <a:latin typeface="Rockwell" panose="02060603020205020403" pitchFamily="18" charset="0"/>
              </a:rPr>
              <a:t>Pattabhiramans</a:t>
            </a:r>
            <a:r>
              <a:rPr lang="en-IN" sz="2400" dirty="0">
                <a:latin typeface="Rockwell" panose="02060603020205020403" pitchFamily="18" charset="0"/>
              </a:rPr>
              <a:t> eat fried brinjal served in blue chinaware, and the Banerjees eat </a:t>
            </a:r>
            <a:r>
              <a:rPr lang="en-IN" sz="2400" dirty="0" err="1">
                <a:latin typeface="Rockwell" panose="02060603020205020403" pitchFamily="18" charset="0"/>
              </a:rPr>
              <a:t>makkai</a:t>
            </a:r>
            <a:r>
              <a:rPr lang="en-IN" sz="2400" dirty="0">
                <a:latin typeface="Rockwell" panose="02060603020205020403" pitchFamily="18" charset="0"/>
              </a:rPr>
              <a:t>-</a:t>
            </a:r>
            <a:r>
              <a:rPr lang="en-IN" sz="2400" dirty="0" err="1">
                <a:latin typeface="Rockwell" panose="02060603020205020403" pitchFamily="18" charset="0"/>
              </a:rPr>
              <a:t>ki</a:t>
            </a:r>
            <a:r>
              <a:rPr lang="en-IN" sz="2400" dirty="0">
                <a:latin typeface="Rockwell" panose="02060603020205020403" pitchFamily="18" charset="0"/>
              </a:rPr>
              <a:t>-roti served in red chinaware.</a:t>
            </a:r>
          </a:p>
          <a:p>
            <a:pPr algn="just"/>
            <a:endParaRPr lang="en-IN" sz="2400" dirty="0">
              <a:latin typeface="Rockwell" panose="02060603020205020403" pitchFamily="18" charset="0"/>
            </a:endParaRPr>
          </a:p>
          <a:p>
            <a:pPr algn="just"/>
            <a:r>
              <a:rPr lang="en-IN" sz="2400" dirty="0" err="1">
                <a:latin typeface="Rockwell" panose="02060603020205020403" pitchFamily="18" charset="0"/>
              </a:rPr>
              <a:t>D.The</a:t>
            </a:r>
            <a:r>
              <a:rPr lang="en-IN" sz="2400" dirty="0">
                <a:latin typeface="Rockwell" panose="02060603020205020403" pitchFamily="18" charset="0"/>
              </a:rPr>
              <a:t> Banerjees eat </a:t>
            </a:r>
            <a:r>
              <a:rPr lang="en-IN" sz="2400" dirty="0" err="1">
                <a:latin typeface="Rockwell" panose="02060603020205020403" pitchFamily="18" charset="0"/>
              </a:rPr>
              <a:t>makkai</a:t>
            </a:r>
            <a:r>
              <a:rPr lang="en-IN" sz="2400" dirty="0">
                <a:latin typeface="Rockwell" panose="02060603020205020403" pitchFamily="18" charset="0"/>
              </a:rPr>
              <a:t>-</a:t>
            </a:r>
            <a:r>
              <a:rPr lang="en-IN" sz="2400" dirty="0" err="1">
                <a:latin typeface="Rockwell" panose="02060603020205020403" pitchFamily="18" charset="0"/>
              </a:rPr>
              <a:t>ki</a:t>
            </a:r>
            <a:r>
              <a:rPr lang="en-IN" sz="2400" dirty="0">
                <a:latin typeface="Rockwell" panose="02060603020205020403" pitchFamily="18" charset="0"/>
              </a:rPr>
              <a:t>-roti served in white chinaware, the </a:t>
            </a:r>
            <a:r>
              <a:rPr lang="en-IN" sz="2400" dirty="0" err="1">
                <a:latin typeface="Rockwell" panose="02060603020205020403" pitchFamily="18" charset="0"/>
              </a:rPr>
              <a:t>Sharmas</a:t>
            </a:r>
            <a:r>
              <a:rPr lang="en-IN" sz="2400" dirty="0">
                <a:latin typeface="Rockwell" panose="02060603020205020403" pitchFamily="18" charset="0"/>
              </a:rPr>
              <a:t> eat fried brinjal at 12 o'clock and the </a:t>
            </a:r>
            <a:r>
              <a:rPr lang="en-IN" sz="2400" dirty="0" err="1">
                <a:latin typeface="Rockwell" panose="02060603020205020403" pitchFamily="18" charset="0"/>
              </a:rPr>
              <a:t>Pattabhiramans</a:t>
            </a:r>
            <a:r>
              <a:rPr lang="en-IN" sz="2400" dirty="0">
                <a:latin typeface="Rockwell" panose="02060603020205020403" pitchFamily="18" charset="0"/>
              </a:rPr>
              <a:t> eat sambar from red chinaware.</a:t>
            </a:r>
          </a:p>
        </p:txBody>
      </p:sp>
    </p:spTree>
    <p:extLst>
      <p:ext uri="{BB962C8B-B14F-4D97-AF65-F5344CB8AC3E}">
        <p14:creationId xmlns:p14="http://schemas.microsoft.com/office/powerpoint/2010/main" val="176602058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p:cNvSpPr/>
          <p:nvPr/>
        </p:nvSpPr>
        <p:spPr>
          <a:xfrm>
            <a:off x="162339" y="-171237"/>
            <a:ext cx="11867322" cy="7476277"/>
          </a:xfrm>
          <a:prstGeom prst="rect">
            <a:avLst/>
          </a:prstGeom>
        </p:spPr>
        <p:txBody>
          <a:bodyPr wrap="square">
            <a:spAutoFit/>
          </a:bodyPr>
          <a:lstStyle/>
          <a:p>
            <a:pPr algn="just">
              <a:lnSpc>
                <a:spcPct val="120000"/>
              </a:lnSpc>
              <a:spcBef>
                <a:spcPts val="525"/>
              </a:spcBef>
              <a:spcAft>
                <a:spcPts val="225"/>
              </a:spcAft>
            </a:pPr>
            <a:r>
              <a:rPr lang="en-IN" sz="2800" dirty="0"/>
              <a:t>Seven boxes G, K, M, D, C, H and A of different colours viz. Blue, White, Grey, Peach, Violet, Yellow and Pink are placed one above the other, but not necessarily in the same order. The position of these boxes were numbered from 1 to 7 (7 being the topmost).</a:t>
            </a:r>
          </a:p>
          <a:p>
            <a:pPr algn="just">
              <a:lnSpc>
                <a:spcPct val="120000"/>
              </a:lnSpc>
              <a:spcBef>
                <a:spcPts val="525"/>
              </a:spcBef>
              <a:spcAft>
                <a:spcPts val="225"/>
              </a:spcAft>
            </a:pPr>
            <a:r>
              <a:rPr lang="en-IN" sz="2800" dirty="0"/>
              <a:t>Box K is placed immediately below box C. More than two boxes are placed below the Blue box. Box M is placed above the box which is Blue colour. The box which is Peach colour is placed immediately below box G. Only one box is placed between the box which is Blue in colour and box H. Box A is placed immediately below the box which is Yellow colour. White colour box is placed below the box K. Only two boxes are placed between White box and Pink box. The Grey box is not placed on the top. Box M is placed immediately below Box H. There are two boxes placed between the boxes which are Peach and Blue in colour. Box A is not Blue colour box.</a:t>
            </a:r>
          </a:p>
          <a:p>
            <a:pPr marL="351000" indent="-351000" algn="just">
              <a:lnSpc>
                <a:spcPct val="120000"/>
              </a:lnSpc>
              <a:spcBef>
                <a:spcPts val="525"/>
              </a:spcBef>
              <a:spcAft>
                <a:spcPts val="225"/>
              </a:spcAft>
            </a:pPr>
            <a:endParaRPr lang="en-IN" sz="2800" dirty="0"/>
          </a:p>
        </p:txBody>
      </p:sp>
    </p:spTree>
    <p:extLst>
      <p:ext uri="{BB962C8B-B14F-4D97-AF65-F5344CB8AC3E}">
        <p14:creationId xmlns:p14="http://schemas.microsoft.com/office/powerpoint/2010/main" val="268714786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3965084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p:cNvSpPr/>
          <p:nvPr/>
        </p:nvSpPr>
        <p:spPr>
          <a:xfrm>
            <a:off x="354563" y="223935"/>
            <a:ext cx="11364686" cy="5722849"/>
          </a:xfrm>
          <a:prstGeom prst="rect">
            <a:avLst/>
          </a:prstGeom>
        </p:spPr>
        <p:txBody>
          <a:bodyPr wrap="square">
            <a:spAutoFit/>
          </a:bodyPr>
          <a:lstStyle/>
          <a:p>
            <a:pPr algn="just">
              <a:lnSpc>
                <a:spcPct val="118000"/>
              </a:lnSpc>
              <a:spcBef>
                <a:spcPts val="525"/>
              </a:spcBef>
              <a:spcAft>
                <a:spcPts val="225"/>
              </a:spcAft>
            </a:pPr>
            <a:r>
              <a:rPr lang="en-IN" sz="2000" b="1" dirty="0">
                <a:latin typeface="Rockwell" panose="02060603020205020403" pitchFamily="18" charset="0"/>
              </a:rPr>
              <a:t>Directions </a:t>
            </a:r>
            <a:r>
              <a:rPr lang="en-IN" sz="2000" dirty="0">
                <a:latin typeface="Rockwell" panose="02060603020205020403" pitchFamily="18" charset="0"/>
              </a:rPr>
              <a:t>Read the following information and answer the questions asked below.</a:t>
            </a:r>
          </a:p>
          <a:p>
            <a:pPr algn="just">
              <a:lnSpc>
                <a:spcPct val="118000"/>
              </a:lnSpc>
              <a:spcBef>
                <a:spcPts val="525"/>
              </a:spcBef>
              <a:spcAft>
                <a:spcPts val="225"/>
              </a:spcAft>
            </a:pPr>
            <a:r>
              <a:rPr lang="en-IN" sz="2400" dirty="0">
                <a:latin typeface="Rockwell" panose="02060603020205020403" pitchFamily="18" charset="0"/>
              </a:rPr>
              <a:t>Eight students A, B, C, D, E, F, G and H like different subject namely – English, Hindi, Physics, Computer, Math, Sanskrit, Chemistry and Biology but not necessarily in the same order.</a:t>
            </a:r>
          </a:p>
          <a:p>
            <a:pPr algn="just">
              <a:lnSpc>
                <a:spcPct val="118000"/>
              </a:lnSpc>
              <a:spcBef>
                <a:spcPts val="525"/>
              </a:spcBef>
              <a:spcAft>
                <a:spcPts val="225"/>
              </a:spcAft>
            </a:pPr>
            <a:r>
              <a:rPr lang="en-IN" sz="2400" dirty="0">
                <a:latin typeface="Rockwell" panose="02060603020205020403" pitchFamily="18" charset="0"/>
              </a:rPr>
              <a:t>E likes Sanskrit. B likes either Math or Physics. H does not like Hindi and English. A likes Chemistry. G neither likes English nor Hindi. D does not like English. G and H do not like Computer. Neither G nor H likes Math. G   does not like Biology. Neither C nor D likes Hindi.</a:t>
            </a:r>
          </a:p>
          <a:p>
            <a:pPr marL="351000" indent="-351000" algn="just">
              <a:lnSpc>
                <a:spcPct val="120000"/>
              </a:lnSpc>
              <a:spcBef>
                <a:spcPts val="225"/>
              </a:spcBef>
              <a:spcAft>
                <a:spcPts val="225"/>
              </a:spcAft>
            </a:pPr>
            <a:r>
              <a:rPr lang="en-IN" sz="2000" dirty="0">
                <a:latin typeface="Rockwell" panose="02060603020205020403" pitchFamily="18" charset="0"/>
              </a:rPr>
              <a:t>Which of the following combination is true?</a:t>
            </a:r>
          </a:p>
          <a:p>
            <a:pPr marL="351000" indent="-351000" algn="just">
              <a:lnSpc>
                <a:spcPct val="120000"/>
              </a:lnSpc>
              <a:spcBef>
                <a:spcPts val="225"/>
              </a:spcBef>
              <a:spcAft>
                <a:spcPts val="225"/>
              </a:spcAft>
            </a:pPr>
            <a:r>
              <a:rPr lang="en-IN" sz="2000" dirty="0">
                <a:latin typeface="Rockwell" panose="02060603020205020403" pitchFamily="18" charset="0"/>
              </a:rPr>
              <a:t>	(a) B – Physics	</a:t>
            </a:r>
          </a:p>
          <a:p>
            <a:pPr marL="351000" indent="-351000" algn="just">
              <a:lnSpc>
                <a:spcPct val="120000"/>
              </a:lnSpc>
              <a:spcBef>
                <a:spcPts val="225"/>
              </a:spcBef>
              <a:spcAft>
                <a:spcPts val="225"/>
              </a:spcAft>
            </a:pPr>
            <a:r>
              <a:rPr lang="en-IN" sz="2000" dirty="0">
                <a:latin typeface="Rockwell" panose="02060603020205020403" pitchFamily="18" charset="0"/>
              </a:rPr>
              <a:t>	(b) G – Math</a:t>
            </a:r>
          </a:p>
          <a:p>
            <a:pPr marL="351000" indent="-351000" algn="just">
              <a:lnSpc>
                <a:spcPct val="120000"/>
              </a:lnSpc>
              <a:spcBef>
                <a:spcPts val="225"/>
              </a:spcBef>
              <a:spcAft>
                <a:spcPts val="225"/>
              </a:spcAft>
            </a:pPr>
            <a:r>
              <a:rPr lang="en-IN" sz="2000" dirty="0">
                <a:latin typeface="Rockwell" panose="02060603020205020403" pitchFamily="18" charset="0"/>
              </a:rPr>
              <a:t>	(c) D – Computer</a:t>
            </a:r>
          </a:p>
          <a:p>
            <a:pPr marL="351000" indent="-351000" algn="just">
              <a:lnSpc>
                <a:spcPct val="120000"/>
              </a:lnSpc>
              <a:spcBef>
                <a:spcPts val="225"/>
              </a:spcBef>
              <a:spcAft>
                <a:spcPts val="225"/>
              </a:spcAft>
            </a:pPr>
            <a:r>
              <a:rPr lang="en-IN" sz="2000" dirty="0">
                <a:latin typeface="Rockwell" panose="02060603020205020403" pitchFamily="18" charset="0"/>
              </a:rPr>
              <a:t>	(d) E – Biology</a:t>
            </a:r>
          </a:p>
        </p:txBody>
      </p:sp>
    </p:spTree>
    <p:extLst>
      <p:ext uri="{BB962C8B-B14F-4D97-AF65-F5344CB8AC3E}">
        <p14:creationId xmlns:p14="http://schemas.microsoft.com/office/powerpoint/2010/main" val="175204750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16512554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p:cNvSpPr/>
          <p:nvPr/>
        </p:nvSpPr>
        <p:spPr>
          <a:xfrm>
            <a:off x="1667508" y="1376772"/>
            <a:ext cx="8856984" cy="3958904"/>
          </a:xfrm>
          <a:prstGeom prst="rect">
            <a:avLst/>
          </a:prstGeom>
        </p:spPr>
        <p:txBody>
          <a:bodyPr wrap="square">
            <a:spAutoFit/>
          </a:bodyPr>
          <a:lstStyle/>
          <a:p>
            <a:pPr algn="just">
              <a:lnSpc>
                <a:spcPct val="118000"/>
              </a:lnSpc>
              <a:spcBef>
                <a:spcPts val="525"/>
              </a:spcBef>
              <a:spcAft>
                <a:spcPts val="225"/>
              </a:spcAft>
            </a:pPr>
            <a:r>
              <a:rPr lang="en-IN" sz="1575" b="1" dirty="0">
                <a:latin typeface="Rockwell" panose="02060603020205020403" pitchFamily="18" charset="0"/>
              </a:rPr>
              <a:t>Directions for Q11 to 15: </a:t>
            </a:r>
            <a:r>
              <a:rPr lang="en-IN" sz="1575" dirty="0">
                <a:latin typeface="Rockwell" panose="02060603020205020403" pitchFamily="18" charset="0"/>
              </a:rPr>
              <a:t>Read the following information and answer the questions asked below.</a:t>
            </a:r>
          </a:p>
          <a:p>
            <a:pPr algn="just">
              <a:lnSpc>
                <a:spcPct val="118000"/>
              </a:lnSpc>
              <a:spcBef>
                <a:spcPts val="525"/>
              </a:spcBef>
              <a:spcAft>
                <a:spcPts val="225"/>
              </a:spcAft>
            </a:pPr>
            <a:r>
              <a:rPr lang="en-IN" sz="1575" dirty="0">
                <a:latin typeface="Rockwell" panose="02060603020205020403" pitchFamily="18" charset="0"/>
              </a:rPr>
              <a:t>Eight students A, B, C, D, E, F, G and H like different subject namely – English, Hindi, Physics, Computer, Math, Sanskrit, Chemistry and Biology but not necessarily in the same order.</a:t>
            </a:r>
          </a:p>
          <a:p>
            <a:pPr algn="just">
              <a:lnSpc>
                <a:spcPct val="118000"/>
              </a:lnSpc>
              <a:spcBef>
                <a:spcPts val="525"/>
              </a:spcBef>
              <a:spcAft>
                <a:spcPts val="225"/>
              </a:spcAft>
            </a:pPr>
            <a:r>
              <a:rPr lang="en-IN" sz="1575" dirty="0">
                <a:latin typeface="Rockwell" panose="02060603020205020403" pitchFamily="18" charset="0"/>
              </a:rPr>
              <a:t>E likes Sanskrit. B likes either Math or Physics. H does not like Hindi and English. A likes Chemistry. G neither likes English nor Hindi. D does not like English. G and H do not like Computer. Neither G nor H likes Math. G   does not like Biology. Neither C nor D likes Hindi.</a:t>
            </a:r>
          </a:p>
          <a:p>
            <a:pPr marL="351000" indent="-351000" algn="just">
              <a:lnSpc>
                <a:spcPct val="120000"/>
              </a:lnSpc>
              <a:spcBef>
                <a:spcPts val="225"/>
              </a:spcBef>
              <a:spcAft>
                <a:spcPts val="225"/>
              </a:spcAft>
            </a:pPr>
            <a:r>
              <a:rPr lang="en-IN" sz="1575" dirty="0">
                <a:latin typeface="Rockwell" panose="02060603020205020403" pitchFamily="18" charset="0"/>
              </a:rPr>
              <a:t>12.	Who among the following like Hindi?</a:t>
            </a:r>
          </a:p>
          <a:p>
            <a:pPr marL="351000" indent="-351000" algn="just">
              <a:lnSpc>
                <a:spcPct val="120000"/>
              </a:lnSpc>
              <a:spcBef>
                <a:spcPts val="225"/>
              </a:spcBef>
              <a:spcAft>
                <a:spcPts val="225"/>
              </a:spcAft>
            </a:pPr>
            <a:r>
              <a:rPr lang="en-IN" sz="1575" dirty="0">
                <a:latin typeface="Rockwell" panose="02060603020205020403" pitchFamily="18" charset="0"/>
              </a:rPr>
              <a:t>	(a) B	</a:t>
            </a:r>
          </a:p>
          <a:p>
            <a:pPr marL="351000" indent="-351000" algn="just">
              <a:lnSpc>
                <a:spcPct val="120000"/>
              </a:lnSpc>
              <a:spcBef>
                <a:spcPts val="225"/>
              </a:spcBef>
              <a:spcAft>
                <a:spcPts val="225"/>
              </a:spcAft>
            </a:pPr>
            <a:r>
              <a:rPr lang="en-IN" sz="1575" dirty="0">
                <a:latin typeface="Rockwell" panose="02060603020205020403" pitchFamily="18" charset="0"/>
              </a:rPr>
              <a:t>	(b) E</a:t>
            </a:r>
          </a:p>
          <a:p>
            <a:pPr marL="351000" indent="-351000" algn="just">
              <a:lnSpc>
                <a:spcPct val="120000"/>
              </a:lnSpc>
              <a:spcBef>
                <a:spcPts val="225"/>
              </a:spcBef>
              <a:spcAft>
                <a:spcPts val="225"/>
              </a:spcAft>
            </a:pPr>
            <a:r>
              <a:rPr lang="en-IN" sz="1575" dirty="0">
                <a:latin typeface="Rockwell" panose="02060603020205020403" pitchFamily="18" charset="0"/>
              </a:rPr>
              <a:t>	(c) G</a:t>
            </a:r>
          </a:p>
          <a:p>
            <a:pPr marL="351000" indent="-351000" algn="just">
              <a:lnSpc>
                <a:spcPct val="120000"/>
              </a:lnSpc>
              <a:spcBef>
                <a:spcPts val="225"/>
              </a:spcBef>
              <a:spcAft>
                <a:spcPts val="225"/>
              </a:spcAft>
            </a:pPr>
            <a:r>
              <a:rPr lang="en-IN" sz="1575" dirty="0">
                <a:latin typeface="Rockwell" panose="02060603020205020403" pitchFamily="18" charset="0"/>
              </a:rPr>
              <a:t>	(d) F</a:t>
            </a:r>
          </a:p>
        </p:txBody>
      </p:sp>
    </p:spTree>
    <p:extLst>
      <p:ext uri="{BB962C8B-B14F-4D97-AF65-F5344CB8AC3E}">
        <p14:creationId xmlns:p14="http://schemas.microsoft.com/office/powerpoint/2010/main" val="393531959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p:cNvSpPr/>
          <p:nvPr/>
        </p:nvSpPr>
        <p:spPr>
          <a:xfrm>
            <a:off x="1640505" y="1376772"/>
            <a:ext cx="8910990" cy="3958904"/>
          </a:xfrm>
          <a:prstGeom prst="rect">
            <a:avLst/>
          </a:prstGeom>
        </p:spPr>
        <p:txBody>
          <a:bodyPr wrap="square">
            <a:spAutoFit/>
          </a:bodyPr>
          <a:lstStyle/>
          <a:p>
            <a:pPr algn="just">
              <a:lnSpc>
                <a:spcPct val="118000"/>
              </a:lnSpc>
              <a:spcBef>
                <a:spcPts val="525"/>
              </a:spcBef>
              <a:spcAft>
                <a:spcPts val="225"/>
              </a:spcAft>
            </a:pPr>
            <a:r>
              <a:rPr lang="en-IN" sz="1575" b="1" dirty="0">
                <a:latin typeface="Rockwell" panose="02060603020205020403" pitchFamily="18" charset="0"/>
              </a:rPr>
              <a:t>Directions for Q11 to 15: </a:t>
            </a:r>
            <a:r>
              <a:rPr lang="en-IN" sz="1575" dirty="0">
                <a:latin typeface="Rockwell" panose="02060603020205020403" pitchFamily="18" charset="0"/>
              </a:rPr>
              <a:t>Read the following information and answer the questions asked below.</a:t>
            </a:r>
          </a:p>
          <a:p>
            <a:pPr algn="just">
              <a:lnSpc>
                <a:spcPct val="118000"/>
              </a:lnSpc>
              <a:spcBef>
                <a:spcPts val="525"/>
              </a:spcBef>
              <a:spcAft>
                <a:spcPts val="225"/>
              </a:spcAft>
            </a:pPr>
            <a:r>
              <a:rPr lang="en-IN" sz="1575" dirty="0">
                <a:latin typeface="Rockwell" panose="02060603020205020403" pitchFamily="18" charset="0"/>
              </a:rPr>
              <a:t>Eight students A, B, C, D, E, F, G and H like different subject namely – English, Hindi, Physics, Computer, Math, Sanskrit, Chemistry and Biology but not necessarily in the same order.</a:t>
            </a:r>
          </a:p>
          <a:p>
            <a:pPr algn="just">
              <a:lnSpc>
                <a:spcPct val="118000"/>
              </a:lnSpc>
              <a:spcBef>
                <a:spcPts val="525"/>
              </a:spcBef>
              <a:spcAft>
                <a:spcPts val="225"/>
              </a:spcAft>
            </a:pPr>
            <a:r>
              <a:rPr lang="en-IN" sz="1575" dirty="0">
                <a:latin typeface="Rockwell" panose="02060603020205020403" pitchFamily="18" charset="0"/>
              </a:rPr>
              <a:t>E likes Sanskrit. B likes either Math or Physics. H does not like Hindi and English. A likes Chemistry. G neither likes English nor Hindi. D does not like English. G and H do not like Computer. Neither G nor H likes Math. G   does not like Biology. Neither C nor D likes Hindi.</a:t>
            </a:r>
          </a:p>
          <a:p>
            <a:pPr marL="351000" indent="-351000" algn="just">
              <a:lnSpc>
                <a:spcPct val="120000"/>
              </a:lnSpc>
              <a:spcBef>
                <a:spcPts val="225"/>
              </a:spcBef>
              <a:spcAft>
                <a:spcPts val="225"/>
              </a:spcAft>
            </a:pPr>
            <a:r>
              <a:rPr lang="en-IN" sz="1575" dirty="0">
                <a:latin typeface="Rockwell" panose="02060603020205020403" pitchFamily="18" charset="0"/>
              </a:rPr>
              <a:t>13.	E likes which of the following subject?</a:t>
            </a:r>
          </a:p>
          <a:p>
            <a:pPr marL="351000" indent="-351000" algn="just">
              <a:lnSpc>
                <a:spcPct val="120000"/>
              </a:lnSpc>
              <a:spcBef>
                <a:spcPts val="225"/>
              </a:spcBef>
              <a:spcAft>
                <a:spcPts val="225"/>
              </a:spcAft>
            </a:pPr>
            <a:r>
              <a:rPr lang="en-IN" sz="1575" dirty="0">
                <a:latin typeface="Rockwell" panose="02060603020205020403" pitchFamily="18" charset="0"/>
              </a:rPr>
              <a:t>	(a) Sanskrit	</a:t>
            </a:r>
          </a:p>
          <a:p>
            <a:pPr marL="351000" indent="-351000" algn="just">
              <a:lnSpc>
                <a:spcPct val="120000"/>
              </a:lnSpc>
              <a:spcBef>
                <a:spcPts val="225"/>
              </a:spcBef>
              <a:spcAft>
                <a:spcPts val="225"/>
              </a:spcAft>
            </a:pPr>
            <a:r>
              <a:rPr lang="en-IN" sz="1575" dirty="0">
                <a:latin typeface="Rockwell" panose="02060603020205020403" pitchFamily="18" charset="0"/>
              </a:rPr>
              <a:t>	(b) Computer</a:t>
            </a:r>
          </a:p>
          <a:p>
            <a:pPr marL="351000" indent="-351000" algn="just">
              <a:lnSpc>
                <a:spcPct val="120000"/>
              </a:lnSpc>
              <a:spcBef>
                <a:spcPts val="225"/>
              </a:spcBef>
              <a:spcAft>
                <a:spcPts val="225"/>
              </a:spcAft>
            </a:pPr>
            <a:r>
              <a:rPr lang="en-IN" sz="1575" dirty="0">
                <a:latin typeface="Rockwell" panose="02060603020205020403" pitchFamily="18" charset="0"/>
              </a:rPr>
              <a:t>	(c) English	</a:t>
            </a:r>
          </a:p>
          <a:p>
            <a:pPr marL="351000" indent="-351000" algn="just">
              <a:lnSpc>
                <a:spcPct val="120000"/>
              </a:lnSpc>
              <a:spcBef>
                <a:spcPts val="225"/>
              </a:spcBef>
              <a:spcAft>
                <a:spcPts val="225"/>
              </a:spcAft>
            </a:pPr>
            <a:r>
              <a:rPr lang="en-IN" sz="1575" dirty="0">
                <a:latin typeface="Rockwell" panose="02060603020205020403" pitchFamily="18" charset="0"/>
              </a:rPr>
              <a:t>	(d) Physics</a:t>
            </a:r>
          </a:p>
        </p:txBody>
      </p:sp>
    </p:spTree>
    <p:extLst>
      <p:ext uri="{BB962C8B-B14F-4D97-AF65-F5344CB8AC3E}">
        <p14:creationId xmlns:p14="http://schemas.microsoft.com/office/powerpoint/2010/main" val="240881945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C1E25F8-1CA6-479F-A8D2-FDB5D65A4FA4}"/>
              </a:ext>
            </a:extLst>
          </p:cNvPr>
          <p:cNvSpPr>
            <a:spLocks noGrp="1"/>
          </p:cNvSpPr>
          <p:nvPr>
            <p:ph type="ftr" sz="quarter" idx="3"/>
          </p:nvPr>
        </p:nvSpPr>
        <p:spPr>
          <a:xfrm>
            <a:off x="685800" y="6477002"/>
            <a:ext cx="7239000" cy="365125"/>
          </a:xfrm>
          <a:prstGeom prst="rect">
            <a:avLst/>
          </a:prstGeom>
        </p:spPr>
        <p:txBody>
          <a:bodyPr vert="horz" lIns="91440" tIns="45720" rIns="91440" bIns="45720" rtlCol="0" anchor="ctr"/>
          <a:lstStyle>
            <a:defPPr>
              <a:defRPr lang="en-US"/>
            </a:defPPr>
            <a:lvl1pPr marL="0" algn="ctr" defTabSz="914400" rtl="0" eaLnBrk="1" fontAlgn="auto" latinLnBrk="0" hangingPunct="1">
              <a:spcBef>
                <a:spcPts val="0"/>
              </a:spcBef>
              <a:spcAft>
                <a:spcPts val="0"/>
              </a:spcAft>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 2016 SMART Training Resources Pvt. Ltd.</a:t>
            </a:r>
          </a:p>
        </p:txBody>
      </p:sp>
      <p:sp>
        <p:nvSpPr>
          <p:cNvPr id="4" name="TextBox 3">
            <a:extLst>
              <a:ext uri="{FF2B5EF4-FFF2-40B4-BE49-F238E27FC236}">
                <a16:creationId xmlns:a16="http://schemas.microsoft.com/office/drawing/2014/main" id="{5709C5F1-ED3E-41C4-8AD3-8511044B4BF6}"/>
              </a:ext>
            </a:extLst>
          </p:cNvPr>
          <p:cNvSpPr txBox="1"/>
          <p:nvPr/>
        </p:nvSpPr>
        <p:spPr>
          <a:xfrm>
            <a:off x="2153561" y="1442419"/>
            <a:ext cx="8461429" cy="1181734"/>
          </a:xfrm>
          <a:prstGeom prst="rect">
            <a:avLst/>
          </a:prstGeom>
          <a:noFill/>
        </p:spPr>
        <p:txBody>
          <a:bodyPr wrap="square">
            <a:spAutoFit/>
          </a:bodyPr>
          <a:lstStyle/>
          <a:p>
            <a:pPr marL="351000" indent="-351000" algn="just">
              <a:lnSpc>
                <a:spcPct val="120000"/>
              </a:lnSpc>
              <a:spcBef>
                <a:spcPts val="525"/>
              </a:spcBef>
              <a:spcAft>
                <a:spcPts val="225"/>
              </a:spcAft>
            </a:pPr>
            <a:r>
              <a:rPr lang="en-IN" sz="2800" dirty="0"/>
              <a:t>	What is the colour of box H?</a:t>
            </a:r>
          </a:p>
          <a:p>
            <a:pPr marL="351000" indent="-351000" algn="just">
              <a:lnSpc>
                <a:spcPct val="120000"/>
              </a:lnSpc>
              <a:spcBef>
                <a:spcPts val="525"/>
              </a:spcBef>
              <a:spcAft>
                <a:spcPts val="225"/>
              </a:spcAft>
            </a:pPr>
            <a:r>
              <a:rPr lang="en-IN" sz="2800" dirty="0"/>
              <a:t>	(a) Peach		(b) Violet		(c) White		(d) Grey</a:t>
            </a:r>
          </a:p>
        </p:txBody>
      </p:sp>
    </p:spTree>
    <p:extLst>
      <p:ext uri="{BB962C8B-B14F-4D97-AF65-F5344CB8AC3E}">
        <p14:creationId xmlns:p14="http://schemas.microsoft.com/office/powerpoint/2010/main" val="123839440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67A6489-F3C2-489D-9CD8-0E47A27355DA}"/>
              </a:ext>
            </a:extLst>
          </p:cNvPr>
          <p:cNvSpPr>
            <a:spLocks noGrp="1"/>
          </p:cNvSpPr>
          <p:nvPr>
            <p:ph type="ftr" sz="quarter" idx="3"/>
          </p:nvPr>
        </p:nvSpPr>
        <p:spPr>
          <a:xfrm>
            <a:off x="685800" y="6477002"/>
            <a:ext cx="7239000" cy="365125"/>
          </a:xfrm>
          <a:prstGeom prst="rect">
            <a:avLst/>
          </a:prstGeom>
        </p:spPr>
        <p:txBody>
          <a:bodyPr vert="horz" lIns="91440" tIns="45720" rIns="91440" bIns="45720" rtlCol="0" anchor="ctr"/>
          <a:lstStyle>
            <a:defPPr>
              <a:defRPr lang="en-US"/>
            </a:defPPr>
            <a:lvl1pPr marL="0" algn="ctr" defTabSz="914400" rtl="0" eaLnBrk="1" fontAlgn="auto" latinLnBrk="0" hangingPunct="1">
              <a:spcBef>
                <a:spcPts val="0"/>
              </a:spcBef>
              <a:spcAft>
                <a:spcPts val="0"/>
              </a:spcAft>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 2016 SMART Training Resources Pvt. Ltd.</a:t>
            </a:r>
          </a:p>
        </p:txBody>
      </p:sp>
      <p:sp>
        <p:nvSpPr>
          <p:cNvPr id="4" name="TextBox 3">
            <a:extLst>
              <a:ext uri="{FF2B5EF4-FFF2-40B4-BE49-F238E27FC236}">
                <a16:creationId xmlns:a16="http://schemas.microsoft.com/office/drawing/2014/main" id="{C61307EE-613C-475A-A3DD-3C0D1E61421F}"/>
              </a:ext>
            </a:extLst>
          </p:cNvPr>
          <p:cNvSpPr txBox="1"/>
          <p:nvPr/>
        </p:nvSpPr>
        <p:spPr>
          <a:xfrm>
            <a:off x="363894" y="326571"/>
            <a:ext cx="11308702" cy="3539430"/>
          </a:xfrm>
          <a:prstGeom prst="rect">
            <a:avLst/>
          </a:prstGeom>
          <a:noFill/>
        </p:spPr>
        <p:txBody>
          <a:bodyPr wrap="square">
            <a:spAutoFit/>
          </a:bodyPr>
          <a:lstStyle/>
          <a:p>
            <a:r>
              <a:rPr lang="en-US" sz="2800" dirty="0">
                <a:solidFill>
                  <a:srgbClr val="000000"/>
                </a:solidFill>
                <a:latin typeface="Rockwell" panose="02060603020205020403" pitchFamily="18" charset="0"/>
              </a:rPr>
              <a:t>A, B, C, D and E are sitting on a bench. A is sitting next to B, C is sitting next to D, D is not sitting with E who is on the left end of the bench. C is on the second position from the right. A is to the right of B and E. A and C are sitting together. In which position A is sitting ?</a:t>
            </a:r>
          </a:p>
          <a:p>
            <a:r>
              <a:rPr lang="en-US" sz="2800" dirty="0">
                <a:latin typeface="Rockwell" panose="02060603020205020403" pitchFamily="18" charset="0"/>
              </a:rPr>
              <a:t>A.	Between B and D</a:t>
            </a:r>
          </a:p>
          <a:p>
            <a:r>
              <a:rPr lang="en-US" sz="2800" dirty="0">
                <a:latin typeface="Rockwell" panose="02060603020205020403" pitchFamily="18" charset="0"/>
              </a:rPr>
              <a:t>B.	Between B and C</a:t>
            </a:r>
          </a:p>
          <a:p>
            <a:r>
              <a:rPr lang="en-US" sz="2800" dirty="0">
                <a:latin typeface="Rockwell" panose="02060603020205020403" pitchFamily="18" charset="0"/>
              </a:rPr>
              <a:t>C.	Between E and D</a:t>
            </a:r>
          </a:p>
          <a:p>
            <a:r>
              <a:rPr lang="en-US" sz="2800" dirty="0">
                <a:latin typeface="Rockwell" panose="02060603020205020403" pitchFamily="18" charset="0"/>
              </a:rPr>
              <a:t>D.	Between C and E</a:t>
            </a:r>
            <a:endParaRPr lang="en-IN" sz="2800" dirty="0">
              <a:latin typeface="Rockwell" panose="02060603020205020403" pitchFamily="18" charset="0"/>
            </a:endParaRPr>
          </a:p>
        </p:txBody>
      </p:sp>
    </p:spTree>
    <p:extLst>
      <p:ext uri="{BB962C8B-B14F-4D97-AF65-F5344CB8AC3E}">
        <p14:creationId xmlns:p14="http://schemas.microsoft.com/office/powerpoint/2010/main" val="127771701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p:cNvSpPr/>
          <p:nvPr/>
        </p:nvSpPr>
        <p:spPr>
          <a:xfrm>
            <a:off x="158619" y="261258"/>
            <a:ext cx="11775233" cy="5380640"/>
          </a:xfrm>
          <a:prstGeom prst="rect">
            <a:avLst/>
          </a:prstGeom>
        </p:spPr>
        <p:txBody>
          <a:bodyPr wrap="square">
            <a:spAutoFit/>
          </a:bodyPr>
          <a:lstStyle/>
          <a:p>
            <a:pPr algn="just">
              <a:lnSpc>
                <a:spcPct val="120000"/>
              </a:lnSpc>
              <a:spcBef>
                <a:spcPts val="525"/>
              </a:spcBef>
              <a:spcAft>
                <a:spcPts val="225"/>
              </a:spcAft>
            </a:pPr>
            <a:r>
              <a:rPr lang="en-IN" sz="2200" dirty="0">
                <a:latin typeface="Rockwell" panose="02060603020205020403" pitchFamily="18" charset="0"/>
              </a:rPr>
              <a:t>Read the following information and answer the given questions.</a:t>
            </a:r>
          </a:p>
          <a:p>
            <a:pPr algn="just">
              <a:lnSpc>
                <a:spcPct val="120000"/>
              </a:lnSpc>
              <a:spcBef>
                <a:spcPts val="525"/>
              </a:spcBef>
              <a:spcAft>
                <a:spcPts val="225"/>
              </a:spcAft>
            </a:pPr>
            <a:r>
              <a:rPr lang="en-IN" sz="2200" dirty="0">
                <a:latin typeface="Rockwell" panose="02060603020205020403" pitchFamily="18" charset="0"/>
              </a:rPr>
              <a:t>In an international meet, representatives A, B, C, D, E, F, G, and H are from eight different countries viz. Thailand, France, Holland, Australia, USA, Spain, India and Germany (not necessarily in the same order) sit around a circular table facing </a:t>
            </a:r>
            <a:r>
              <a:rPr lang="en-IN" sz="2200" dirty="0" err="1">
                <a:latin typeface="Rockwell" panose="02060603020205020403" pitchFamily="18" charset="0"/>
              </a:rPr>
              <a:t>center</a:t>
            </a:r>
            <a:r>
              <a:rPr lang="en-IN" sz="2200" dirty="0">
                <a:latin typeface="Rockwell" panose="02060603020205020403" pitchFamily="18" charset="0"/>
              </a:rPr>
              <a:t>. A represents Germany and sits third to the left of E. The representative from India sits to the immediate right of A.</a:t>
            </a:r>
          </a:p>
          <a:p>
            <a:pPr algn="just">
              <a:lnSpc>
                <a:spcPct val="120000"/>
              </a:lnSpc>
              <a:spcBef>
                <a:spcPts val="525"/>
              </a:spcBef>
              <a:spcAft>
                <a:spcPts val="225"/>
              </a:spcAft>
            </a:pPr>
            <a:r>
              <a:rPr lang="en-IN" sz="2200" dirty="0">
                <a:latin typeface="Rockwell" panose="02060603020205020403" pitchFamily="18" charset="0"/>
              </a:rPr>
              <a:t>D, who is from Holland sits second to the right of B. C, who is from Spain, sits exactly in the middle of people representing USA and India. G, the representative from France, sits second to the left of H, who is from Thailand. B and C are not Neighbours.</a:t>
            </a:r>
          </a:p>
          <a:p>
            <a:pPr algn="just">
              <a:lnSpc>
                <a:spcPct val="120000"/>
              </a:lnSpc>
              <a:spcBef>
                <a:spcPts val="525"/>
              </a:spcBef>
              <a:spcAft>
                <a:spcPts val="225"/>
              </a:spcAft>
            </a:pPr>
            <a:r>
              <a:rPr lang="en-IN" sz="2200" dirty="0">
                <a:latin typeface="Rockwell" panose="02060603020205020403" pitchFamily="18" charset="0"/>
              </a:rPr>
              <a:t>The representatives from Australia and USA are not immediate neighbours of each other.</a:t>
            </a:r>
          </a:p>
          <a:p>
            <a:pPr marL="351000" indent="-351000" algn="just">
              <a:lnSpc>
                <a:spcPct val="120000"/>
              </a:lnSpc>
              <a:spcBef>
                <a:spcPts val="525"/>
              </a:spcBef>
              <a:spcAft>
                <a:spcPts val="225"/>
              </a:spcAft>
            </a:pPr>
            <a:r>
              <a:rPr lang="en-IN" sz="2200" dirty="0">
                <a:latin typeface="Rockwell" panose="02060603020205020403" pitchFamily="18" charset="0"/>
              </a:rPr>
              <a:t>Who is representing India?</a:t>
            </a:r>
          </a:p>
          <a:p>
            <a:pPr marL="351000" indent="-351000" algn="just">
              <a:lnSpc>
                <a:spcPct val="120000"/>
              </a:lnSpc>
              <a:spcBef>
                <a:spcPts val="525"/>
              </a:spcBef>
              <a:spcAft>
                <a:spcPts val="225"/>
              </a:spcAft>
            </a:pPr>
            <a:r>
              <a:rPr lang="en-IN" sz="2200" b="1" dirty="0">
                <a:latin typeface="Rockwell" panose="02060603020205020403" pitchFamily="18" charset="0"/>
              </a:rPr>
              <a:t>	</a:t>
            </a:r>
            <a:r>
              <a:rPr lang="en-IN" sz="2200" dirty="0">
                <a:latin typeface="Rockwell" panose="02060603020205020403" pitchFamily="18" charset="0"/>
              </a:rPr>
              <a:t>(a) F		(b) E		(c) D		(d) C</a:t>
            </a:r>
          </a:p>
        </p:txBody>
      </p:sp>
    </p:spTree>
    <p:extLst>
      <p:ext uri="{BB962C8B-B14F-4D97-AF65-F5344CB8AC3E}">
        <p14:creationId xmlns:p14="http://schemas.microsoft.com/office/powerpoint/2010/main" val="340566718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D46F0A1B-3924-493B-8777-2A51D163154C}"/>
              </a:ext>
            </a:extLst>
          </p:cNvPr>
          <p:cNvSpPr/>
          <p:nvPr/>
        </p:nvSpPr>
        <p:spPr>
          <a:xfrm>
            <a:off x="4105469" y="1073020"/>
            <a:ext cx="3778898" cy="354563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16862042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7" name="Google Shape;227;p35"/>
          <p:cNvSpPr txBox="1">
            <a:spLocks noGrp="1"/>
          </p:cNvSpPr>
          <p:nvPr>
            <p:ph type="body" idx="4294967295"/>
          </p:nvPr>
        </p:nvSpPr>
        <p:spPr>
          <a:xfrm>
            <a:off x="171061" y="503238"/>
            <a:ext cx="11849878" cy="4525963"/>
          </a:xfrm>
          <a:prstGeom prst="rect">
            <a:avLst/>
          </a:prstGeom>
          <a:noFill/>
          <a:ln>
            <a:noFill/>
          </a:ln>
        </p:spPr>
        <p:txBody>
          <a:bodyPr spcFirstLastPara="1" vert="horz" wrap="square" lIns="91425" tIns="45700" rIns="91425" bIns="45700" rtlCol="0" anchor="t" anchorCtr="0">
            <a:noAutofit/>
          </a:bodyPr>
          <a:lstStyle/>
          <a:p>
            <a:pPr marL="0" indent="0" algn="just">
              <a:spcBef>
                <a:spcPts val="640"/>
              </a:spcBef>
              <a:spcAft>
                <a:spcPts val="0"/>
              </a:spcAft>
              <a:buClr>
                <a:schemeClr val="dk1"/>
              </a:buClr>
              <a:buSzPts val="1100"/>
              <a:buNone/>
            </a:pPr>
            <a:r>
              <a:rPr lang="en-US" sz="2800" b="1" dirty="0">
                <a:latin typeface="Times New Roman" panose="02020603050405020304" pitchFamily="18" charset="0"/>
                <a:ea typeface="Arial"/>
                <a:cs typeface="Times New Roman" panose="02020603050405020304" pitchFamily="18" charset="0"/>
                <a:sym typeface="Arial"/>
              </a:rPr>
              <a:t>L, M, N, O, P, Q, R and S are sitting around a square table in such a way that four of them sit at four corners of the square while four sit in the middle of each of the four sides. The ones who sit at the four corners face the </a:t>
            </a:r>
            <a:r>
              <a:rPr lang="en-US" sz="2800" b="1" dirty="0" err="1">
                <a:latin typeface="Times New Roman" panose="02020603050405020304" pitchFamily="18" charset="0"/>
                <a:ea typeface="Arial"/>
                <a:cs typeface="Times New Roman" panose="02020603050405020304" pitchFamily="18" charset="0"/>
                <a:sym typeface="Arial"/>
              </a:rPr>
              <a:t>centre</a:t>
            </a:r>
            <a:r>
              <a:rPr lang="en-US" sz="2800" b="1" dirty="0">
                <a:latin typeface="Times New Roman" panose="02020603050405020304" pitchFamily="18" charset="0"/>
                <a:ea typeface="Arial"/>
                <a:cs typeface="Times New Roman" panose="02020603050405020304" pitchFamily="18" charset="0"/>
                <a:sym typeface="Arial"/>
              </a:rPr>
              <a:t> while those who sit in the middle of the sides face outside. Two females sit in the middle of the sides and two at the corners.  </a:t>
            </a:r>
            <a:endParaRPr sz="2800" b="1" dirty="0">
              <a:latin typeface="Times New Roman" panose="02020603050405020304" pitchFamily="18" charset="0"/>
              <a:ea typeface="Arial"/>
              <a:cs typeface="Times New Roman" panose="02020603050405020304" pitchFamily="18" charset="0"/>
              <a:sym typeface="Arial"/>
            </a:endParaRPr>
          </a:p>
          <a:p>
            <a:pPr marL="457200" indent="-349250" algn="just">
              <a:spcBef>
                <a:spcPts val="640"/>
              </a:spcBef>
              <a:spcAft>
                <a:spcPts val="0"/>
              </a:spcAft>
              <a:buSzPts val="1900"/>
              <a:buFont typeface="Arial"/>
              <a:buChar char="•"/>
            </a:pPr>
            <a:r>
              <a:rPr lang="en-US" sz="2800" b="1" dirty="0">
                <a:latin typeface="Times New Roman" panose="02020603050405020304" pitchFamily="18" charset="0"/>
                <a:ea typeface="Arial"/>
                <a:cs typeface="Times New Roman" panose="02020603050405020304" pitchFamily="18" charset="0"/>
                <a:sym typeface="Arial"/>
              </a:rPr>
              <a:t>L sits second to the left of R.  </a:t>
            </a:r>
            <a:endParaRPr sz="2800" b="1" dirty="0">
              <a:latin typeface="Times New Roman" panose="02020603050405020304" pitchFamily="18" charset="0"/>
              <a:ea typeface="Arial"/>
              <a:cs typeface="Times New Roman" panose="02020603050405020304" pitchFamily="18" charset="0"/>
              <a:sym typeface="Arial"/>
            </a:endParaRPr>
          </a:p>
          <a:p>
            <a:pPr marL="457200" indent="-349250" algn="just">
              <a:spcBef>
                <a:spcPts val="0"/>
              </a:spcBef>
              <a:spcAft>
                <a:spcPts val="0"/>
              </a:spcAft>
              <a:buSzPts val="1900"/>
              <a:buFont typeface="Arial"/>
              <a:buChar char="•"/>
            </a:pPr>
            <a:r>
              <a:rPr lang="en-US" sz="2800" b="1" dirty="0">
                <a:latin typeface="Times New Roman" panose="02020603050405020304" pitchFamily="18" charset="0"/>
                <a:ea typeface="Arial"/>
                <a:cs typeface="Times New Roman" panose="02020603050405020304" pitchFamily="18" charset="0"/>
                <a:sym typeface="Arial"/>
              </a:rPr>
              <a:t>R sits in the middle of one of the sides.  </a:t>
            </a:r>
            <a:endParaRPr sz="2800" b="1" dirty="0">
              <a:latin typeface="Times New Roman" panose="02020603050405020304" pitchFamily="18" charset="0"/>
              <a:ea typeface="Arial"/>
              <a:cs typeface="Times New Roman" panose="02020603050405020304" pitchFamily="18" charset="0"/>
              <a:sym typeface="Arial"/>
            </a:endParaRPr>
          </a:p>
          <a:p>
            <a:pPr marL="457200" indent="-349250" algn="just">
              <a:spcBef>
                <a:spcPts val="0"/>
              </a:spcBef>
              <a:spcAft>
                <a:spcPts val="0"/>
              </a:spcAft>
              <a:buSzPts val="1900"/>
              <a:buFont typeface="Arial"/>
              <a:buChar char="•"/>
            </a:pPr>
            <a:r>
              <a:rPr lang="en-US" sz="2800" b="1" dirty="0">
                <a:latin typeface="Times New Roman" panose="02020603050405020304" pitchFamily="18" charset="0"/>
                <a:ea typeface="Arial"/>
                <a:cs typeface="Times New Roman" panose="02020603050405020304" pitchFamily="18" charset="0"/>
                <a:sym typeface="Arial"/>
              </a:rPr>
              <a:t>N sits fourth to the right of his wife and his wife is not an immediate </a:t>
            </a:r>
            <a:r>
              <a:rPr lang="en-US" sz="2800" b="1" dirty="0" err="1">
                <a:latin typeface="Times New Roman" panose="02020603050405020304" pitchFamily="18" charset="0"/>
                <a:ea typeface="Arial"/>
                <a:cs typeface="Times New Roman" panose="02020603050405020304" pitchFamily="18" charset="0"/>
                <a:sym typeface="Arial"/>
              </a:rPr>
              <a:t>neighbour</a:t>
            </a:r>
            <a:r>
              <a:rPr lang="en-US" sz="2800" b="1" dirty="0">
                <a:latin typeface="Times New Roman" panose="02020603050405020304" pitchFamily="18" charset="0"/>
                <a:ea typeface="Arial"/>
                <a:cs typeface="Times New Roman" panose="02020603050405020304" pitchFamily="18" charset="0"/>
                <a:sym typeface="Arial"/>
              </a:rPr>
              <a:t> of L or R.  </a:t>
            </a:r>
            <a:endParaRPr sz="2800" b="1" dirty="0">
              <a:latin typeface="Times New Roman" panose="02020603050405020304" pitchFamily="18" charset="0"/>
              <a:ea typeface="Arial"/>
              <a:cs typeface="Times New Roman" panose="02020603050405020304" pitchFamily="18" charset="0"/>
              <a:sym typeface="Arial"/>
            </a:endParaRPr>
          </a:p>
          <a:p>
            <a:pPr marL="457200" indent="-349250" algn="just">
              <a:spcBef>
                <a:spcPts val="0"/>
              </a:spcBef>
              <a:spcAft>
                <a:spcPts val="0"/>
              </a:spcAft>
              <a:buSzPts val="1900"/>
              <a:buFont typeface="Arial"/>
              <a:buChar char="•"/>
            </a:pPr>
            <a:r>
              <a:rPr lang="en-US" sz="2800" b="1" dirty="0">
                <a:latin typeface="Times New Roman" panose="02020603050405020304" pitchFamily="18" charset="0"/>
                <a:ea typeface="Arial"/>
                <a:cs typeface="Times New Roman" panose="02020603050405020304" pitchFamily="18" charset="0"/>
                <a:sym typeface="Arial"/>
              </a:rPr>
              <a:t>M sits third to right of her husband.  </a:t>
            </a:r>
            <a:endParaRPr sz="2800" b="1" dirty="0">
              <a:latin typeface="Times New Roman" panose="02020603050405020304" pitchFamily="18" charset="0"/>
              <a:ea typeface="Arial"/>
              <a:cs typeface="Times New Roman" panose="02020603050405020304" pitchFamily="18" charset="0"/>
              <a:sym typeface="Arial"/>
            </a:endParaRPr>
          </a:p>
          <a:p>
            <a:pPr marL="457200" indent="-349250" algn="just">
              <a:spcBef>
                <a:spcPts val="0"/>
              </a:spcBef>
              <a:spcAft>
                <a:spcPts val="0"/>
              </a:spcAft>
              <a:buSzPts val="1900"/>
              <a:buFont typeface="Arial"/>
              <a:buChar char="•"/>
            </a:pPr>
            <a:r>
              <a:rPr lang="en-US" sz="2800" b="1" dirty="0">
                <a:latin typeface="Times New Roman" panose="02020603050405020304" pitchFamily="18" charset="0"/>
                <a:ea typeface="Arial"/>
                <a:cs typeface="Times New Roman" panose="02020603050405020304" pitchFamily="18" charset="0"/>
                <a:sym typeface="Arial"/>
              </a:rPr>
              <a:t>M does not sit at any of the corners. </a:t>
            </a:r>
            <a:endParaRPr sz="2800" b="1" dirty="0">
              <a:latin typeface="Times New Roman" panose="02020603050405020304" pitchFamily="18" charset="0"/>
              <a:ea typeface="Arial"/>
              <a:cs typeface="Times New Roman" panose="02020603050405020304" pitchFamily="18" charset="0"/>
              <a:sym typeface="Arial"/>
            </a:endParaRPr>
          </a:p>
          <a:p>
            <a:pPr marL="457200" indent="-349250" algn="just">
              <a:spcBef>
                <a:spcPts val="0"/>
              </a:spcBef>
              <a:spcAft>
                <a:spcPts val="0"/>
              </a:spcAft>
              <a:buSzPts val="1900"/>
              <a:buFont typeface="Arial"/>
              <a:buChar char="•"/>
            </a:pPr>
            <a:r>
              <a:rPr lang="en-US" sz="2800" b="1" dirty="0">
                <a:latin typeface="Times New Roman" panose="02020603050405020304" pitchFamily="18" charset="0"/>
                <a:ea typeface="Arial"/>
                <a:cs typeface="Times New Roman" panose="02020603050405020304" pitchFamily="18" charset="0"/>
                <a:sym typeface="Arial"/>
              </a:rPr>
              <a:t>Only O sits between M and S.  </a:t>
            </a:r>
            <a:endParaRPr sz="2800" b="1" dirty="0">
              <a:latin typeface="Times New Roman" panose="02020603050405020304" pitchFamily="18" charset="0"/>
              <a:ea typeface="Arial"/>
              <a:cs typeface="Times New Roman" panose="02020603050405020304" pitchFamily="18" charset="0"/>
              <a:sym typeface="Arial"/>
            </a:endParaRPr>
          </a:p>
          <a:p>
            <a:pPr marL="457200" indent="-349250" algn="just">
              <a:spcBef>
                <a:spcPts val="0"/>
              </a:spcBef>
              <a:spcAft>
                <a:spcPts val="0"/>
              </a:spcAft>
              <a:buSzPts val="1900"/>
              <a:buFont typeface="Arial"/>
              <a:buChar char="•"/>
            </a:pPr>
            <a:r>
              <a:rPr lang="en-US" sz="2800" b="1" dirty="0">
                <a:latin typeface="Times New Roman" panose="02020603050405020304" pitchFamily="18" charset="0"/>
                <a:ea typeface="Arial"/>
                <a:cs typeface="Times New Roman" panose="02020603050405020304" pitchFamily="18" charset="0"/>
                <a:sym typeface="Arial"/>
              </a:rPr>
              <a:t>S is husband of L.</a:t>
            </a:r>
            <a:endParaRPr sz="2800" b="1" dirty="0">
              <a:latin typeface="Times New Roman" panose="02020603050405020304" pitchFamily="18" charset="0"/>
              <a:ea typeface="Arial"/>
              <a:cs typeface="Times New Roman" panose="02020603050405020304" pitchFamily="18" charset="0"/>
              <a:sym typeface="Arial"/>
            </a:endParaRPr>
          </a:p>
          <a:p>
            <a:pPr marL="457200" indent="-349250" algn="just">
              <a:spcBef>
                <a:spcPts val="0"/>
              </a:spcBef>
              <a:spcAft>
                <a:spcPts val="0"/>
              </a:spcAft>
              <a:buSzPts val="1900"/>
              <a:buFont typeface="Arial"/>
              <a:buChar char="•"/>
            </a:pPr>
            <a:r>
              <a:rPr lang="en-US" sz="2800" b="1" dirty="0">
                <a:latin typeface="Times New Roman" panose="02020603050405020304" pitchFamily="18" charset="0"/>
                <a:ea typeface="Arial"/>
                <a:cs typeface="Times New Roman" panose="02020603050405020304" pitchFamily="18" charset="0"/>
                <a:sym typeface="Arial"/>
              </a:rPr>
              <a:t>P is a male. </a:t>
            </a:r>
            <a:endParaRPr sz="2800" b="1" dirty="0">
              <a:latin typeface="Times New Roman" panose="02020603050405020304" pitchFamily="18" charset="0"/>
              <a:ea typeface="Arial"/>
              <a:cs typeface="Times New Roman" panose="02020603050405020304" pitchFamily="18" charset="0"/>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7">
                                            <p:txEl>
                                              <p:pRg st="0" end="0"/>
                                            </p:txEl>
                                          </p:spTgt>
                                        </p:tgtEl>
                                        <p:attrNameLst>
                                          <p:attrName>style.visibility</p:attrName>
                                        </p:attrNameLst>
                                      </p:cBhvr>
                                      <p:to>
                                        <p:strVal val="visible"/>
                                      </p:to>
                                    </p:set>
                                    <p:animEffect transition="in" filter="fade">
                                      <p:cBhvr>
                                        <p:cTn id="7" dur="1000"/>
                                        <p:tgtEl>
                                          <p:spTgt spid="22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7">
                                            <p:txEl>
                                              <p:pRg st="1" end="1"/>
                                            </p:txEl>
                                          </p:spTgt>
                                        </p:tgtEl>
                                        <p:attrNameLst>
                                          <p:attrName>style.visibility</p:attrName>
                                        </p:attrNameLst>
                                      </p:cBhvr>
                                      <p:to>
                                        <p:strVal val="visible"/>
                                      </p:to>
                                    </p:set>
                                    <p:animEffect transition="in" filter="fade">
                                      <p:cBhvr>
                                        <p:cTn id="12" dur="1000"/>
                                        <p:tgtEl>
                                          <p:spTgt spid="227">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7">
                                            <p:txEl>
                                              <p:pRg st="2" end="2"/>
                                            </p:txEl>
                                          </p:spTgt>
                                        </p:tgtEl>
                                        <p:attrNameLst>
                                          <p:attrName>style.visibility</p:attrName>
                                        </p:attrNameLst>
                                      </p:cBhvr>
                                      <p:to>
                                        <p:strVal val="visible"/>
                                      </p:to>
                                    </p:set>
                                    <p:animEffect transition="in" filter="fade">
                                      <p:cBhvr>
                                        <p:cTn id="17" dur="1000"/>
                                        <p:tgtEl>
                                          <p:spTgt spid="227">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7">
                                            <p:txEl>
                                              <p:pRg st="3" end="3"/>
                                            </p:txEl>
                                          </p:spTgt>
                                        </p:tgtEl>
                                        <p:attrNameLst>
                                          <p:attrName>style.visibility</p:attrName>
                                        </p:attrNameLst>
                                      </p:cBhvr>
                                      <p:to>
                                        <p:strVal val="visible"/>
                                      </p:to>
                                    </p:set>
                                    <p:animEffect transition="in" filter="fade">
                                      <p:cBhvr>
                                        <p:cTn id="22" dur="1000"/>
                                        <p:tgtEl>
                                          <p:spTgt spid="227">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27">
                                            <p:txEl>
                                              <p:pRg st="4" end="4"/>
                                            </p:txEl>
                                          </p:spTgt>
                                        </p:tgtEl>
                                        <p:attrNameLst>
                                          <p:attrName>style.visibility</p:attrName>
                                        </p:attrNameLst>
                                      </p:cBhvr>
                                      <p:to>
                                        <p:strVal val="visible"/>
                                      </p:to>
                                    </p:set>
                                    <p:animEffect transition="in" filter="fade">
                                      <p:cBhvr>
                                        <p:cTn id="27" dur="1000"/>
                                        <p:tgtEl>
                                          <p:spTgt spid="227">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27">
                                            <p:txEl>
                                              <p:pRg st="5" end="5"/>
                                            </p:txEl>
                                          </p:spTgt>
                                        </p:tgtEl>
                                        <p:attrNameLst>
                                          <p:attrName>style.visibility</p:attrName>
                                        </p:attrNameLst>
                                      </p:cBhvr>
                                      <p:to>
                                        <p:strVal val="visible"/>
                                      </p:to>
                                    </p:set>
                                    <p:animEffect transition="in" filter="fade">
                                      <p:cBhvr>
                                        <p:cTn id="32" dur="1000"/>
                                        <p:tgtEl>
                                          <p:spTgt spid="227">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27">
                                            <p:txEl>
                                              <p:pRg st="6" end="6"/>
                                            </p:txEl>
                                          </p:spTgt>
                                        </p:tgtEl>
                                        <p:attrNameLst>
                                          <p:attrName>style.visibility</p:attrName>
                                        </p:attrNameLst>
                                      </p:cBhvr>
                                      <p:to>
                                        <p:strVal val="visible"/>
                                      </p:to>
                                    </p:set>
                                    <p:animEffect transition="in" filter="fade">
                                      <p:cBhvr>
                                        <p:cTn id="37" dur="1000"/>
                                        <p:tgtEl>
                                          <p:spTgt spid="227">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27">
                                            <p:txEl>
                                              <p:pRg st="7" end="7"/>
                                            </p:txEl>
                                          </p:spTgt>
                                        </p:tgtEl>
                                        <p:attrNameLst>
                                          <p:attrName>style.visibility</p:attrName>
                                        </p:attrNameLst>
                                      </p:cBhvr>
                                      <p:to>
                                        <p:strVal val="visible"/>
                                      </p:to>
                                    </p:set>
                                    <p:animEffect transition="in" filter="fade">
                                      <p:cBhvr>
                                        <p:cTn id="42" dur="1000"/>
                                        <p:tgtEl>
                                          <p:spTgt spid="227">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27">
                                            <p:txEl>
                                              <p:pRg st="8" end="8"/>
                                            </p:txEl>
                                          </p:spTgt>
                                        </p:tgtEl>
                                        <p:attrNameLst>
                                          <p:attrName>style.visibility</p:attrName>
                                        </p:attrNameLst>
                                      </p:cBhvr>
                                      <p:to>
                                        <p:strVal val="visible"/>
                                      </p:to>
                                    </p:set>
                                    <p:animEffect transition="in" filter="fade">
                                      <p:cBhvr>
                                        <p:cTn id="47" dur="1000"/>
                                        <p:tgtEl>
                                          <p:spTgt spid="227">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3C84B1-8EE4-4098-BD5A-E680AA1DDFCE}"/>
              </a:ext>
            </a:extLst>
          </p:cNvPr>
          <p:cNvSpPr/>
          <p:nvPr/>
        </p:nvSpPr>
        <p:spPr>
          <a:xfrm>
            <a:off x="3032448" y="1045029"/>
            <a:ext cx="5514393" cy="4133461"/>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13020851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3" name="Google Shape;233;p36"/>
          <p:cNvSpPr txBox="1">
            <a:spLocks noGrp="1"/>
          </p:cNvSpPr>
          <p:nvPr>
            <p:ph type="body" idx="4294967295"/>
          </p:nvPr>
        </p:nvSpPr>
        <p:spPr>
          <a:xfrm>
            <a:off x="298579" y="245512"/>
            <a:ext cx="11793893" cy="4525963"/>
          </a:xfrm>
          <a:prstGeom prst="rect">
            <a:avLst/>
          </a:prstGeom>
          <a:noFill/>
          <a:ln>
            <a:noFill/>
          </a:ln>
        </p:spPr>
        <p:txBody>
          <a:bodyPr spcFirstLastPara="1" vert="horz" wrap="square" lIns="91425" tIns="45700" rIns="91425" bIns="45700" rtlCol="0" anchor="t" anchorCtr="0">
            <a:noAutofit/>
          </a:bodyPr>
          <a:lstStyle/>
          <a:p>
            <a:pPr marL="0" indent="0" algn="just">
              <a:spcBef>
                <a:spcPts val="0"/>
              </a:spcBef>
              <a:spcAft>
                <a:spcPts val="0"/>
              </a:spcAft>
              <a:buNone/>
            </a:pPr>
            <a:r>
              <a:rPr lang="en-US" sz="2800" dirty="0">
                <a:latin typeface="Arial"/>
                <a:ea typeface="Arial"/>
                <a:cs typeface="Arial"/>
                <a:sym typeface="Arial"/>
              </a:rPr>
              <a:t>Which of the following is true with respect to given seating arrangement? (a) No two males are immediate </a:t>
            </a:r>
            <a:r>
              <a:rPr lang="en-US" sz="2800" dirty="0" err="1">
                <a:latin typeface="Arial"/>
                <a:ea typeface="Arial"/>
                <a:cs typeface="Arial"/>
                <a:sym typeface="Arial"/>
              </a:rPr>
              <a:t>neighbours</a:t>
            </a:r>
            <a:r>
              <a:rPr lang="en-US" sz="2800" dirty="0">
                <a:latin typeface="Arial"/>
                <a:ea typeface="Arial"/>
                <a:cs typeface="Arial"/>
                <a:sym typeface="Arial"/>
              </a:rPr>
              <a:t> of each other. </a:t>
            </a:r>
            <a:endParaRPr sz="2800" dirty="0">
              <a:latin typeface="Arial"/>
              <a:ea typeface="Arial"/>
              <a:cs typeface="Arial"/>
              <a:sym typeface="Arial"/>
            </a:endParaRPr>
          </a:p>
          <a:p>
            <a:pPr marL="0" indent="0" algn="just">
              <a:spcBef>
                <a:spcPts val="0"/>
              </a:spcBef>
              <a:spcAft>
                <a:spcPts val="0"/>
              </a:spcAft>
              <a:buNone/>
            </a:pPr>
            <a:r>
              <a:rPr lang="en-US" sz="2800" dirty="0">
                <a:latin typeface="Arial"/>
                <a:ea typeface="Arial"/>
                <a:cs typeface="Arial"/>
                <a:sym typeface="Arial"/>
              </a:rPr>
              <a:t>(b) R and S face each other in the seating arrangement. </a:t>
            </a:r>
            <a:endParaRPr sz="2800" dirty="0">
              <a:latin typeface="Arial"/>
              <a:ea typeface="Arial"/>
              <a:cs typeface="Arial"/>
              <a:sym typeface="Arial"/>
            </a:endParaRPr>
          </a:p>
          <a:p>
            <a:pPr marL="0" indent="0" algn="just">
              <a:spcBef>
                <a:spcPts val="0"/>
              </a:spcBef>
              <a:spcAft>
                <a:spcPts val="0"/>
              </a:spcAft>
              <a:buNone/>
            </a:pPr>
            <a:r>
              <a:rPr lang="en-US" sz="2800" dirty="0">
                <a:latin typeface="Arial"/>
                <a:ea typeface="Arial"/>
                <a:cs typeface="Arial"/>
                <a:sym typeface="Arial"/>
              </a:rPr>
              <a:t>(c) L sits in the </a:t>
            </a:r>
            <a:r>
              <a:rPr lang="en-US" sz="2800" dirty="0" err="1">
                <a:latin typeface="Arial"/>
                <a:ea typeface="Arial"/>
                <a:cs typeface="Arial"/>
                <a:sym typeface="Arial"/>
              </a:rPr>
              <a:t>centre</a:t>
            </a:r>
            <a:r>
              <a:rPr lang="en-US" sz="2800" dirty="0">
                <a:latin typeface="Arial"/>
                <a:ea typeface="Arial"/>
                <a:cs typeface="Arial"/>
                <a:sym typeface="Arial"/>
              </a:rPr>
              <a:t> of one of the sides of the square table. </a:t>
            </a:r>
            <a:endParaRPr sz="2800" dirty="0">
              <a:latin typeface="Arial"/>
              <a:ea typeface="Arial"/>
              <a:cs typeface="Arial"/>
              <a:sym typeface="Arial"/>
            </a:endParaRPr>
          </a:p>
          <a:p>
            <a:pPr marL="0" indent="0" algn="just">
              <a:spcBef>
                <a:spcPts val="0"/>
              </a:spcBef>
              <a:spcAft>
                <a:spcPts val="0"/>
              </a:spcAft>
              <a:buNone/>
            </a:pPr>
            <a:r>
              <a:rPr lang="en-US" sz="2800" dirty="0">
                <a:latin typeface="Arial"/>
                <a:ea typeface="Arial"/>
                <a:cs typeface="Arial"/>
                <a:sym typeface="Arial"/>
              </a:rPr>
              <a:t>(d) Q is a male and sits diagonally opposite to P. </a:t>
            </a:r>
            <a:endParaRPr sz="2800" dirty="0">
              <a:latin typeface="Arial"/>
              <a:ea typeface="Arial"/>
              <a:cs typeface="Arial"/>
              <a:sym typeface="Arial"/>
            </a:endParaRPr>
          </a:p>
          <a:p>
            <a:pPr marL="0" indent="0" algn="just">
              <a:spcBef>
                <a:spcPts val="640"/>
              </a:spcBef>
              <a:spcAft>
                <a:spcPts val="0"/>
              </a:spcAft>
              <a:buClr>
                <a:schemeClr val="dk1"/>
              </a:buClr>
              <a:buSzPts val="1100"/>
              <a:buNone/>
            </a:pPr>
            <a:r>
              <a:rPr lang="en-US" sz="2800" dirty="0">
                <a:latin typeface="Arial"/>
                <a:ea typeface="Arial"/>
                <a:cs typeface="Arial"/>
                <a:sym typeface="Arial"/>
              </a:rPr>
              <a:t> </a:t>
            </a:r>
            <a:endParaRPr sz="2800" dirty="0">
              <a:latin typeface="Arial"/>
              <a:ea typeface="Arial"/>
              <a:cs typeface="Arial"/>
              <a:sym typeface="Arial"/>
            </a:endParaRPr>
          </a:p>
          <a:p>
            <a:pPr marL="0" indent="0" algn="just">
              <a:spcBef>
                <a:spcPts val="0"/>
              </a:spcBef>
              <a:spcAft>
                <a:spcPts val="0"/>
              </a:spcAft>
              <a:buClr>
                <a:schemeClr val="dk1"/>
              </a:buClr>
              <a:buSzPts val="1100"/>
              <a:buNone/>
            </a:pPr>
            <a:r>
              <a:rPr lang="en-US" sz="2800" dirty="0">
                <a:latin typeface="Arial"/>
                <a:ea typeface="Arial"/>
                <a:cs typeface="Arial"/>
                <a:sym typeface="Arial"/>
              </a:rPr>
              <a:t>Who amongst the following is the wife of N? </a:t>
            </a:r>
            <a:endParaRPr sz="2800" dirty="0">
              <a:latin typeface="Arial"/>
              <a:ea typeface="Arial"/>
              <a:cs typeface="Arial"/>
              <a:sym typeface="Arial"/>
            </a:endParaRPr>
          </a:p>
          <a:p>
            <a:pPr marL="0" indent="0" algn="just">
              <a:spcBef>
                <a:spcPts val="0"/>
              </a:spcBef>
              <a:spcAft>
                <a:spcPts val="0"/>
              </a:spcAft>
              <a:buClr>
                <a:schemeClr val="dk1"/>
              </a:buClr>
              <a:buSzPts val="1100"/>
              <a:buNone/>
            </a:pPr>
            <a:r>
              <a:rPr lang="en-US" sz="2800" dirty="0">
                <a:latin typeface="Arial"/>
                <a:ea typeface="Arial"/>
                <a:cs typeface="Arial"/>
                <a:sym typeface="Arial"/>
              </a:rPr>
              <a:t>(a) O    </a:t>
            </a:r>
            <a:endParaRPr sz="2800" dirty="0">
              <a:latin typeface="Arial"/>
              <a:ea typeface="Arial"/>
              <a:cs typeface="Arial"/>
              <a:sym typeface="Arial"/>
            </a:endParaRPr>
          </a:p>
          <a:p>
            <a:pPr marL="0" indent="0" algn="just">
              <a:spcBef>
                <a:spcPts val="0"/>
              </a:spcBef>
              <a:spcAft>
                <a:spcPts val="0"/>
              </a:spcAft>
              <a:buClr>
                <a:schemeClr val="dk1"/>
              </a:buClr>
              <a:buSzPts val="1100"/>
              <a:buNone/>
            </a:pPr>
            <a:r>
              <a:rPr lang="en-US" sz="2800" dirty="0">
                <a:latin typeface="Arial"/>
                <a:ea typeface="Arial"/>
                <a:cs typeface="Arial"/>
                <a:sym typeface="Arial"/>
              </a:rPr>
              <a:t>(b) Q    </a:t>
            </a:r>
            <a:endParaRPr sz="2800" dirty="0">
              <a:latin typeface="Arial"/>
              <a:ea typeface="Arial"/>
              <a:cs typeface="Arial"/>
              <a:sym typeface="Arial"/>
            </a:endParaRPr>
          </a:p>
          <a:p>
            <a:pPr marL="0" indent="0" algn="just">
              <a:spcBef>
                <a:spcPts val="0"/>
              </a:spcBef>
              <a:spcAft>
                <a:spcPts val="0"/>
              </a:spcAft>
              <a:buClr>
                <a:schemeClr val="dk1"/>
              </a:buClr>
              <a:buSzPts val="1100"/>
              <a:buNone/>
            </a:pPr>
            <a:r>
              <a:rPr lang="en-US" sz="2800" dirty="0">
                <a:latin typeface="Arial"/>
                <a:ea typeface="Arial"/>
                <a:cs typeface="Arial"/>
                <a:sym typeface="Arial"/>
              </a:rPr>
              <a:t>(c) M   </a:t>
            </a:r>
            <a:endParaRPr sz="2800" dirty="0">
              <a:latin typeface="Arial"/>
              <a:ea typeface="Arial"/>
              <a:cs typeface="Arial"/>
              <a:sym typeface="Arial"/>
            </a:endParaRPr>
          </a:p>
          <a:p>
            <a:pPr marL="0" indent="0" algn="just">
              <a:spcBef>
                <a:spcPts val="0"/>
              </a:spcBef>
              <a:spcAft>
                <a:spcPts val="0"/>
              </a:spcAft>
              <a:buClr>
                <a:schemeClr val="dk1"/>
              </a:buClr>
              <a:buSzPts val="1100"/>
              <a:buNone/>
            </a:pPr>
            <a:r>
              <a:rPr lang="en-US" sz="2800" dirty="0">
                <a:latin typeface="Arial"/>
                <a:ea typeface="Arial"/>
                <a:cs typeface="Arial"/>
                <a:sym typeface="Arial"/>
              </a:rPr>
              <a:t>(d) R </a:t>
            </a:r>
            <a:endParaRPr sz="2800" dirty="0">
              <a:latin typeface="Arial"/>
              <a:ea typeface="Arial"/>
              <a:cs typeface="Arial"/>
              <a:sym typeface="Arial"/>
            </a:endParaRPr>
          </a:p>
          <a:p>
            <a:pPr marL="0" indent="0" algn="just">
              <a:spcBef>
                <a:spcPts val="640"/>
              </a:spcBef>
              <a:spcAft>
                <a:spcPts val="0"/>
              </a:spcAft>
              <a:buNone/>
            </a:pPr>
            <a:endParaRPr sz="2800" dirty="0">
              <a:latin typeface="Arial"/>
              <a:ea typeface="Arial"/>
              <a:cs typeface="Arial"/>
              <a:sym typeface="Arial"/>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0B7166-D1E0-4689-9235-C45C40817DEB}"/>
              </a:ext>
            </a:extLst>
          </p:cNvPr>
          <p:cNvSpPr>
            <a:spLocks noGrp="1"/>
          </p:cNvSpPr>
          <p:nvPr>
            <p:ph type="title"/>
          </p:nvPr>
        </p:nvSpPr>
        <p:spPr/>
        <p:txBody>
          <a:bodyPr/>
          <a:lstStyle/>
          <a:p>
            <a:r>
              <a:rPr lang="en-IN" dirty="0"/>
              <a:t>Puzzle's</a:t>
            </a:r>
          </a:p>
        </p:txBody>
      </p:sp>
      <p:sp>
        <p:nvSpPr>
          <p:cNvPr id="3" name="Text Placeholder 2">
            <a:extLst>
              <a:ext uri="{FF2B5EF4-FFF2-40B4-BE49-F238E27FC236}">
                <a16:creationId xmlns:a16="http://schemas.microsoft.com/office/drawing/2014/main" id="{AEBF2532-47DB-47B8-BDFB-26EFD39ED14B}"/>
              </a:ext>
            </a:extLst>
          </p:cNvPr>
          <p:cNvSpPr>
            <a:spLocks noGrp="1"/>
          </p:cNvSpPr>
          <p:nvPr>
            <p:ph type="body" idx="1"/>
          </p:nvPr>
        </p:nvSpPr>
        <p:spPr/>
        <p:txBody>
          <a:bodyPr/>
          <a:lstStyle/>
          <a:p>
            <a:endParaRPr lang="en-IN"/>
          </a:p>
        </p:txBody>
      </p:sp>
    </p:spTree>
    <p:extLst>
      <p:ext uri="{BB962C8B-B14F-4D97-AF65-F5344CB8AC3E}">
        <p14:creationId xmlns:p14="http://schemas.microsoft.com/office/powerpoint/2010/main" val="410003163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F671CB05-F699-46C9-BABB-43E13A79F2B1}"/>
              </a:ext>
            </a:extLst>
          </p:cNvPr>
          <p:cNvSpPr txBox="1"/>
          <p:nvPr/>
        </p:nvSpPr>
        <p:spPr>
          <a:xfrm>
            <a:off x="168442" y="204537"/>
            <a:ext cx="11466095" cy="5078313"/>
          </a:xfrm>
          <a:prstGeom prst="rect">
            <a:avLst/>
          </a:prstGeom>
          <a:noFill/>
        </p:spPr>
        <p:txBody>
          <a:bodyPr wrap="square">
            <a:spAutoFit/>
          </a:bodyPr>
          <a:lstStyle/>
          <a:p>
            <a:r>
              <a:rPr lang="en-US" sz="3600" dirty="0"/>
              <a:t>In a room there is 1000 doors and each door is numbered 1 to 1000. Initially all the doors are closed. In a group of 1000 people each one of them is also numbered 1 to 1000. Person with numbered 1 goes inside the room and opened all the doors, person with numbered 2 then goes next and closed all the doors which are multiple of two. In general, </a:t>
            </a:r>
            <a:r>
              <a:rPr lang="en-US" sz="3600" dirty="0" err="1"/>
              <a:t>rth</a:t>
            </a:r>
            <a:r>
              <a:rPr lang="en-US" sz="3600" dirty="0"/>
              <a:t> person changes the state of those doors having multiple of r. All the 1000 person does the same. After this practice how many doors will be remain opened ??</a:t>
            </a:r>
            <a:endParaRPr lang="en-IN" sz="3600" dirty="0"/>
          </a:p>
        </p:txBody>
      </p:sp>
      <p:pic>
        <p:nvPicPr>
          <p:cNvPr id="3" name="Picture 2">
            <a:extLst>
              <a:ext uri="{FF2B5EF4-FFF2-40B4-BE49-F238E27FC236}">
                <a16:creationId xmlns:a16="http://schemas.microsoft.com/office/drawing/2014/main" id="{695F9CE9-6AF6-4B83-83A2-6839EBF2C5E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34663" y="4681330"/>
            <a:ext cx="4688895" cy="1683229"/>
          </a:xfrm>
          <a:prstGeom prst="rect">
            <a:avLst/>
          </a:prstGeom>
        </p:spPr>
      </p:pic>
    </p:spTree>
    <p:extLst>
      <p:ext uri="{BB962C8B-B14F-4D97-AF65-F5344CB8AC3E}">
        <p14:creationId xmlns:p14="http://schemas.microsoft.com/office/powerpoint/2010/main" val="107910553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9D494AF5-D67D-43FE-9179-7D4A38C6C7C7}"/>
              </a:ext>
            </a:extLst>
          </p:cNvPr>
          <p:cNvSpPr txBox="1"/>
          <p:nvPr/>
        </p:nvSpPr>
        <p:spPr>
          <a:xfrm>
            <a:off x="295688" y="304943"/>
            <a:ext cx="11343034" cy="2062103"/>
          </a:xfrm>
          <a:prstGeom prst="rect">
            <a:avLst/>
          </a:prstGeom>
          <a:noFill/>
        </p:spPr>
        <p:txBody>
          <a:bodyPr wrap="square">
            <a:spAutoFit/>
          </a:bodyPr>
          <a:lstStyle/>
          <a:p>
            <a:r>
              <a:rPr lang="en-US" sz="3200" dirty="0"/>
              <a:t>How do we measure forty-five minutes using two identical wires, each of which takes an hour to burn? We have matchsticks with us. The wires burn non-uniformly. So, for example, the two halves of wire might burn in 10 minutes and 50 minutes respectively</a:t>
            </a:r>
            <a:endParaRPr lang="en-IN" sz="3200" dirty="0"/>
          </a:p>
        </p:txBody>
      </p:sp>
      <p:cxnSp>
        <p:nvCxnSpPr>
          <p:cNvPr id="3" name="Straight Connector 2">
            <a:extLst>
              <a:ext uri="{FF2B5EF4-FFF2-40B4-BE49-F238E27FC236}">
                <a16:creationId xmlns:a16="http://schemas.microsoft.com/office/drawing/2014/main" id="{31602A9D-AFBF-4186-9687-3D2C63A16658}"/>
              </a:ext>
            </a:extLst>
          </p:cNvPr>
          <p:cNvCxnSpPr/>
          <p:nvPr/>
        </p:nvCxnSpPr>
        <p:spPr>
          <a:xfrm>
            <a:off x="3031435" y="3707296"/>
            <a:ext cx="5367130" cy="0"/>
          </a:xfrm>
          <a:prstGeom prst="line">
            <a:avLst/>
          </a:prstGeom>
        </p:spPr>
        <p:style>
          <a:lnRef idx="3">
            <a:schemeClr val="dk1"/>
          </a:lnRef>
          <a:fillRef idx="0">
            <a:schemeClr val="dk1"/>
          </a:fillRef>
          <a:effectRef idx="2">
            <a:schemeClr val="dk1"/>
          </a:effectRef>
          <a:fontRef idx="minor">
            <a:schemeClr val="tx1"/>
          </a:fontRef>
        </p:style>
      </p:cxnSp>
      <p:cxnSp>
        <p:nvCxnSpPr>
          <p:cNvPr id="6" name="Straight Connector 5">
            <a:extLst>
              <a:ext uri="{FF2B5EF4-FFF2-40B4-BE49-F238E27FC236}">
                <a16:creationId xmlns:a16="http://schemas.microsoft.com/office/drawing/2014/main" id="{BB84415C-4EA1-492A-89D3-37A86DA26B50}"/>
              </a:ext>
            </a:extLst>
          </p:cNvPr>
          <p:cNvCxnSpPr/>
          <p:nvPr/>
        </p:nvCxnSpPr>
        <p:spPr>
          <a:xfrm>
            <a:off x="3104322" y="4644887"/>
            <a:ext cx="5367130" cy="0"/>
          </a:xfrm>
          <a:prstGeom prst="line">
            <a:avLst/>
          </a:prstGeom>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301890052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96782D1-7003-4AB8-8693-CB9950E75A0E}"/>
              </a:ext>
            </a:extLst>
          </p:cNvPr>
          <p:cNvSpPr txBox="1"/>
          <p:nvPr/>
        </p:nvSpPr>
        <p:spPr>
          <a:xfrm>
            <a:off x="248478" y="327991"/>
            <a:ext cx="11430000" cy="5693866"/>
          </a:xfrm>
          <a:prstGeom prst="rect">
            <a:avLst/>
          </a:prstGeom>
          <a:noFill/>
        </p:spPr>
        <p:txBody>
          <a:bodyPr wrap="square">
            <a:spAutoFit/>
          </a:bodyPr>
          <a:lstStyle/>
          <a:p>
            <a:r>
              <a:rPr lang="en-US" sz="2800" dirty="0"/>
              <a:t>Puzzle: There are 4 persons (A, B, C and D) who want to cross a bridge in night.</a:t>
            </a:r>
          </a:p>
          <a:p>
            <a:endParaRPr lang="en-US" sz="2800" dirty="0"/>
          </a:p>
          <a:p>
            <a:r>
              <a:rPr lang="en-US" sz="2800" dirty="0"/>
              <a:t>A takes 1 minute to cross the bridge.</a:t>
            </a:r>
          </a:p>
          <a:p>
            <a:r>
              <a:rPr lang="en-US" sz="2800" dirty="0"/>
              <a:t>B takes 2 minutes to cross the bridge.</a:t>
            </a:r>
          </a:p>
          <a:p>
            <a:r>
              <a:rPr lang="en-US" sz="2800" dirty="0"/>
              <a:t>C takes 5 minutes to cross the bridge.</a:t>
            </a:r>
          </a:p>
          <a:p>
            <a:r>
              <a:rPr lang="en-US" sz="2800" dirty="0"/>
              <a:t>D takes 8 minutes to cross the bridge.</a:t>
            </a:r>
          </a:p>
          <a:p>
            <a:r>
              <a:rPr lang="en-US" sz="2800" dirty="0"/>
              <a:t>There is only one torch with them and the bridge cannot be crossed without the torch. There cannot be more than two persons on the bridge at any time, and when two people cross the bridge together, they must move at the slower person’s pace.</a:t>
            </a:r>
          </a:p>
          <a:p>
            <a:endParaRPr lang="en-US" sz="2800" dirty="0"/>
          </a:p>
          <a:p>
            <a:r>
              <a:rPr lang="en-US" sz="2800" dirty="0"/>
              <a:t>What will be the least possible time taken to cross the bridge?</a:t>
            </a:r>
            <a:endParaRPr lang="en-IN" sz="2800" dirty="0"/>
          </a:p>
        </p:txBody>
      </p:sp>
      <p:pic>
        <p:nvPicPr>
          <p:cNvPr id="3" name="Picture 2">
            <a:extLst>
              <a:ext uri="{FF2B5EF4-FFF2-40B4-BE49-F238E27FC236}">
                <a16:creationId xmlns:a16="http://schemas.microsoft.com/office/drawing/2014/main" id="{BE8E6E81-E8F2-49AF-ABED-E53886E596F1}"/>
              </a:ext>
            </a:extLst>
          </p:cNvPr>
          <p:cNvPicPr>
            <a:picLocks noChangeAspect="1"/>
          </p:cNvPicPr>
          <p:nvPr/>
        </p:nvPicPr>
        <p:blipFill rotWithShape="1">
          <a:blip r:embed="rId2">
            <a:extLst>
              <a:ext uri="{28A0092B-C50C-407E-A947-70E740481C1C}">
                <a14:useLocalDpi xmlns:a14="http://schemas.microsoft.com/office/drawing/2010/main" val="0"/>
              </a:ext>
            </a:extLst>
          </a:blip>
          <a:srcRect l="1945" t="12307" r="4015" b="12088"/>
          <a:stretch/>
        </p:blipFill>
        <p:spPr>
          <a:xfrm>
            <a:off x="6096000" y="1315696"/>
            <a:ext cx="5436704" cy="1656103"/>
          </a:xfrm>
          <a:prstGeom prst="rect">
            <a:avLst/>
          </a:prstGeom>
        </p:spPr>
      </p:pic>
    </p:spTree>
    <p:extLst>
      <p:ext uri="{BB962C8B-B14F-4D97-AF65-F5344CB8AC3E}">
        <p14:creationId xmlns:p14="http://schemas.microsoft.com/office/powerpoint/2010/main" val="131921210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C68856A-67C5-4511-AAB8-889BF6D65659}"/>
              </a:ext>
            </a:extLst>
          </p:cNvPr>
          <p:cNvSpPr txBox="1"/>
          <p:nvPr/>
        </p:nvSpPr>
        <p:spPr>
          <a:xfrm>
            <a:off x="626165" y="705678"/>
            <a:ext cx="10595113" cy="1384995"/>
          </a:xfrm>
          <a:prstGeom prst="rect">
            <a:avLst/>
          </a:prstGeom>
          <a:noFill/>
        </p:spPr>
        <p:txBody>
          <a:bodyPr wrap="square">
            <a:spAutoFit/>
          </a:bodyPr>
          <a:lstStyle/>
          <a:p>
            <a:r>
              <a:rPr lang="en-US" sz="2800" dirty="0"/>
              <a:t>(Hourglasses Puzzle)</a:t>
            </a:r>
          </a:p>
          <a:p>
            <a:r>
              <a:rPr lang="en-US" sz="2800" dirty="0"/>
              <a:t>Given two hourglass of 4 minutes and 7 minutes, the task is to measure 9 minutes</a:t>
            </a:r>
            <a:endParaRPr lang="en-IN" sz="2800" dirty="0"/>
          </a:p>
        </p:txBody>
      </p:sp>
      <p:pic>
        <p:nvPicPr>
          <p:cNvPr id="4" name="Picture 3">
            <a:extLst>
              <a:ext uri="{FF2B5EF4-FFF2-40B4-BE49-F238E27FC236}">
                <a16:creationId xmlns:a16="http://schemas.microsoft.com/office/drawing/2014/main" id="{A0BD11E4-11C5-44EA-932B-3774E52190F2}"/>
              </a:ext>
            </a:extLst>
          </p:cNvPr>
          <p:cNvPicPr>
            <a:picLocks noChangeAspect="1"/>
          </p:cNvPicPr>
          <p:nvPr/>
        </p:nvPicPr>
        <p:blipFill rotWithShape="1">
          <a:blip r:embed="rId2">
            <a:extLst>
              <a:ext uri="{28A0092B-C50C-407E-A947-70E740481C1C}">
                <a14:useLocalDpi xmlns:a14="http://schemas.microsoft.com/office/drawing/2010/main" val="0"/>
              </a:ext>
            </a:extLst>
          </a:blip>
          <a:srcRect l="14020" t="23188" r="6647" b="21305"/>
          <a:stretch/>
        </p:blipFill>
        <p:spPr>
          <a:xfrm>
            <a:off x="3101008" y="2017644"/>
            <a:ext cx="3886200" cy="3806688"/>
          </a:xfrm>
          <a:prstGeom prst="rect">
            <a:avLst/>
          </a:prstGeom>
        </p:spPr>
      </p:pic>
      <p:pic>
        <p:nvPicPr>
          <p:cNvPr id="6" name="Picture 5">
            <a:extLst>
              <a:ext uri="{FF2B5EF4-FFF2-40B4-BE49-F238E27FC236}">
                <a16:creationId xmlns:a16="http://schemas.microsoft.com/office/drawing/2014/main" id="{5D244C55-1340-43E9-8702-89F261AA2F8F}"/>
              </a:ext>
            </a:extLst>
          </p:cNvPr>
          <p:cNvPicPr>
            <a:picLocks noChangeAspect="1"/>
          </p:cNvPicPr>
          <p:nvPr/>
        </p:nvPicPr>
        <p:blipFill rotWithShape="1">
          <a:blip r:embed="rId2">
            <a:extLst>
              <a:ext uri="{28A0092B-C50C-407E-A947-70E740481C1C}">
                <a14:useLocalDpi xmlns:a14="http://schemas.microsoft.com/office/drawing/2010/main" val="0"/>
              </a:ext>
            </a:extLst>
          </a:blip>
          <a:srcRect l="14020" t="23188" r="6647" b="21305"/>
          <a:stretch/>
        </p:blipFill>
        <p:spPr>
          <a:xfrm rot="10800000">
            <a:off x="6717195" y="1948070"/>
            <a:ext cx="3886200" cy="3806688"/>
          </a:xfrm>
          <a:prstGeom prst="rect">
            <a:avLst/>
          </a:prstGeom>
        </p:spPr>
      </p:pic>
    </p:spTree>
    <p:extLst>
      <p:ext uri="{BB962C8B-B14F-4D97-AF65-F5344CB8AC3E}">
        <p14:creationId xmlns:p14="http://schemas.microsoft.com/office/powerpoint/2010/main" val="390524589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74CE740-185A-4225-8714-11A136744507}"/>
              </a:ext>
            </a:extLst>
          </p:cNvPr>
          <p:cNvSpPr txBox="1"/>
          <p:nvPr/>
        </p:nvSpPr>
        <p:spPr>
          <a:xfrm>
            <a:off x="397565" y="417443"/>
            <a:ext cx="11211339" cy="2677656"/>
          </a:xfrm>
          <a:prstGeom prst="rect">
            <a:avLst/>
          </a:prstGeom>
          <a:noFill/>
        </p:spPr>
        <p:txBody>
          <a:bodyPr wrap="square">
            <a:spAutoFit/>
          </a:bodyPr>
          <a:lstStyle/>
          <a:p>
            <a:r>
              <a:rPr lang="en-US" sz="2800" b="0" i="0" dirty="0">
                <a:solidFill>
                  <a:srgbClr val="444444"/>
                </a:solidFill>
                <a:effectLst/>
                <a:latin typeface="PT Sans" panose="020B0604020202020204" pitchFamily="34" charset="0"/>
              </a:rPr>
              <a:t>Frog and Well Puzzle</a:t>
            </a:r>
          </a:p>
          <a:p>
            <a:r>
              <a:rPr lang="en-US" sz="2800" b="0" i="0" dirty="0">
                <a:solidFill>
                  <a:srgbClr val="444444"/>
                </a:solidFill>
                <a:effectLst/>
                <a:latin typeface="PT Sans" panose="020B0604020202020204" pitchFamily="34" charset="0"/>
              </a:rPr>
              <a:t>A frog is at the bottom of a 30 meter well. Each day he summons enough energy for one 3 meter leap up the well. Exhausted, he then hangs there for the rest of the day. At night, while he is asleep, he slips 2 meters backwards. How many days does it take him to escape from the well?</a:t>
            </a:r>
            <a:endParaRPr lang="en-IN" sz="2800" dirty="0"/>
          </a:p>
        </p:txBody>
      </p:sp>
      <p:pic>
        <p:nvPicPr>
          <p:cNvPr id="4" name="Picture 3">
            <a:extLst>
              <a:ext uri="{FF2B5EF4-FFF2-40B4-BE49-F238E27FC236}">
                <a16:creationId xmlns:a16="http://schemas.microsoft.com/office/drawing/2014/main" id="{9842E88D-B6D5-454F-93CC-9FFE8230DD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22650" y="2703441"/>
            <a:ext cx="2561167" cy="3429001"/>
          </a:xfrm>
          <a:prstGeom prst="rect">
            <a:avLst/>
          </a:prstGeom>
        </p:spPr>
      </p:pic>
    </p:spTree>
    <p:extLst>
      <p:ext uri="{BB962C8B-B14F-4D97-AF65-F5344CB8AC3E}">
        <p14:creationId xmlns:p14="http://schemas.microsoft.com/office/powerpoint/2010/main" val="11794835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457E5EC-E949-425F-9787-57E8212205EE}"/>
              </a:ext>
            </a:extLst>
          </p:cNvPr>
          <p:cNvSpPr txBox="1"/>
          <p:nvPr/>
        </p:nvSpPr>
        <p:spPr>
          <a:xfrm>
            <a:off x="228600" y="457199"/>
            <a:ext cx="11449878" cy="1815882"/>
          </a:xfrm>
          <a:prstGeom prst="rect">
            <a:avLst/>
          </a:prstGeom>
          <a:noFill/>
        </p:spPr>
        <p:txBody>
          <a:bodyPr wrap="square">
            <a:spAutoFit/>
          </a:bodyPr>
          <a:lstStyle/>
          <a:p>
            <a:r>
              <a:rPr lang="en-US" sz="2800" i="0" dirty="0">
                <a:solidFill>
                  <a:srgbClr val="282829"/>
                </a:solidFill>
                <a:effectLst/>
                <a:latin typeface="-apple-system"/>
              </a:rPr>
              <a:t>You have 10 bags of coins each with 10 coins, but only one of these bags has gold coins. The gold coin weighs 1.01 ounce and the other coins weighs 1 ounce. You also have a scale, but can only use it once. How can you identify the bag of gold coins?</a:t>
            </a:r>
            <a:endParaRPr lang="en-IN" sz="2800" dirty="0"/>
          </a:p>
        </p:txBody>
      </p:sp>
      <p:pic>
        <p:nvPicPr>
          <p:cNvPr id="4" name="Picture 3">
            <a:extLst>
              <a:ext uri="{FF2B5EF4-FFF2-40B4-BE49-F238E27FC236}">
                <a16:creationId xmlns:a16="http://schemas.microsoft.com/office/drawing/2014/main" id="{4CCEFDDC-0E06-4F51-AEE5-42FBA9502721}"/>
              </a:ext>
            </a:extLst>
          </p:cNvPr>
          <p:cNvPicPr>
            <a:picLocks noChangeAspect="1"/>
          </p:cNvPicPr>
          <p:nvPr/>
        </p:nvPicPr>
        <p:blipFill rotWithShape="1">
          <a:blip r:embed="rId2">
            <a:extLst>
              <a:ext uri="{28A0092B-C50C-407E-A947-70E740481C1C}">
                <a14:useLocalDpi xmlns:a14="http://schemas.microsoft.com/office/drawing/2010/main" val="0"/>
              </a:ext>
            </a:extLst>
          </a:blip>
          <a:srcRect b="8351"/>
          <a:stretch/>
        </p:blipFill>
        <p:spPr>
          <a:xfrm>
            <a:off x="5374584" y="2055743"/>
            <a:ext cx="3647069" cy="3599623"/>
          </a:xfrm>
          <a:prstGeom prst="rect">
            <a:avLst/>
          </a:prstGeom>
        </p:spPr>
      </p:pic>
    </p:spTree>
    <p:extLst>
      <p:ext uri="{BB962C8B-B14F-4D97-AF65-F5344CB8AC3E}">
        <p14:creationId xmlns:p14="http://schemas.microsoft.com/office/powerpoint/2010/main" val="56653437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F835E26-62CA-4E65-AB45-C110A1ACBD97}"/>
              </a:ext>
            </a:extLst>
          </p:cNvPr>
          <p:cNvSpPr txBox="1"/>
          <p:nvPr/>
        </p:nvSpPr>
        <p:spPr>
          <a:xfrm>
            <a:off x="308113" y="477078"/>
            <a:ext cx="11191461" cy="3970318"/>
          </a:xfrm>
          <a:prstGeom prst="rect">
            <a:avLst/>
          </a:prstGeom>
          <a:noFill/>
        </p:spPr>
        <p:txBody>
          <a:bodyPr wrap="square">
            <a:spAutoFit/>
          </a:bodyPr>
          <a:lstStyle/>
          <a:p>
            <a:r>
              <a:rPr lang="en-US" sz="2800" dirty="0"/>
              <a:t>GRY Puzzle</a:t>
            </a:r>
          </a:p>
          <a:p>
            <a:r>
              <a:rPr lang="en-US" sz="2800" dirty="0"/>
              <a:t>Think of words ending in GRY. Angry and hungry are two of them. </a:t>
            </a:r>
          </a:p>
          <a:p>
            <a:endParaRPr lang="en-US" sz="2800" dirty="0"/>
          </a:p>
          <a:p>
            <a:r>
              <a:rPr lang="en-US" sz="2800" dirty="0"/>
              <a:t>There are only three words in: </a:t>
            </a:r>
            <a:r>
              <a:rPr lang="en-US" sz="2800" b="1" dirty="0"/>
              <a:t>the English language</a:t>
            </a:r>
            <a:r>
              <a:rPr lang="en-US" sz="2800" dirty="0"/>
              <a:t>. </a:t>
            </a:r>
          </a:p>
          <a:p>
            <a:endParaRPr lang="en-US" sz="2800" dirty="0"/>
          </a:p>
          <a:p>
            <a:r>
              <a:rPr lang="en-US" sz="2800" dirty="0"/>
              <a:t>What is the third word? </a:t>
            </a:r>
          </a:p>
          <a:p>
            <a:r>
              <a:rPr lang="en-US" sz="2800" dirty="0"/>
              <a:t>The word is something that everyone uses every day. If you have listened carefully, I have already told you what it is.</a:t>
            </a:r>
          </a:p>
          <a:p>
            <a:endParaRPr lang="en-US" sz="2800" dirty="0"/>
          </a:p>
        </p:txBody>
      </p:sp>
    </p:spTree>
    <p:extLst>
      <p:ext uri="{BB962C8B-B14F-4D97-AF65-F5344CB8AC3E}">
        <p14:creationId xmlns:p14="http://schemas.microsoft.com/office/powerpoint/2010/main" val="308098081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04F941-85F9-4E6C-A2C2-999050EBCACA}"/>
              </a:ext>
            </a:extLst>
          </p:cNvPr>
          <p:cNvSpPr txBox="1"/>
          <p:nvPr/>
        </p:nvSpPr>
        <p:spPr>
          <a:xfrm>
            <a:off x="623679" y="740970"/>
            <a:ext cx="10726807" cy="954107"/>
          </a:xfrm>
          <a:prstGeom prst="rect">
            <a:avLst/>
          </a:prstGeom>
          <a:noFill/>
        </p:spPr>
        <p:txBody>
          <a:bodyPr wrap="square">
            <a:spAutoFit/>
          </a:bodyPr>
          <a:lstStyle/>
          <a:p>
            <a:pPr algn="l"/>
            <a:r>
              <a:rPr lang="en-US" sz="2800" dirty="0"/>
              <a:t>Puzzle:  </a:t>
            </a:r>
            <a:r>
              <a:rPr lang="en-US" sz="2800" b="0" i="0" dirty="0">
                <a:solidFill>
                  <a:srgbClr val="0C0C0C"/>
                </a:solidFill>
                <a:effectLst/>
                <a:latin typeface="Tinos"/>
              </a:rPr>
              <a:t>A birthday cake has to be equally divided into 8 equal pieces in exactly 3 cuts. Determine the way to make this division possible.</a:t>
            </a:r>
          </a:p>
        </p:txBody>
      </p:sp>
      <p:sp>
        <p:nvSpPr>
          <p:cNvPr id="7" name="TextBox 6">
            <a:extLst>
              <a:ext uri="{FF2B5EF4-FFF2-40B4-BE49-F238E27FC236}">
                <a16:creationId xmlns:a16="http://schemas.microsoft.com/office/drawing/2014/main" id="{5E5136C6-996C-4734-9E3D-D830A6DE09CF}"/>
              </a:ext>
            </a:extLst>
          </p:cNvPr>
          <p:cNvSpPr txBox="1"/>
          <p:nvPr/>
        </p:nvSpPr>
        <p:spPr>
          <a:xfrm>
            <a:off x="623678" y="1936908"/>
            <a:ext cx="11124373" cy="3108543"/>
          </a:xfrm>
          <a:prstGeom prst="rect">
            <a:avLst/>
          </a:prstGeom>
          <a:noFill/>
        </p:spPr>
        <p:txBody>
          <a:bodyPr wrap="square">
            <a:spAutoFit/>
          </a:bodyPr>
          <a:lstStyle/>
          <a:p>
            <a:r>
              <a:rPr lang="en-US" sz="2800" dirty="0"/>
              <a:t>Puzzle: You are stuck in a room with two doors- One right and one wrong. Both these doors are safeguarded by two guards, one in front of each door. The right door will lead you to your freedom and the wrong door will lead you to prison forever. However, you can ask only one question to any one of the guard. One guard always tells the truth, and the other guard always tells lies, but you don’t know which is which. What question should you ask to find the right door? (Not with numbers)</a:t>
            </a:r>
            <a:endParaRPr lang="en-IN" sz="2800" dirty="0"/>
          </a:p>
        </p:txBody>
      </p:sp>
      <p:sp>
        <p:nvSpPr>
          <p:cNvPr id="2" name="Rectangle 1">
            <a:extLst>
              <a:ext uri="{FF2B5EF4-FFF2-40B4-BE49-F238E27FC236}">
                <a16:creationId xmlns:a16="http://schemas.microsoft.com/office/drawing/2014/main" id="{28756F03-D30B-4E49-AA3A-6C505DD2748F}"/>
              </a:ext>
            </a:extLst>
          </p:cNvPr>
          <p:cNvSpPr/>
          <p:nvPr/>
        </p:nvSpPr>
        <p:spPr>
          <a:xfrm>
            <a:off x="443949" y="1938130"/>
            <a:ext cx="11304102" cy="3429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8008706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Retrospect</Template>
  <TotalTime>8639</TotalTime>
  <Words>6804</Words>
  <Application>Microsoft Office PowerPoint</Application>
  <PresentationFormat>Widescreen</PresentationFormat>
  <Paragraphs>676</Paragraphs>
  <Slides>92</Slides>
  <Notes>12</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92</vt:i4>
      </vt:variant>
    </vt:vector>
  </HeadingPairs>
  <TitlesOfParts>
    <vt:vector size="105" baseType="lpstr">
      <vt:lpstr>-apple-system</vt:lpstr>
      <vt:lpstr>Arial</vt:lpstr>
      <vt:lpstr>Arial</vt:lpstr>
      <vt:lpstr>Calibri</vt:lpstr>
      <vt:lpstr>Calibri Light</vt:lpstr>
      <vt:lpstr>Cambria</vt:lpstr>
      <vt:lpstr>Cooper Black</vt:lpstr>
      <vt:lpstr>Helvetica Neue</vt:lpstr>
      <vt:lpstr>PT Sans</vt:lpstr>
      <vt:lpstr>Rockwell</vt:lpstr>
      <vt:lpstr>Times New Roman</vt:lpstr>
      <vt:lpstr>Tinos</vt:lpstr>
      <vt:lpstr>Retrospect</vt:lpstr>
      <vt:lpstr>LOGIC BUILDING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TEST YOUR SELF</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Reasoning Puzzle's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Puzzle's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vijaynagamalla2607@gmail.com</dc:creator>
  <cp:lastModifiedBy>vijaynagamalla2607@gmail.com</cp:lastModifiedBy>
  <cp:revision>41</cp:revision>
  <dcterms:created xsi:type="dcterms:W3CDTF">2022-01-04T04:29:27Z</dcterms:created>
  <dcterms:modified xsi:type="dcterms:W3CDTF">2022-03-15T11:36:21Z</dcterms:modified>
</cp:coreProperties>
</file>